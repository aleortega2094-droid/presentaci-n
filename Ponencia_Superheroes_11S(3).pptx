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Mesa 5. El título remite a Action Comics #775 (Kelly, Mahnke y Bermejo, 2001). En la tira, el corpus en el orden en que aparece en la exposición: The Authority, The Ultimates, Civil War, Secret Invasion, Action Comics #775, Identity Crisis e Infinite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qué manera el género de superhéroes, en tanto texto cultural particular de la sociedad estadounidense, se vio afectado por el atentado del 11S? Objetivo general: comprender los desplazamientos temáticos y estéticos entre 1990 y 2010. Específicos: recuperar el estado de la industria editorial en los '90 y analizar las respuestas de DC y Marvel. Hipótesis: el género reproduce los valores dominantes del contexto histórico.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sociedad norteamericana institucionalizó el género porque cumplió una función cultural: reproducir y legitimar los valores dominantes (Todorov). Jameson permite leer cada cómic como resolución simbólica de contradicciones. Parsons (1974, p. 17): ningún individuo crea un sistema cultural; cambia a lo largo de generaciones, con contribuciones marginales de los actores. Sostaric (2019): portadas de Batman, el Capitán América y Superman golpeando a Hitler.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ordenado como aparece en la exposición. Tres criterios de muestra: centralidad para la crítica, contraste Marvel/DC y al menos una dimensión observable. Análisis cualitativo de contenido del guión y lo visual, interpretado con Jameson. Triangulación con Wright, Morrison, Dittmer, Faludi y Smith y Goodrum.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primeras salen de los valores de la hipótesis; la cuarta recoge la crisis interna del género. Observables: vínculo del héroe con el aparato militar y de seguridad y tratamiento de la violencia letal (1); representación de EE.UU. y su estilo de vida como misión o modelo (2); medidas de control, registro o vigilancia y posición de los personajes (3); cuestionamientos al accionar del héroe y metacrítica del género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Watchmen y The Dark Knight Returns abren temáticas adultas. 1991: Marvel cotiza en Wall Street. Ventas que miden unidades compradas por especuladores, no lectores. 1992: DC mata a Superman mientras Image Comics, fundada por dibujantes, la desplaza brevemente del segundo lugar. Jameson (1991, p. 43): pastiche de Moore, Morrison y Miller. Joe Quesada lanza Marvel Knights (1998) y luego Ultimate; Bourdieu (2000): lucha por la dominación en materia cultural, donde Marvel halla en The Ultimates el instrumento adecuado.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Primeros indicios del enfoque del nuevo milenio. Kaizen Gamorra: «Gamorra is BUILT on terrorism». Mbembe (2011, p. 28): el terror se relaciona con relatos de dominación y emancipación; Ellis usa el terror para justificar la violencia de los héroes. Los siguientes antagonistas (un colonizador de otro universo y el concepto de Dios) refuerzan la lógica. Nota: la Guerra contra el Terror de Bush. Morrison (2011, p. 319): tras el último arco de Millar la serie fue 'castrada' y sirvió para militarizar el género.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Faludi (2007, p. 51): los medios representaban a los funcionarios de Bush con la hipérbole del género. The Ultimates #1 reinterpreta Los Héroes más Poderosos de la Tierra como fuerza de proyección militar para enfrentar amenazas superhumanas. Morrison (2011, p. 348): el tono funciona como vocero de la América de 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enfrentamiento entre héroes adolescentes televisados y un supervillano provoca un atentado en una escuela. La población demanda mayor intervención estatal; se impulsa el Acta de Registro Superheroico. Lectura: clima cultural y político posterior al 11S y Patriot Act de la administración republicana.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Marvel primero mostró a los superhéroes reaccionando con impotencia (Amazing Spider-Man #36, Straczynski y Romita Jr., 2001). Smith y Goodrum (2011, p. 489): la serie evoca el atentado y la paranoia de la presidencia republicana. Mismo tono hiperrealista de Millar, con otro estilo.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Dittmer (2011, p. 114 y 122): la explosión del cine de superhéroes articula el sense of self del excepcionalismo norteamericano; Iron Man como ícono de la innovación tecnológica. Jenkins (2008, p. 101): narrativa transmediática. Faludi (p. 8): construcción de un nuevo John Wayne. Marvel a través de sus estudios de cine brindó una segunda respuesta al 11S.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título del trabajo sale de este número. El lema desde el radioserial de 1942 encarna el excepcionalismo (Dittmer). Kelly lo convierte en pregunta: ¿sigue vigente ese estilo de vida en el nuevo milenio? Kingdom Come (1996) opera en el mismo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Miembros de la Liga de la Justicia lobotomizan a un villano tras el ataque a la esposa de uno de ellos y, al ser confrontados por Batman, borran la memoria de su compañero. Morrison (2011, pp. 386-387): DC le pone fin a la Edad de Plata. DC abre las puertas a escritores de medios más glamorosos para repuntar ventas (p.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Miniserie de siete números (Johns y Jiménez, 2006, p. 38). Johns usa el propio medio para discutir un problema que el género arrastra desde fines de los '80. Que lo diga el Superman de la Edad de Oro expresa el clima social: la ruptura del sueño americano tras el 11S y la invasión a Irak.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Waid (Superman: Birthright, 2004): Superman debe volver a ser el campeón de los oprimidos de Siegel y Shuster. Wright atribuye la pérdida a la competencia de otros medios; el autor, junto a Morrison (Supergods), considera que el género sucumbió a la presión de una década signada por el fin de la historia y la lenta cancelación del futuro. El cómic no supo tomarse en serio como medio artístico.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datos (diapositivas anteriores) de interpretación (esta). Marvel normaliza al superhéroe al servicio del Estado y, vía cine, construye un nuevo modelo de masculinidad con Iron Man que catapulta al MCU. DC repiensa el rol del superhéroe desde adentro: su caída como síntoma de la ruptura del sueño americano de posguerra.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 la recepción negativa de los New 52, DC relanza con Rebirth. Marvel cierra su imprint Ultimate con Secret Wars en 2015. Influencia del manga (Jorge Jiménez, Dan Mora) y libertad creativa con Black Label. El éxito de Absolute (2024) permitió ganar terreno frente al cómic japonés. Atrás quedaron la militarización y el debate moral. Así como en 1938 Superman nace tras el crack del '29, el superhéroe parece sintonizar con las angustias del precariado.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el nuevo milenio dejó en evidencia que el superhéroe fue incapaz de imponerse ante un público que lo miraba de costado, porque los problemas del mundo real ni aparecían en sus páginas. El 11S profundizó una violencia que venía gestándose desde fines de los '80 (Wright, 2001). Marvel militarizó el género y construyó, vía cine, un nuevo modelo de masculinidad; DC se dedicó a la metacrítica. Hoy el género tiene otra oportunidad de expresar los malestares de la época y presentarse como una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principales. La bibliografía completa está en el texto de la ponencia.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 Id="rId8" Type="http://schemas.openxmlformats.org/officeDocument/2006/relationships/image" Target="../media/image-1-8.jp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D400"/>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641668"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01. PORTADA</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01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Text 6"/>
          <p:cNvSpPr txBox="1"/>
          <p:nvPr/>
        </p:nvSpPr>
        <p:spPr>
          <a:xfrm>
            <a:off x="457200" y="640080"/>
            <a:ext cx="11247120" cy="274320"/>
          </a:xfrm>
          <a:prstGeom prst="rect">
            <a:avLst/>
          </a:prstGeom>
          <a:noFill/>
          <a:ln/>
        </p:spPr>
        <p:txBody>
          <a:bodyPr wrap="square" lIns="0" tIns="0" rIns="0" bIns="0" rtlCol="0" anchor="ctr"/>
          <a:lstStyle/>
          <a:p>
            <a:pPr indent="0" marL="0">
              <a:buNone/>
            </a:pPr>
            <a:r>
              <a:rPr lang="en-US" sz="1100" b="1" dirty="0">
                <a:solidFill>
                  <a:srgbClr val="111111"/>
                </a:solidFill>
                <a:latin typeface="Arial" pitchFamily="34" charset="0"/>
                <a:ea typeface="Arial" pitchFamily="34" charset="-122"/>
                <a:cs typeface="Arial" pitchFamily="34" charset="-120"/>
              </a:rPr>
              <a:t>JORNADAS DE INVESTIGADORES · INSTITUTO DE INVESTIGACIONES GINO GERMANI</a:t>
            </a:r>
            <a:endParaRPr lang="en-US" sz="1100" dirty="0"/>
          </a:p>
        </p:txBody>
      </p:sp>
      <p:sp>
        <p:nvSpPr>
          <p:cNvPr id="10" name="Text 7"/>
          <p:cNvSpPr txBox="1"/>
          <p:nvPr/>
        </p:nvSpPr>
        <p:spPr>
          <a:xfrm>
            <a:off x="457200" y="960120"/>
            <a:ext cx="8778240" cy="384048"/>
          </a:xfrm>
          <a:prstGeom prst="rect">
            <a:avLst/>
          </a:prstGeom>
          <a:solidFill>
            <a:srgbClr val="E5262B"/>
          </a:solidFill>
          <a:ln w="25400">
            <a:solidFill>
              <a:srgbClr val="111111"/>
            </a:solidFill>
          </a:ln>
        </p:spPr>
        <p:txBody>
          <a:bodyPr wrap="square" lIns="0" tIns="127000" rIns="12700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MESA 5. CULTURAS POPULARES, CONTRACULTURA, ARTE Y TRABAJO CULTURAL</a:t>
            </a:r>
            <a:endParaRPr lang="en-US" sz="1400" dirty="0"/>
          </a:p>
        </p:txBody>
      </p:sp>
      <p:sp>
        <p:nvSpPr>
          <p:cNvPr id="11" name="Shape 8"/>
          <p:cNvSpPr/>
          <p:nvPr/>
        </p:nvSpPr>
        <p:spPr>
          <a:xfrm>
            <a:off x="530352" y="1627632"/>
            <a:ext cx="11274552" cy="1600200"/>
          </a:xfrm>
          <a:prstGeom prst="rect">
            <a:avLst/>
          </a:prstGeom>
          <a:solidFill>
            <a:srgbClr val="111111"/>
          </a:solidFill>
          <a:ln w="12700">
            <a:solidFill>
              <a:srgbClr val="111111"/>
            </a:solidFill>
            <a:prstDash val="solid"/>
          </a:ln>
        </p:spPr>
      </p:sp>
      <p:sp>
        <p:nvSpPr>
          <p:cNvPr id="12" name="Shape 9"/>
          <p:cNvSpPr/>
          <p:nvPr/>
        </p:nvSpPr>
        <p:spPr>
          <a:xfrm>
            <a:off x="457200" y="1554480"/>
            <a:ext cx="11274552" cy="1600200"/>
          </a:xfrm>
          <a:prstGeom prst="rect">
            <a:avLst/>
          </a:prstGeom>
          <a:solidFill>
            <a:srgbClr val="FFFFFF"/>
          </a:solidFill>
          <a:ln w="38100">
            <a:solidFill>
              <a:srgbClr val="111111"/>
            </a:solidFill>
            <a:prstDash val="solid"/>
          </a:ln>
        </p:spPr>
      </p:sp>
      <p:sp>
        <p:nvSpPr>
          <p:cNvPr id="13" name="Text 10"/>
          <p:cNvSpPr txBox="1"/>
          <p:nvPr/>
        </p:nvSpPr>
        <p:spPr>
          <a:xfrm>
            <a:off x="685800" y="1600200"/>
            <a:ext cx="10835640" cy="1508760"/>
          </a:xfrm>
          <a:prstGeom prst="rect">
            <a:avLst/>
          </a:prstGeom>
          <a:noFill/>
          <a:ln/>
        </p:spPr>
        <p:txBody>
          <a:bodyPr wrap="square" lIns="0" tIns="0" rIns="0" bIns="0" rtlCol="0" anchor="ctr"/>
          <a:lstStyle/>
          <a:p>
            <a:pPr indent="0" marL="0">
              <a:buNone/>
            </a:pPr>
            <a:r>
              <a:rPr lang="en-US" sz="3400" dirty="0">
                <a:solidFill>
                  <a:srgbClr val="111111"/>
                </a:solidFill>
                <a:latin typeface="Impact" pitchFamily="34" charset="0"/>
                <a:ea typeface="Impact" pitchFamily="34" charset="-122"/>
                <a:cs typeface="Impact" pitchFamily="34" charset="-120"/>
              </a:rPr>
              <a:t>¿Qué tienen de divertido la verdad, la justicia y el estilo de vida del Superhéroe?</a:t>
            </a:r>
            <a:endParaRPr lang="en-US" sz="3400" dirty="0"/>
          </a:p>
        </p:txBody>
      </p:sp>
      <p:sp>
        <p:nvSpPr>
          <p:cNvPr id="14" name="Text 11"/>
          <p:cNvSpPr txBox="1"/>
          <p:nvPr/>
        </p:nvSpPr>
        <p:spPr>
          <a:xfrm>
            <a:off x="457200" y="3291840"/>
            <a:ext cx="11247120" cy="59436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La reconfiguración del género superheroico y su impacto en la cultura posterior al Cómic Crash de los '90 y el 11S</a:t>
            </a:r>
            <a:endParaRPr lang="en-US" sz="1600" dirty="0"/>
          </a:p>
        </p:txBody>
      </p:sp>
      <p:sp>
        <p:nvSpPr>
          <p:cNvPr id="15" name="Shape 12"/>
          <p:cNvSpPr/>
          <p:nvPr/>
        </p:nvSpPr>
        <p:spPr>
          <a:xfrm rot="-120000">
            <a:off x="800100" y="3886200"/>
            <a:ext cx="1371600" cy="2075688"/>
          </a:xfrm>
          <a:prstGeom prst="rect">
            <a:avLst/>
          </a:prstGeom>
          <a:solidFill>
            <a:srgbClr val="FFFFFF"/>
          </a:solidFill>
          <a:ln w="31750">
            <a:solidFill>
              <a:srgbClr val="111111"/>
            </a:solidFill>
            <a:prstDash val="solid"/>
          </a:ln>
        </p:spPr>
      </p:sp>
      <p:pic>
        <p:nvPicPr>
          <p:cNvPr id="16" name="Portada authority" descr="Portada authority">    </p:cNvPr>
          <p:cNvPicPr>
            <a:picLocks noChangeAspect="1"/>
          </p:cNvPicPr>
          <p:nvPr/>
        </p:nvPicPr>
        <p:blipFill>
          <a:blip r:embed="rId2"/>
          <a:stretch>
            <a:fillRect/>
          </a:stretch>
        </p:blipFill>
        <p:spPr>
          <a:xfrm rot="-120000">
            <a:off x="845820" y="3931920"/>
            <a:ext cx="1280160" cy="1984248"/>
          </a:xfrm>
          <a:prstGeom prst="rect">
            <a:avLst/>
          </a:prstGeom>
        </p:spPr>
      </p:pic>
      <p:sp>
        <p:nvSpPr>
          <p:cNvPr id="17" name="Shape 13"/>
          <p:cNvSpPr/>
          <p:nvPr/>
        </p:nvSpPr>
        <p:spPr>
          <a:xfrm rot="90000">
            <a:off x="2336292" y="3886200"/>
            <a:ext cx="1371600" cy="2075688"/>
          </a:xfrm>
          <a:prstGeom prst="rect">
            <a:avLst/>
          </a:prstGeom>
          <a:solidFill>
            <a:srgbClr val="FFFFFF"/>
          </a:solidFill>
          <a:ln w="31750">
            <a:solidFill>
              <a:srgbClr val="111111"/>
            </a:solidFill>
            <a:prstDash val="solid"/>
          </a:ln>
        </p:spPr>
      </p:sp>
      <p:pic>
        <p:nvPicPr>
          <p:cNvPr id="18" name="Portada ultimates" descr="Portada ultimates">    </p:cNvPr>
          <p:cNvPicPr>
            <a:picLocks noChangeAspect="1"/>
          </p:cNvPicPr>
          <p:nvPr/>
        </p:nvPicPr>
        <p:blipFill>
          <a:blip r:embed="rId3"/>
          <a:stretch>
            <a:fillRect/>
          </a:stretch>
        </p:blipFill>
        <p:spPr>
          <a:xfrm rot="90000">
            <a:off x="2382012" y="3931920"/>
            <a:ext cx="1280160" cy="1984248"/>
          </a:xfrm>
          <a:prstGeom prst="rect">
            <a:avLst/>
          </a:prstGeom>
        </p:spPr>
      </p:pic>
      <p:sp>
        <p:nvSpPr>
          <p:cNvPr id="19" name="Shape 14"/>
          <p:cNvSpPr/>
          <p:nvPr/>
        </p:nvSpPr>
        <p:spPr>
          <a:xfrm rot="-60000">
            <a:off x="3872484" y="3886200"/>
            <a:ext cx="1371600" cy="2075688"/>
          </a:xfrm>
          <a:prstGeom prst="rect">
            <a:avLst/>
          </a:prstGeom>
          <a:solidFill>
            <a:srgbClr val="FFFFFF"/>
          </a:solidFill>
          <a:ln w="31750">
            <a:solidFill>
              <a:srgbClr val="111111"/>
            </a:solidFill>
            <a:prstDash val="solid"/>
          </a:ln>
        </p:spPr>
      </p:sp>
      <p:pic>
        <p:nvPicPr>
          <p:cNvPr id="20" name="Portada civil" descr="Portada civil">    </p:cNvPr>
          <p:cNvPicPr>
            <a:picLocks noChangeAspect="1"/>
          </p:cNvPicPr>
          <p:nvPr/>
        </p:nvPicPr>
        <p:blipFill>
          <a:blip r:embed="rId4"/>
          <a:stretch>
            <a:fillRect/>
          </a:stretch>
        </p:blipFill>
        <p:spPr>
          <a:xfrm rot="-60000">
            <a:off x="3918204" y="3931920"/>
            <a:ext cx="1280160" cy="1984248"/>
          </a:xfrm>
          <a:prstGeom prst="rect">
            <a:avLst/>
          </a:prstGeom>
        </p:spPr>
      </p:pic>
      <p:sp>
        <p:nvSpPr>
          <p:cNvPr id="21" name="Shape 15"/>
          <p:cNvSpPr/>
          <p:nvPr/>
        </p:nvSpPr>
        <p:spPr>
          <a:xfrm rot="120000">
            <a:off x="5408676" y="3886200"/>
            <a:ext cx="1371600" cy="2075688"/>
          </a:xfrm>
          <a:prstGeom prst="rect">
            <a:avLst/>
          </a:prstGeom>
          <a:solidFill>
            <a:srgbClr val="FFFFFF"/>
          </a:solidFill>
          <a:ln w="31750">
            <a:solidFill>
              <a:srgbClr val="111111"/>
            </a:solidFill>
            <a:prstDash val="solid"/>
          </a:ln>
        </p:spPr>
      </p:sp>
      <p:pic>
        <p:nvPicPr>
          <p:cNvPr id="22" name="Portada secret" descr="Portada secret">    </p:cNvPr>
          <p:cNvPicPr>
            <a:picLocks noChangeAspect="1"/>
          </p:cNvPicPr>
          <p:nvPr/>
        </p:nvPicPr>
        <p:blipFill>
          <a:blip r:embed="rId5"/>
          <a:stretch>
            <a:fillRect/>
          </a:stretch>
        </p:blipFill>
        <p:spPr>
          <a:xfrm rot="120000">
            <a:off x="5454396" y="3931920"/>
            <a:ext cx="1280160" cy="1984248"/>
          </a:xfrm>
          <a:prstGeom prst="rect">
            <a:avLst/>
          </a:prstGeom>
        </p:spPr>
      </p:pic>
      <p:sp>
        <p:nvSpPr>
          <p:cNvPr id="23" name="Shape 16"/>
          <p:cNvSpPr/>
          <p:nvPr/>
        </p:nvSpPr>
        <p:spPr>
          <a:xfrm rot="-90000">
            <a:off x="6944868" y="3886200"/>
            <a:ext cx="1371600" cy="2075688"/>
          </a:xfrm>
          <a:prstGeom prst="rect">
            <a:avLst/>
          </a:prstGeom>
          <a:solidFill>
            <a:srgbClr val="FFFFFF"/>
          </a:solidFill>
          <a:ln w="31750">
            <a:solidFill>
              <a:srgbClr val="111111"/>
            </a:solidFill>
            <a:prstDash val="solid"/>
          </a:ln>
        </p:spPr>
      </p:sp>
      <p:pic>
        <p:nvPicPr>
          <p:cNvPr id="24" name="Portada action" descr="Portada action">    </p:cNvPr>
          <p:cNvPicPr>
            <a:picLocks noChangeAspect="1"/>
          </p:cNvPicPr>
          <p:nvPr/>
        </p:nvPicPr>
        <p:blipFill>
          <a:blip r:embed="rId6"/>
          <a:stretch>
            <a:fillRect/>
          </a:stretch>
        </p:blipFill>
        <p:spPr>
          <a:xfrm rot="-90000">
            <a:off x="6990588" y="3931920"/>
            <a:ext cx="1280160" cy="1984248"/>
          </a:xfrm>
          <a:prstGeom prst="rect">
            <a:avLst/>
          </a:prstGeom>
        </p:spPr>
      </p:pic>
      <p:sp>
        <p:nvSpPr>
          <p:cNvPr id="25" name="Shape 17"/>
          <p:cNvSpPr/>
          <p:nvPr/>
        </p:nvSpPr>
        <p:spPr>
          <a:xfrm rot="60000">
            <a:off x="8481060" y="3886200"/>
            <a:ext cx="1371600" cy="2075688"/>
          </a:xfrm>
          <a:prstGeom prst="rect">
            <a:avLst/>
          </a:prstGeom>
          <a:solidFill>
            <a:srgbClr val="FFFFFF"/>
          </a:solidFill>
          <a:ln w="31750">
            <a:solidFill>
              <a:srgbClr val="111111"/>
            </a:solidFill>
            <a:prstDash val="solid"/>
          </a:ln>
        </p:spPr>
      </p:sp>
      <p:pic>
        <p:nvPicPr>
          <p:cNvPr id="26" name="Portada identity" descr="Portada identity">    </p:cNvPr>
          <p:cNvPicPr>
            <a:picLocks noChangeAspect="1"/>
          </p:cNvPicPr>
          <p:nvPr/>
        </p:nvPicPr>
        <p:blipFill>
          <a:blip r:embed="rId7"/>
          <a:stretch>
            <a:fillRect/>
          </a:stretch>
        </p:blipFill>
        <p:spPr>
          <a:xfrm rot="60000">
            <a:off x="8526780" y="3931920"/>
            <a:ext cx="1280160" cy="1984248"/>
          </a:xfrm>
          <a:prstGeom prst="rect">
            <a:avLst/>
          </a:prstGeom>
        </p:spPr>
      </p:pic>
      <p:sp>
        <p:nvSpPr>
          <p:cNvPr id="27" name="Shape 18"/>
          <p:cNvSpPr/>
          <p:nvPr/>
        </p:nvSpPr>
        <p:spPr>
          <a:xfrm rot="-120000">
            <a:off x="10017252" y="3886200"/>
            <a:ext cx="1371600" cy="2075688"/>
          </a:xfrm>
          <a:prstGeom prst="rect">
            <a:avLst/>
          </a:prstGeom>
          <a:solidFill>
            <a:srgbClr val="FFFFFF"/>
          </a:solidFill>
          <a:ln w="31750">
            <a:solidFill>
              <a:srgbClr val="111111"/>
            </a:solidFill>
            <a:prstDash val="solid"/>
          </a:ln>
        </p:spPr>
      </p:sp>
      <p:pic>
        <p:nvPicPr>
          <p:cNvPr id="28" name="Portada infinite" descr="Portada infinite">    </p:cNvPr>
          <p:cNvPicPr>
            <a:picLocks noChangeAspect="1"/>
          </p:cNvPicPr>
          <p:nvPr/>
        </p:nvPicPr>
        <p:blipFill>
          <a:blip r:embed="rId8"/>
          <a:stretch>
            <a:fillRect/>
          </a:stretch>
        </p:blipFill>
        <p:spPr>
          <a:xfrm rot="-120000">
            <a:off x="10062972" y="3931920"/>
            <a:ext cx="1280160" cy="1984248"/>
          </a:xfrm>
          <a:prstGeom prst="rect">
            <a:avLst/>
          </a:prstGeom>
        </p:spPr>
      </p:pic>
      <p:sp>
        <p:nvSpPr>
          <p:cNvPr id="29" name="Text 19"/>
          <p:cNvSpPr txBox="1"/>
          <p:nvPr/>
        </p:nvSpPr>
        <p:spPr>
          <a:xfrm>
            <a:off x="457200" y="6053328"/>
            <a:ext cx="11247120" cy="32004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Alejo Tomás Ortega</a:t>
            </a:r>
            <a:pPr indent="0" marL="0">
              <a:buNone/>
            </a:pPr>
            <a:r>
              <a:rPr lang="en-US" sz="1500" dirty="0">
                <a:solidFill>
                  <a:srgbClr val="111111"/>
                </a:solidFill>
                <a:latin typeface="Arial" pitchFamily="34" charset="0"/>
                <a:ea typeface="Arial" pitchFamily="34" charset="-122"/>
                <a:cs typeface="Arial" pitchFamily="34" charset="-120"/>
              </a:rPr>
              <a:t>  ·  Estudiante avanzado Lic. en Sociología (FSOC-UBA)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283336"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01. PROBLEMA E HIPÓTESIS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02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Pregunta, objetivos e hipótesis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CÓMICS DE SUPERHÉROES · 1990–2010 ]</a:t>
            </a:r>
            <a:endParaRPr lang="en-US" sz="900" dirty="0"/>
          </a:p>
        </p:txBody>
      </p:sp>
      <p:sp>
        <p:nvSpPr>
          <p:cNvPr id="13" name="Shape 10"/>
          <p:cNvSpPr/>
          <p:nvPr/>
        </p:nvSpPr>
        <p:spPr>
          <a:xfrm>
            <a:off x="530352" y="1673352"/>
            <a:ext cx="5577840" cy="2103120"/>
          </a:xfrm>
          <a:prstGeom prst="rect">
            <a:avLst/>
          </a:prstGeom>
          <a:solidFill>
            <a:srgbClr val="111111"/>
          </a:solidFill>
          <a:ln w="12700">
            <a:solidFill>
              <a:srgbClr val="111111"/>
            </a:solidFill>
            <a:prstDash val="solid"/>
          </a:ln>
        </p:spPr>
      </p:sp>
      <p:sp>
        <p:nvSpPr>
          <p:cNvPr id="14" name="Shape 11"/>
          <p:cNvSpPr/>
          <p:nvPr/>
        </p:nvSpPr>
        <p:spPr>
          <a:xfrm>
            <a:off x="457200" y="1600200"/>
            <a:ext cx="5577840" cy="2103120"/>
          </a:xfrm>
          <a:prstGeom prst="rect">
            <a:avLst/>
          </a:prstGeom>
          <a:solidFill>
            <a:srgbClr val="FFFFFF"/>
          </a:solidFill>
          <a:ln w="31750">
            <a:solidFill>
              <a:srgbClr val="111111"/>
            </a:solidFill>
            <a:prstDash val="solid"/>
          </a:ln>
        </p:spPr>
      </p:sp>
      <p:sp>
        <p:nvSpPr>
          <p:cNvPr id="15" name="Text 12"/>
          <p:cNvSpPr txBox="1"/>
          <p:nvPr/>
        </p:nvSpPr>
        <p:spPr>
          <a:xfrm>
            <a:off x="640080" y="1764792"/>
            <a:ext cx="118872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PREGUNTA</a:t>
            </a:r>
            <a:endParaRPr lang="en-US" sz="1000" dirty="0"/>
          </a:p>
        </p:txBody>
      </p:sp>
      <p:sp>
        <p:nvSpPr>
          <p:cNvPr id="16" name="Text 13"/>
          <p:cNvSpPr txBox="1"/>
          <p:nvPr/>
        </p:nvSpPr>
        <p:spPr>
          <a:xfrm>
            <a:off x="640080" y="2148840"/>
            <a:ext cx="5212080" cy="914400"/>
          </a:xfrm>
          <a:prstGeom prst="rect">
            <a:avLst/>
          </a:prstGeom>
          <a:noFill/>
          <a:ln/>
        </p:spPr>
        <p:txBody>
          <a:bodyPr wrap="square" lIns="0" tIns="0" rIns="0" bIns="0" rtlCol="0" anchor="t"/>
          <a:lstStyle/>
          <a:p>
            <a:pPr indent="0" marL="0">
              <a:buNone/>
            </a:pPr>
            <a:r>
              <a:rPr lang="en-US" sz="2400" dirty="0">
                <a:solidFill>
                  <a:srgbClr val="111111"/>
                </a:solidFill>
                <a:latin typeface="Impact" pitchFamily="34" charset="0"/>
                <a:ea typeface="Impact" pitchFamily="34" charset="-122"/>
                <a:cs typeface="Impact" pitchFamily="34" charset="-120"/>
              </a:rPr>
              <a:t>¿Cómo afectó el 11S al género de superhéroes?</a:t>
            </a:r>
            <a:endParaRPr lang="en-US" sz="2400" dirty="0"/>
          </a:p>
        </p:txBody>
      </p:sp>
      <p:sp>
        <p:nvSpPr>
          <p:cNvPr id="17" name="Text 14"/>
          <p:cNvSpPr txBox="1"/>
          <p:nvPr/>
        </p:nvSpPr>
        <p:spPr>
          <a:xfrm>
            <a:off x="640080" y="3154680"/>
            <a:ext cx="5212080" cy="365760"/>
          </a:xfrm>
          <a:prstGeom prst="rect">
            <a:avLst/>
          </a:prstGeom>
          <a:noFill/>
          <a:ln/>
        </p:spPr>
        <p:txBody>
          <a:bodyPr wrap="square" lIns="0" tIns="0" rIns="0" bIns="0" rtlCol="0" anchor="ctr"/>
          <a:lstStyle/>
          <a:p>
            <a:pPr indent="0" marL="0">
              <a:buNone/>
            </a:pPr>
            <a:r>
              <a:rPr lang="en-US" sz="1400" i="1" dirty="0">
                <a:solidFill>
                  <a:srgbClr val="444444"/>
                </a:solidFill>
                <a:latin typeface="Arial" pitchFamily="34" charset="0"/>
                <a:ea typeface="Arial" pitchFamily="34" charset="-122"/>
                <a:cs typeface="Arial" pitchFamily="34" charset="-120"/>
              </a:rPr>
              <a:t>Texto cultural de la sociedad estadounidense</a:t>
            </a:r>
            <a:endParaRPr lang="en-US" sz="1400" dirty="0"/>
          </a:p>
        </p:txBody>
      </p:sp>
      <p:sp>
        <p:nvSpPr>
          <p:cNvPr id="18" name="Shape 15"/>
          <p:cNvSpPr/>
          <p:nvPr/>
        </p:nvSpPr>
        <p:spPr>
          <a:xfrm>
            <a:off x="6336792" y="1673352"/>
            <a:ext cx="5468112" cy="2103120"/>
          </a:xfrm>
          <a:prstGeom prst="rect">
            <a:avLst/>
          </a:prstGeom>
          <a:solidFill>
            <a:srgbClr val="111111"/>
          </a:solidFill>
          <a:ln w="12700">
            <a:solidFill>
              <a:srgbClr val="111111"/>
            </a:solidFill>
            <a:prstDash val="solid"/>
          </a:ln>
        </p:spPr>
      </p:sp>
      <p:sp>
        <p:nvSpPr>
          <p:cNvPr id="19" name="Shape 16"/>
          <p:cNvSpPr/>
          <p:nvPr/>
        </p:nvSpPr>
        <p:spPr>
          <a:xfrm>
            <a:off x="6263640" y="1600200"/>
            <a:ext cx="5468112" cy="2103120"/>
          </a:xfrm>
          <a:prstGeom prst="rect">
            <a:avLst/>
          </a:prstGeom>
          <a:solidFill>
            <a:srgbClr val="FFFFFF"/>
          </a:solidFill>
          <a:ln w="31750">
            <a:solidFill>
              <a:srgbClr val="111111"/>
            </a:solidFill>
            <a:prstDash val="solid"/>
          </a:ln>
        </p:spPr>
      </p:sp>
      <p:sp>
        <p:nvSpPr>
          <p:cNvPr id="20" name="Text 17"/>
          <p:cNvSpPr txBox="1"/>
          <p:nvPr/>
        </p:nvSpPr>
        <p:spPr>
          <a:xfrm>
            <a:off x="6446520" y="1764792"/>
            <a:ext cx="12801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OBJETIVOS</a:t>
            </a:r>
            <a:endParaRPr lang="en-US" sz="1000" dirty="0"/>
          </a:p>
        </p:txBody>
      </p:sp>
      <p:sp>
        <p:nvSpPr>
          <p:cNvPr id="21" name="Text 18"/>
          <p:cNvSpPr txBox="1"/>
          <p:nvPr/>
        </p:nvSpPr>
        <p:spPr>
          <a:xfrm>
            <a:off x="6446520" y="2194560"/>
            <a:ext cx="5120640" cy="137160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rgbClr val="111111"/>
                </a:solidFill>
                <a:latin typeface="Arial" pitchFamily="34" charset="0"/>
                <a:ea typeface="Arial" pitchFamily="34" charset="-122"/>
                <a:cs typeface="Arial" pitchFamily="34" charset="-120"/>
              </a:rPr>
              <a:t>General: </a:t>
            </a:r>
            <a:pPr indent="0" marL="0">
              <a:spcAft>
                <a:spcPts val="800"/>
              </a:spcAft>
              <a:buNone/>
            </a:pPr>
            <a:r>
              <a:rPr lang="en-US" sz="1600" dirty="0">
                <a:solidFill>
                  <a:srgbClr val="111111"/>
                </a:solidFill>
                <a:latin typeface="Arial" pitchFamily="34" charset="0"/>
                <a:ea typeface="Arial" pitchFamily="34" charset="-122"/>
                <a:cs typeface="Arial" pitchFamily="34" charset="-120"/>
              </a:rPr>
              <a:t>desplazamientos temáticos y estéticos, 1990–2010</a:t>
            </a:r>
            <a:endParaRPr lang="en-US" sz="1600" dirty="0"/>
          </a:p>
          <a:p>
            <a:pPr marL="203200" indent="-203200">
              <a:spcAft>
                <a:spcPts val="800"/>
              </a:spcAft>
              <a:buSzPct val="100000"/>
              <a:buChar char="•"/>
            </a:pPr>
            <a:r>
              <a:rPr lang="en-US" sz="1600" b="1" dirty="0">
                <a:solidFill>
                  <a:srgbClr val="111111"/>
                </a:solidFill>
                <a:latin typeface="Arial" pitchFamily="34" charset="0"/>
                <a:ea typeface="Arial" pitchFamily="34" charset="-122"/>
                <a:cs typeface="Arial" pitchFamily="34" charset="-120"/>
              </a:rPr>
              <a:t>Específicos: </a:t>
            </a:r>
            <a:pPr indent="0" marL="0">
              <a:spcAft>
                <a:spcPts val="800"/>
              </a:spcAft>
              <a:buNone/>
            </a:pPr>
            <a:r>
              <a:rPr lang="en-US" sz="1600" dirty="0">
                <a:solidFill>
                  <a:srgbClr val="111111"/>
                </a:solidFill>
                <a:latin typeface="Arial" pitchFamily="34" charset="0"/>
                <a:ea typeface="Arial" pitchFamily="34" charset="-122"/>
                <a:cs typeface="Arial" pitchFamily="34" charset="-120"/>
              </a:rPr>
              <a:t>industria editorial en los '90 · respuestas de DC y Marvel</a:t>
            </a:r>
            <a:endParaRPr lang="en-US" sz="1600" dirty="0"/>
          </a:p>
        </p:txBody>
      </p:sp>
      <p:sp>
        <p:nvSpPr>
          <p:cNvPr id="22" name="Shape 19"/>
          <p:cNvSpPr/>
          <p:nvPr/>
        </p:nvSpPr>
        <p:spPr>
          <a:xfrm>
            <a:off x="530352" y="4005072"/>
            <a:ext cx="11274552" cy="2286000"/>
          </a:xfrm>
          <a:prstGeom prst="rect">
            <a:avLst/>
          </a:prstGeom>
          <a:solidFill>
            <a:srgbClr val="111111"/>
          </a:solidFill>
          <a:ln w="12700">
            <a:solidFill>
              <a:srgbClr val="111111"/>
            </a:solidFill>
            <a:prstDash val="solid"/>
          </a:ln>
        </p:spPr>
      </p:sp>
      <p:sp>
        <p:nvSpPr>
          <p:cNvPr id="23" name="Shape 20"/>
          <p:cNvSpPr/>
          <p:nvPr/>
        </p:nvSpPr>
        <p:spPr>
          <a:xfrm>
            <a:off x="457200" y="3931920"/>
            <a:ext cx="11274552" cy="2286000"/>
          </a:xfrm>
          <a:prstGeom prst="rect">
            <a:avLst/>
          </a:prstGeom>
          <a:solidFill>
            <a:srgbClr val="FFF1A8"/>
          </a:solidFill>
          <a:ln w="31750">
            <a:solidFill>
              <a:srgbClr val="111111"/>
            </a:solidFill>
            <a:prstDash val="solid"/>
          </a:ln>
        </p:spPr>
      </p:sp>
      <p:sp>
        <p:nvSpPr>
          <p:cNvPr id="24" name="Text 21"/>
          <p:cNvSpPr txBox="1"/>
          <p:nvPr/>
        </p:nvSpPr>
        <p:spPr>
          <a:xfrm>
            <a:off x="640080" y="4096512"/>
            <a:ext cx="12801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HIPÓTESIS</a:t>
            </a:r>
            <a:endParaRPr lang="en-US" sz="1000" dirty="0"/>
          </a:p>
        </p:txBody>
      </p:sp>
      <p:sp>
        <p:nvSpPr>
          <p:cNvPr id="25" name="Text 22"/>
          <p:cNvSpPr txBox="1"/>
          <p:nvPr/>
        </p:nvSpPr>
        <p:spPr>
          <a:xfrm>
            <a:off x="2103120" y="4078224"/>
            <a:ext cx="9418320" cy="310896"/>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El género reproduce los valores dominantes de su época:</a:t>
            </a:r>
            <a:endParaRPr lang="en-US" sz="1600" dirty="0"/>
          </a:p>
        </p:txBody>
      </p:sp>
      <p:sp>
        <p:nvSpPr>
          <p:cNvPr id="26" name="Text 23"/>
          <p:cNvSpPr txBox="1"/>
          <p:nvPr/>
        </p:nvSpPr>
        <p:spPr>
          <a:xfrm>
            <a:off x="640080" y="4663440"/>
            <a:ext cx="3429000" cy="1325880"/>
          </a:xfrm>
          <a:prstGeom prst="rect">
            <a:avLst/>
          </a:prstGeom>
          <a:solidFill>
            <a:srgbClr val="FFFFFF"/>
          </a:solidFill>
          <a:ln w="31750">
            <a:solidFill>
              <a:srgbClr val="111111"/>
            </a:solidFill>
          </a:ln>
        </p:spPr>
        <p:txBody>
          <a:bodyPr wrap="square" lIns="152400" tIns="152400" rIns="152400" bIns="152400" rtlCol="0" anchor="ctr"/>
          <a:lstStyle/>
          <a:p>
            <a:pPr indent="0" marL="0">
              <a:buNone/>
            </a:pPr>
            <a:r>
              <a:rPr lang="en-US" sz="1900" dirty="0">
                <a:solidFill>
                  <a:srgbClr val="E5262B"/>
                </a:solidFill>
                <a:latin typeface="Impact" pitchFamily="34" charset="0"/>
                <a:ea typeface="Impact" pitchFamily="34" charset="-122"/>
                <a:cs typeface="Impact" pitchFamily="34" charset="-120"/>
              </a:rPr>
              <a:t>01  </a:t>
            </a:r>
            <a:pPr indent="0" marL="0">
              <a:buNone/>
            </a:pPr>
            <a:r>
              <a:rPr lang="en-US" sz="1900" dirty="0">
                <a:solidFill>
                  <a:srgbClr val="111111"/>
                </a:solidFill>
                <a:latin typeface="Impact" pitchFamily="34" charset="0"/>
                <a:ea typeface="Impact" pitchFamily="34" charset="-122"/>
                <a:cs typeface="Impact" pitchFamily="34" charset="-120"/>
              </a:rPr>
              <a:t>MILITARIZACIÓN DEL ESTADO</a:t>
            </a:r>
            <a:endParaRPr lang="en-US" sz="1900" dirty="0"/>
          </a:p>
        </p:txBody>
      </p:sp>
      <p:sp>
        <p:nvSpPr>
          <p:cNvPr id="27" name="Text 24"/>
          <p:cNvSpPr txBox="1"/>
          <p:nvPr/>
        </p:nvSpPr>
        <p:spPr>
          <a:xfrm>
            <a:off x="4251960" y="4663440"/>
            <a:ext cx="3429000" cy="1325880"/>
          </a:xfrm>
          <a:prstGeom prst="rect">
            <a:avLst/>
          </a:prstGeom>
          <a:solidFill>
            <a:srgbClr val="FFFFFF"/>
          </a:solidFill>
          <a:ln w="31750">
            <a:solidFill>
              <a:srgbClr val="111111"/>
            </a:solidFill>
          </a:ln>
        </p:spPr>
        <p:txBody>
          <a:bodyPr wrap="square" lIns="152400" tIns="152400" rIns="152400" bIns="152400" rtlCol="0" anchor="ctr"/>
          <a:lstStyle/>
          <a:p>
            <a:pPr indent="0" marL="0">
              <a:buNone/>
            </a:pPr>
            <a:r>
              <a:rPr lang="en-US" sz="1900" dirty="0">
                <a:solidFill>
                  <a:srgbClr val="E5262B"/>
                </a:solidFill>
                <a:latin typeface="Impact" pitchFamily="34" charset="0"/>
                <a:ea typeface="Impact" pitchFamily="34" charset="-122"/>
                <a:cs typeface="Impact" pitchFamily="34" charset="-120"/>
              </a:rPr>
              <a:t>02  </a:t>
            </a:r>
            <a:pPr indent="0" marL="0">
              <a:buNone/>
            </a:pPr>
            <a:r>
              <a:rPr lang="en-US" sz="1900" dirty="0">
                <a:solidFill>
                  <a:srgbClr val="111111"/>
                </a:solidFill>
                <a:latin typeface="Impact" pitchFamily="34" charset="0"/>
                <a:ea typeface="Impact" pitchFamily="34" charset="-122"/>
                <a:cs typeface="Impact" pitchFamily="34" charset="-120"/>
              </a:rPr>
              <a:t>EXCEPCIONALISMO NORTEAMERICANO</a:t>
            </a:r>
            <a:endParaRPr lang="en-US" sz="1900" dirty="0"/>
          </a:p>
        </p:txBody>
      </p:sp>
      <p:sp>
        <p:nvSpPr>
          <p:cNvPr id="28" name="Text 25"/>
          <p:cNvSpPr txBox="1"/>
          <p:nvPr/>
        </p:nvSpPr>
        <p:spPr>
          <a:xfrm>
            <a:off x="7863840" y="4663440"/>
            <a:ext cx="3429000" cy="1325880"/>
          </a:xfrm>
          <a:prstGeom prst="rect">
            <a:avLst/>
          </a:prstGeom>
          <a:solidFill>
            <a:srgbClr val="FFFFFF"/>
          </a:solidFill>
          <a:ln w="31750">
            <a:solidFill>
              <a:srgbClr val="111111"/>
            </a:solidFill>
          </a:ln>
        </p:spPr>
        <p:txBody>
          <a:bodyPr wrap="square" lIns="152400" tIns="152400" rIns="152400" bIns="152400" rtlCol="0" anchor="ctr"/>
          <a:lstStyle/>
          <a:p>
            <a:pPr indent="0" marL="0">
              <a:buNone/>
            </a:pPr>
            <a:r>
              <a:rPr lang="en-US" sz="1900" dirty="0">
                <a:solidFill>
                  <a:srgbClr val="E5262B"/>
                </a:solidFill>
                <a:latin typeface="Impact" pitchFamily="34" charset="0"/>
                <a:ea typeface="Impact" pitchFamily="34" charset="-122"/>
                <a:cs typeface="Impact" pitchFamily="34" charset="-120"/>
              </a:rPr>
              <a:t>03  </a:t>
            </a:r>
            <a:pPr indent="0" marL="0">
              <a:buNone/>
            </a:pPr>
            <a:r>
              <a:rPr lang="en-US" sz="1900" dirty="0">
                <a:solidFill>
                  <a:srgbClr val="111111"/>
                </a:solidFill>
                <a:latin typeface="Impact" pitchFamily="34" charset="0"/>
                <a:ea typeface="Impact" pitchFamily="34" charset="-122"/>
                <a:cs typeface="Impact" pitchFamily="34" charset="-120"/>
              </a:rPr>
              <a:t>SEGURIDAD SOBRE LIBERTADES CIVILES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925005"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02. MARCO TEÓRICO</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03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El género como institución</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TODOROV · JAMESON · PARSONS ]</a:t>
            </a:r>
            <a:endParaRPr lang="en-US" sz="900" dirty="0"/>
          </a:p>
        </p:txBody>
      </p:sp>
      <p:sp>
        <p:nvSpPr>
          <p:cNvPr id="13" name="Shape 10"/>
          <p:cNvSpPr/>
          <p:nvPr/>
        </p:nvSpPr>
        <p:spPr>
          <a:xfrm>
            <a:off x="530352" y="1673352"/>
            <a:ext cx="3605784" cy="3246120"/>
          </a:xfrm>
          <a:prstGeom prst="rect">
            <a:avLst/>
          </a:prstGeom>
          <a:solidFill>
            <a:srgbClr val="111111"/>
          </a:solidFill>
          <a:ln w="12700">
            <a:solidFill>
              <a:srgbClr val="111111"/>
            </a:solidFill>
            <a:prstDash val="solid"/>
          </a:ln>
        </p:spPr>
      </p:sp>
      <p:sp>
        <p:nvSpPr>
          <p:cNvPr id="14" name="Shape 11"/>
          <p:cNvSpPr/>
          <p:nvPr/>
        </p:nvSpPr>
        <p:spPr>
          <a:xfrm>
            <a:off x="457200" y="1600200"/>
            <a:ext cx="3605784" cy="3246120"/>
          </a:xfrm>
          <a:prstGeom prst="rect">
            <a:avLst/>
          </a:prstGeom>
          <a:solidFill>
            <a:srgbClr val="FFFFFF"/>
          </a:solidFill>
          <a:ln w="31750">
            <a:solidFill>
              <a:srgbClr val="111111"/>
            </a:solidFill>
            <a:prstDash val="solid"/>
          </a:ln>
        </p:spPr>
      </p:sp>
      <p:sp>
        <p:nvSpPr>
          <p:cNvPr id="15" name="Text 12"/>
          <p:cNvSpPr txBox="1"/>
          <p:nvPr/>
        </p:nvSpPr>
        <p:spPr>
          <a:xfrm>
            <a:off x="640080"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TODOROV (1988)</a:t>
            </a:r>
            <a:endParaRPr lang="en-US" sz="1000" dirty="0"/>
          </a:p>
        </p:txBody>
      </p:sp>
      <p:sp>
        <p:nvSpPr>
          <p:cNvPr id="16" name="Text 13"/>
          <p:cNvSpPr txBox="1"/>
          <p:nvPr/>
        </p:nvSpPr>
        <p:spPr>
          <a:xfrm>
            <a:off x="640080"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Género = matriz de valores sociales</a:t>
            </a:r>
            <a:endParaRPr lang="en-US" sz="2200" dirty="0"/>
          </a:p>
        </p:txBody>
      </p:sp>
      <p:sp>
        <p:nvSpPr>
          <p:cNvPr id="17" name="Text 14"/>
          <p:cNvSpPr txBox="1"/>
          <p:nvPr/>
        </p:nvSpPr>
        <p:spPr>
          <a:xfrm>
            <a:off x="640080"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Reproduce y legitima los valores dominantes de cada momento.</a:t>
            </a:r>
            <a:endParaRPr lang="en-US" sz="1600" dirty="0"/>
          </a:p>
        </p:txBody>
      </p:sp>
      <p:sp>
        <p:nvSpPr>
          <p:cNvPr id="18" name="Shape 15"/>
          <p:cNvSpPr/>
          <p:nvPr/>
        </p:nvSpPr>
        <p:spPr>
          <a:xfrm>
            <a:off x="4364736" y="1673352"/>
            <a:ext cx="3605784" cy="3246120"/>
          </a:xfrm>
          <a:prstGeom prst="rect">
            <a:avLst/>
          </a:prstGeom>
          <a:solidFill>
            <a:srgbClr val="111111"/>
          </a:solidFill>
          <a:ln w="12700">
            <a:solidFill>
              <a:srgbClr val="111111"/>
            </a:solidFill>
            <a:prstDash val="solid"/>
          </a:ln>
        </p:spPr>
      </p:sp>
      <p:sp>
        <p:nvSpPr>
          <p:cNvPr id="19" name="Shape 16"/>
          <p:cNvSpPr/>
          <p:nvPr/>
        </p:nvSpPr>
        <p:spPr>
          <a:xfrm>
            <a:off x="4291584" y="1600200"/>
            <a:ext cx="3605784" cy="3246120"/>
          </a:xfrm>
          <a:prstGeom prst="rect">
            <a:avLst/>
          </a:prstGeom>
          <a:solidFill>
            <a:srgbClr val="FFF1A8"/>
          </a:solidFill>
          <a:ln w="31750">
            <a:solidFill>
              <a:srgbClr val="111111"/>
            </a:solidFill>
            <a:prstDash val="solid"/>
          </a:ln>
        </p:spPr>
      </p:sp>
      <p:sp>
        <p:nvSpPr>
          <p:cNvPr id="20" name="Text 17"/>
          <p:cNvSpPr txBox="1"/>
          <p:nvPr/>
        </p:nvSpPr>
        <p:spPr>
          <a:xfrm>
            <a:off x="4474464"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JAMESON (1989)</a:t>
            </a:r>
            <a:endParaRPr lang="en-US" sz="1000" dirty="0"/>
          </a:p>
        </p:txBody>
      </p:sp>
      <p:sp>
        <p:nvSpPr>
          <p:cNvPr id="21" name="Text 18"/>
          <p:cNvSpPr txBox="1"/>
          <p:nvPr/>
        </p:nvSpPr>
        <p:spPr>
          <a:xfrm>
            <a:off x="4474464"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Texto = acto socialmente simbólico</a:t>
            </a:r>
            <a:endParaRPr lang="en-US" sz="2200" dirty="0"/>
          </a:p>
        </p:txBody>
      </p:sp>
      <p:sp>
        <p:nvSpPr>
          <p:cNvPr id="22" name="Text 19"/>
          <p:cNvSpPr txBox="1"/>
          <p:nvPr/>
        </p:nvSpPr>
        <p:spPr>
          <a:xfrm>
            <a:off x="4474464"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Procesa, y a veces resuelve, las contradicciones de su época.</a:t>
            </a:r>
            <a:endParaRPr lang="en-US" sz="1600" dirty="0"/>
          </a:p>
        </p:txBody>
      </p:sp>
      <p:sp>
        <p:nvSpPr>
          <p:cNvPr id="23" name="Shape 20"/>
          <p:cNvSpPr/>
          <p:nvPr/>
        </p:nvSpPr>
        <p:spPr>
          <a:xfrm>
            <a:off x="8199120" y="1673352"/>
            <a:ext cx="3605784" cy="3246120"/>
          </a:xfrm>
          <a:prstGeom prst="rect">
            <a:avLst/>
          </a:prstGeom>
          <a:solidFill>
            <a:srgbClr val="111111"/>
          </a:solidFill>
          <a:ln w="12700">
            <a:solidFill>
              <a:srgbClr val="111111"/>
            </a:solidFill>
            <a:prstDash val="solid"/>
          </a:ln>
        </p:spPr>
      </p:sp>
      <p:sp>
        <p:nvSpPr>
          <p:cNvPr id="24" name="Shape 21"/>
          <p:cNvSpPr/>
          <p:nvPr/>
        </p:nvSpPr>
        <p:spPr>
          <a:xfrm>
            <a:off x="8125968" y="1600200"/>
            <a:ext cx="3605784" cy="3246120"/>
          </a:xfrm>
          <a:prstGeom prst="rect">
            <a:avLst/>
          </a:prstGeom>
          <a:solidFill>
            <a:srgbClr val="FFFFFF"/>
          </a:solidFill>
          <a:ln w="31750">
            <a:solidFill>
              <a:srgbClr val="111111"/>
            </a:solidFill>
            <a:prstDash val="solid"/>
          </a:ln>
        </p:spPr>
      </p:sp>
      <p:sp>
        <p:nvSpPr>
          <p:cNvPr id="25" name="Text 22"/>
          <p:cNvSpPr txBox="1"/>
          <p:nvPr/>
        </p:nvSpPr>
        <p:spPr>
          <a:xfrm>
            <a:off x="8308848"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PARSONS (1974)</a:t>
            </a:r>
            <a:endParaRPr lang="en-US" sz="1000" dirty="0"/>
          </a:p>
        </p:txBody>
      </p:sp>
      <p:sp>
        <p:nvSpPr>
          <p:cNvPr id="26" name="Text 23"/>
          <p:cNvSpPr txBox="1"/>
          <p:nvPr/>
        </p:nvSpPr>
        <p:spPr>
          <a:xfrm>
            <a:off x="8308848"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Cambio cultural = colectivo</a:t>
            </a:r>
            <a:endParaRPr lang="en-US" sz="2200" dirty="0"/>
          </a:p>
        </p:txBody>
      </p:sp>
      <p:sp>
        <p:nvSpPr>
          <p:cNvPr id="27" name="Text 24"/>
          <p:cNvSpPr txBox="1"/>
          <p:nvPr/>
        </p:nvSpPr>
        <p:spPr>
          <a:xfrm>
            <a:off x="8308848"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Los cómics encarnan el zeitgeist; no son esfuerzos aislados de autores.</a:t>
            </a:r>
            <a:endParaRPr lang="en-US" sz="1600" dirty="0"/>
          </a:p>
        </p:txBody>
      </p:sp>
      <p:sp>
        <p:nvSpPr>
          <p:cNvPr id="28" name="Shape 25"/>
          <p:cNvSpPr/>
          <p:nvPr/>
        </p:nvSpPr>
        <p:spPr>
          <a:xfrm>
            <a:off x="530352" y="5193792"/>
            <a:ext cx="11274552" cy="1097280"/>
          </a:xfrm>
          <a:prstGeom prst="rect">
            <a:avLst/>
          </a:prstGeom>
          <a:solidFill>
            <a:srgbClr val="111111"/>
          </a:solidFill>
          <a:ln w="12700">
            <a:solidFill>
              <a:srgbClr val="111111"/>
            </a:solidFill>
            <a:prstDash val="solid"/>
          </a:ln>
        </p:spPr>
      </p:sp>
      <p:sp>
        <p:nvSpPr>
          <p:cNvPr id="29" name="Shape 26"/>
          <p:cNvSpPr/>
          <p:nvPr/>
        </p:nvSpPr>
        <p:spPr>
          <a:xfrm>
            <a:off x="457200" y="5120640"/>
            <a:ext cx="11274552" cy="1097280"/>
          </a:xfrm>
          <a:prstGeom prst="rect">
            <a:avLst/>
          </a:prstGeom>
          <a:solidFill>
            <a:srgbClr val="111111"/>
          </a:solidFill>
          <a:ln w="31750">
            <a:solidFill>
              <a:srgbClr val="111111"/>
            </a:solidFill>
            <a:prstDash val="solid"/>
          </a:ln>
        </p:spPr>
      </p:sp>
      <p:sp>
        <p:nvSpPr>
          <p:cNvPr id="30" name="Text 27"/>
          <p:cNvSpPr txBox="1"/>
          <p:nvPr/>
        </p:nvSpPr>
        <p:spPr>
          <a:xfrm>
            <a:off x="685800" y="5166360"/>
            <a:ext cx="10835640" cy="1005840"/>
          </a:xfrm>
          <a:prstGeom prst="rect">
            <a:avLst/>
          </a:prstGeom>
          <a:noFill/>
          <a:ln/>
        </p:spPr>
        <p:txBody>
          <a:bodyPr wrap="square" lIns="0" tIns="0" rIns="0" bIns="0" rtlCol="0" anchor="ctr"/>
          <a:lstStyle/>
          <a:p>
            <a:pPr indent="0" marL="0">
              <a:buNone/>
            </a:pPr>
            <a:r>
              <a:rPr lang="en-US" sz="1700" b="1" dirty="0">
                <a:solidFill>
                  <a:srgbClr val="FFD400"/>
                </a:solidFill>
                <a:latin typeface="Arial" pitchFamily="34" charset="0"/>
                <a:ea typeface="Arial" pitchFamily="34" charset="-122"/>
                <a:cs typeface="Arial" pitchFamily="34" charset="-120"/>
              </a:rPr>
              <a:t>1938: </a:t>
            </a:r>
            <a:pPr indent="0" marL="0">
              <a:buNone/>
            </a:pPr>
            <a:r>
              <a:rPr lang="en-US" sz="1700" dirty="0">
                <a:solidFill>
                  <a:srgbClr val="FFFFFF"/>
                </a:solidFill>
                <a:latin typeface="Arial" pitchFamily="34" charset="0"/>
                <a:ea typeface="Arial" pitchFamily="34" charset="-122"/>
                <a:cs typeface="Arial" pitchFamily="34" charset="-120"/>
              </a:rPr>
              <a:t>Action Comics #1, nace Superman.   </a:t>
            </a:r>
            <a:pPr indent="0" marL="0">
              <a:buNone/>
            </a:pPr>
            <a:r>
              <a:rPr lang="en-US" sz="1700" b="1" dirty="0">
                <a:solidFill>
                  <a:srgbClr val="FFD400"/>
                </a:solidFill>
                <a:latin typeface="Arial" pitchFamily="34" charset="0"/>
                <a:ea typeface="Arial" pitchFamily="34" charset="-122"/>
                <a:cs typeface="Arial" pitchFamily="34" charset="-120"/>
              </a:rPr>
              <a:t>Segunda Guerra: </a:t>
            </a:r>
            <a:pPr indent="0" marL="0">
              <a:buNone/>
            </a:pPr>
            <a:r>
              <a:rPr lang="en-US" sz="1700" dirty="0">
                <a:solidFill>
                  <a:srgbClr val="FFFFFF"/>
                </a:solidFill>
                <a:latin typeface="Arial" pitchFamily="34" charset="0"/>
                <a:ea typeface="Arial" pitchFamily="34" charset="-122"/>
                <a:cs typeface="Arial" pitchFamily="34" charset="-120"/>
              </a:rPr>
              <a:t>el cómic como propaganda (Sostaric, 2019).   </a:t>
            </a:r>
            <a:pPr indent="0" marL="0">
              <a:buNone/>
            </a:pPr>
            <a:r>
              <a:rPr lang="en-US" sz="1700" b="1" dirty="0">
                <a:solidFill>
                  <a:srgbClr val="FFD400"/>
                </a:solidFill>
                <a:latin typeface="Arial" pitchFamily="34" charset="0"/>
                <a:ea typeface="Arial" pitchFamily="34" charset="-122"/>
                <a:cs typeface="Arial" pitchFamily="34" charset="-120"/>
              </a:rPr>
              <a:t>Hoy: </a:t>
            </a:r>
            <a:pPr indent="0" marL="0">
              <a:buNone/>
            </a:pPr>
            <a:r>
              <a:rPr lang="en-US" sz="1700" dirty="0">
                <a:solidFill>
                  <a:srgbClr val="FFFFFF"/>
                </a:solidFill>
                <a:latin typeface="Arial" pitchFamily="34" charset="0"/>
                <a:ea typeface="Arial" pitchFamily="34" charset="-122"/>
                <a:cs typeface="Arial" pitchFamily="34" charset="-120"/>
              </a:rPr>
              <a:t>el 11S como punto de quiebre (Wright, 2001).</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2566673"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03. APARTADO METODOLÓGICO · CORPUS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04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Diseño y muestra: siete casos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MUESTREO INTENCIONAL · N = 7 ]</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7040880" cy="914400"/>
        </p:xfrm>
        <a:graphic>
          <a:graphicData uri="http://schemas.openxmlformats.org/drawingml/2006/table">
            <a:tbl>
              <a:tblPr/>
              <a:tblGrid>
                <a:gridCol w="1920240"/>
                <a:gridCol w="2194560"/>
                <a:gridCol w="1097280"/>
                <a:gridCol w="1005840"/>
                <a:gridCol w="822960"/>
              </a:tblGrid>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Obra</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Autoría</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Editorial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Año</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Dim.</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Authority (1–12)</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Ellis y Hitch</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WildStorm</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1999</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Ultimates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Millar y Hitch</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Marvel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2002–04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1 y 2</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Civil War</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Millar y McNiven</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Marvel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2006</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Secret Invasion</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Bendis y Yu</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Marvel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2008</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 y 3</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Action Comics #775</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Kelly, Mahnke y Bermejo</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DC</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2001</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 y 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Identity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Meltzer y Morales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DC</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2005</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Infinite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Johns et al.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DC</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2006</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bl>
          </a:graphicData>
        </a:graphic>
      </p:graphicFrame>
      <p:sp>
        <p:nvSpPr>
          <p:cNvPr id="14" name="Shape 10"/>
          <p:cNvSpPr/>
          <p:nvPr/>
        </p:nvSpPr>
        <p:spPr>
          <a:xfrm>
            <a:off x="530352" y="5330952"/>
            <a:ext cx="7040880" cy="960120"/>
          </a:xfrm>
          <a:prstGeom prst="rect">
            <a:avLst/>
          </a:prstGeom>
          <a:solidFill>
            <a:srgbClr val="111111"/>
          </a:solidFill>
          <a:ln w="12700">
            <a:solidFill>
              <a:srgbClr val="111111"/>
            </a:solidFill>
            <a:prstDash val="solid"/>
          </a:ln>
        </p:spPr>
      </p:sp>
      <p:sp>
        <p:nvSpPr>
          <p:cNvPr id="15" name="Shape 11"/>
          <p:cNvSpPr/>
          <p:nvPr/>
        </p:nvSpPr>
        <p:spPr>
          <a:xfrm>
            <a:off x="457200" y="5257800"/>
            <a:ext cx="7040880" cy="960120"/>
          </a:xfrm>
          <a:prstGeom prst="rect">
            <a:avLst/>
          </a:prstGeom>
          <a:solidFill>
            <a:srgbClr val="FFF1A8"/>
          </a:solidFill>
          <a:ln w="31750">
            <a:solidFill>
              <a:srgbClr val="111111"/>
            </a:solidFill>
            <a:prstDash val="solid"/>
          </a:ln>
        </p:spPr>
      </p:sp>
      <p:sp>
        <p:nvSpPr>
          <p:cNvPr id="16" name="Text 12"/>
          <p:cNvSpPr txBox="1"/>
          <p:nvPr/>
        </p:nvSpPr>
        <p:spPr>
          <a:xfrm>
            <a:off x="640080" y="5303520"/>
            <a:ext cx="6675120" cy="868680"/>
          </a:xfrm>
          <a:prstGeom prst="rect">
            <a:avLst/>
          </a:prstGeom>
          <a:noFill/>
          <a:ln/>
        </p:spPr>
        <p:txBody>
          <a:bodyPr wrap="square" lIns="0" tIns="0" rIns="0" bIns="0" rtlCol="0" anchor="ctr"/>
          <a:lstStyle/>
          <a:p>
            <a:pPr indent="0" marL="0">
              <a:buNone/>
            </a:pPr>
            <a:r>
              <a:rPr lang="en-US" sz="1500" b="1" dirty="0">
                <a:solidFill>
                  <a:srgbClr val="E5262B"/>
                </a:solidFill>
                <a:latin typeface="Arial" pitchFamily="34" charset="0"/>
                <a:ea typeface="Arial" pitchFamily="34" charset="-122"/>
                <a:cs typeface="Arial" pitchFamily="34" charset="-120"/>
              </a:rPr>
              <a:t>LÍMITES: </a:t>
            </a:r>
            <a:pPr indent="0" marL="0">
              <a:buNone/>
            </a:pPr>
            <a:r>
              <a:rPr lang="en-US" sz="1500" b="1" dirty="0">
                <a:solidFill>
                  <a:srgbClr val="111111"/>
                </a:solidFill>
                <a:latin typeface="Arial" pitchFamily="34" charset="0"/>
                <a:ea typeface="Arial" pitchFamily="34" charset="-122"/>
                <a:cs typeface="Arial" pitchFamily="34" charset="-120"/>
              </a:rPr>
              <a:t>no generalizable · solo Marvel y DC mainstream · sin recepción</a:t>
            </a:r>
            <a:endParaRPr lang="en-US" sz="1500" dirty="0"/>
          </a:p>
        </p:txBody>
      </p:sp>
      <p:sp>
        <p:nvSpPr>
          <p:cNvPr id="17" name="Shape 13"/>
          <p:cNvSpPr/>
          <p:nvPr/>
        </p:nvSpPr>
        <p:spPr>
          <a:xfrm>
            <a:off x="7845552" y="1673352"/>
            <a:ext cx="3959352" cy="4617720"/>
          </a:xfrm>
          <a:prstGeom prst="rect">
            <a:avLst/>
          </a:prstGeom>
          <a:solidFill>
            <a:srgbClr val="111111"/>
          </a:solidFill>
          <a:ln w="12700">
            <a:solidFill>
              <a:srgbClr val="111111"/>
            </a:solidFill>
            <a:prstDash val="solid"/>
          </a:ln>
        </p:spPr>
      </p:sp>
      <p:sp>
        <p:nvSpPr>
          <p:cNvPr id="18" name="Shape 14"/>
          <p:cNvSpPr/>
          <p:nvPr/>
        </p:nvSpPr>
        <p:spPr>
          <a:xfrm>
            <a:off x="7772400" y="1600200"/>
            <a:ext cx="3959352" cy="4617720"/>
          </a:xfrm>
          <a:prstGeom prst="rect">
            <a:avLst/>
          </a:prstGeom>
          <a:solidFill>
            <a:srgbClr val="FFFFFF"/>
          </a:solidFill>
          <a:ln w="31750">
            <a:solidFill>
              <a:srgbClr val="111111"/>
            </a:solidFill>
            <a:prstDash val="solid"/>
          </a:ln>
        </p:spPr>
      </p:sp>
      <p:sp>
        <p:nvSpPr>
          <p:cNvPr id="19" name="Text 15"/>
          <p:cNvSpPr txBox="1"/>
          <p:nvPr/>
        </p:nvSpPr>
        <p:spPr>
          <a:xfrm>
            <a:off x="7955280" y="1764792"/>
            <a:ext cx="137160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ESTRATEGIA</a:t>
            </a:r>
            <a:endParaRPr lang="en-US" sz="1000" dirty="0"/>
          </a:p>
        </p:txBody>
      </p:sp>
      <p:sp>
        <p:nvSpPr>
          <p:cNvPr id="20" name="Text 16"/>
          <p:cNvSpPr txBox="1"/>
          <p:nvPr/>
        </p:nvSpPr>
        <p:spPr>
          <a:xfrm>
            <a:off x="7955280" y="2194560"/>
            <a:ext cx="3611880" cy="3840480"/>
          </a:xfrm>
          <a:prstGeom prst="rect">
            <a:avLst/>
          </a:prstGeom>
          <a:noFill/>
          <a:ln/>
        </p:spPr>
        <p:txBody>
          <a:bodyPr wrap="square" lIns="0" tIns="0" rIns="0" bIns="0" rtlCol="0" anchor="t"/>
          <a:lstStyle/>
          <a:p>
            <a:pPr marL="203200" indent="-203200">
              <a:spcAft>
                <a:spcPts val="1200"/>
              </a:spcAft>
              <a:buSzPct val="100000"/>
              <a:buChar char="•"/>
            </a:pPr>
            <a:r>
              <a:rPr lang="en-US" sz="1700" b="1" dirty="0">
                <a:solidFill>
                  <a:srgbClr val="111111"/>
                </a:solidFill>
                <a:latin typeface="Arial" pitchFamily="34" charset="0"/>
                <a:ea typeface="Arial" pitchFamily="34" charset="-122"/>
                <a:cs typeface="Arial" pitchFamily="34" charset="-120"/>
              </a:rPr>
              <a:t>Diseño: </a:t>
            </a:r>
            <a:pPr indent="0" marL="0">
              <a:spcAft>
                <a:spcPts val="1200"/>
              </a:spcAft>
              <a:buNone/>
            </a:pPr>
            <a:r>
              <a:rPr lang="en-US" sz="1700" dirty="0">
                <a:solidFill>
                  <a:srgbClr val="111111"/>
                </a:solidFill>
                <a:latin typeface="Arial" pitchFamily="34" charset="0"/>
                <a:ea typeface="Arial" pitchFamily="34" charset="-122"/>
                <a:cs typeface="Arial" pitchFamily="34" charset="-120"/>
              </a:rPr>
              <a:t>cualitativo, estudios culturales</a:t>
            </a:r>
            <a:endParaRPr lang="en-US" sz="1700" dirty="0"/>
          </a:p>
          <a:p>
            <a:pPr marL="203200" indent="-203200">
              <a:spcAft>
                <a:spcPts val="1200"/>
              </a:spcAft>
              <a:buSzPct val="100000"/>
              <a:buChar char="•"/>
            </a:pPr>
            <a:r>
              <a:rPr lang="en-US" sz="1700" b="1" dirty="0">
                <a:solidFill>
                  <a:srgbClr val="111111"/>
                </a:solidFill>
                <a:latin typeface="Arial" pitchFamily="34" charset="0"/>
                <a:ea typeface="Arial" pitchFamily="34" charset="-122"/>
                <a:cs typeface="Arial" pitchFamily="34" charset="-120"/>
              </a:rPr>
              <a:t>Muestra: </a:t>
            </a:r>
            <a:pPr indent="0" marL="0">
              <a:spcAft>
                <a:spcPts val="1200"/>
              </a:spcAft>
              <a:buNone/>
            </a:pPr>
            <a:r>
              <a:rPr lang="en-US" sz="1700" dirty="0">
                <a:solidFill>
                  <a:srgbClr val="111111"/>
                </a:solidFill>
                <a:latin typeface="Arial" pitchFamily="34" charset="0"/>
                <a:ea typeface="Arial" pitchFamily="34" charset="-122"/>
                <a:cs typeface="Arial" pitchFamily="34" charset="-120"/>
              </a:rPr>
              <a:t>intencional, tres criterios</a:t>
            </a:r>
            <a:endParaRPr lang="en-US" sz="1700" dirty="0"/>
          </a:p>
          <a:p>
            <a:pPr marL="203200" indent="-203200">
              <a:spcAft>
                <a:spcPts val="1200"/>
              </a:spcAft>
              <a:buSzPct val="100000"/>
              <a:buChar char="•"/>
            </a:pPr>
            <a:r>
              <a:rPr lang="en-US" sz="1700" b="1" dirty="0">
                <a:solidFill>
                  <a:srgbClr val="111111"/>
                </a:solidFill>
                <a:latin typeface="Arial" pitchFamily="34" charset="0"/>
                <a:ea typeface="Arial" pitchFamily="34" charset="-122"/>
                <a:cs typeface="Arial" pitchFamily="34" charset="-120"/>
              </a:rPr>
              <a:t>Técnica: </a:t>
            </a:r>
            <a:pPr indent="0" marL="0">
              <a:spcAft>
                <a:spcPts val="1200"/>
              </a:spcAft>
              <a:buNone/>
            </a:pPr>
            <a:r>
              <a:rPr lang="en-US" sz="1700" dirty="0">
                <a:solidFill>
                  <a:srgbClr val="111111"/>
                </a:solidFill>
                <a:latin typeface="Arial" pitchFamily="34" charset="0"/>
                <a:ea typeface="Arial" pitchFamily="34" charset="-122"/>
                <a:cs typeface="Arial" pitchFamily="34" charset="-120"/>
              </a:rPr>
              <a:t>análisis de contenido (guión e imagen)</a:t>
            </a:r>
            <a:endParaRPr lang="en-US" sz="1700" dirty="0"/>
          </a:p>
          <a:p>
            <a:pPr marL="203200" indent="-203200">
              <a:spcAft>
                <a:spcPts val="1200"/>
              </a:spcAft>
              <a:buSzPct val="100000"/>
              <a:buChar char="•"/>
            </a:pPr>
            <a:r>
              <a:rPr lang="en-US" sz="1700" b="1" dirty="0">
                <a:solidFill>
                  <a:srgbClr val="111111"/>
                </a:solidFill>
                <a:latin typeface="Arial" pitchFamily="34" charset="0"/>
                <a:ea typeface="Arial" pitchFamily="34" charset="-122"/>
                <a:cs typeface="Arial" pitchFamily="34" charset="-120"/>
              </a:rPr>
              <a:t>Triangulación: </a:t>
            </a:r>
            <a:pPr indent="0" marL="0">
              <a:spcAft>
                <a:spcPts val="1200"/>
              </a:spcAft>
              <a:buNone/>
            </a:pPr>
            <a:r>
              <a:rPr lang="en-US" sz="1700" dirty="0">
                <a:solidFill>
                  <a:srgbClr val="111111"/>
                </a:solidFill>
                <a:latin typeface="Arial" pitchFamily="34" charset="0"/>
                <a:ea typeface="Arial" pitchFamily="34" charset="-122"/>
                <a:cs typeface="Arial" pitchFamily="34" charset="-120"/>
              </a:rPr>
              <a:t>crítica especializada</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3208341"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03. APARTADO METODOLÓGICO · DIMENSIONES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05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Cuatro dimensiones de análisis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DEDUCTIVAS · A PARTIR DE LA HIPÓTESIS ]</a:t>
            </a:r>
            <a:endParaRPr lang="en-US" sz="900" dirty="0"/>
          </a:p>
        </p:txBody>
      </p:sp>
      <p:sp>
        <p:nvSpPr>
          <p:cNvPr id="13" name="Shape 10"/>
          <p:cNvSpPr/>
          <p:nvPr/>
        </p:nvSpPr>
        <p:spPr>
          <a:xfrm>
            <a:off x="530352" y="1673352"/>
            <a:ext cx="5532120" cy="2194560"/>
          </a:xfrm>
          <a:prstGeom prst="rect">
            <a:avLst/>
          </a:prstGeom>
          <a:solidFill>
            <a:srgbClr val="111111"/>
          </a:solidFill>
          <a:ln w="12700">
            <a:solidFill>
              <a:srgbClr val="111111"/>
            </a:solidFill>
            <a:prstDash val="solid"/>
          </a:ln>
        </p:spPr>
      </p:sp>
      <p:sp>
        <p:nvSpPr>
          <p:cNvPr id="14" name="Shape 11"/>
          <p:cNvSpPr/>
          <p:nvPr/>
        </p:nvSpPr>
        <p:spPr>
          <a:xfrm>
            <a:off x="457200" y="1600200"/>
            <a:ext cx="5532120" cy="2194560"/>
          </a:xfrm>
          <a:prstGeom prst="rect">
            <a:avLst/>
          </a:prstGeom>
          <a:solidFill>
            <a:srgbClr val="FFFFFF"/>
          </a:solidFill>
          <a:ln w="31750">
            <a:solidFill>
              <a:srgbClr val="111111"/>
            </a:solidFill>
            <a:prstDash val="solid"/>
          </a:ln>
        </p:spPr>
      </p:sp>
      <p:sp>
        <p:nvSpPr>
          <p:cNvPr id="15" name="Text 12"/>
          <p:cNvSpPr txBox="1"/>
          <p:nvPr/>
        </p:nvSpPr>
        <p:spPr>
          <a:xfrm>
            <a:off x="685800" y="1783080"/>
            <a:ext cx="822960" cy="50292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01</a:t>
            </a:r>
            <a:endParaRPr lang="en-US" sz="2800" dirty="0"/>
          </a:p>
        </p:txBody>
      </p:sp>
      <p:sp>
        <p:nvSpPr>
          <p:cNvPr id="16" name="Text 13"/>
          <p:cNvSpPr txBox="1"/>
          <p:nvPr/>
        </p:nvSpPr>
        <p:spPr>
          <a:xfrm>
            <a:off x="1463040" y="1783080"/>
            <a:ext cx="4343400" cy="502920"/>
          </a:xfrm>
          <a:prstGeom prst="rect">
            <a:avLst/>
          </a:prstGeom>
          <a:noFill/>
          <a:ln/>
        </p:spPr>
        <p:txBody>
          <a:bodyPr wrap="square" lIns="0" tIns="0" rIns="0" bIns="0" rtlCol="0" anchor="ctr"/>
          <a:lstStyle/>
          <a:p>
            <a:pPr indent="0" marL="0">
              <a:buNone/>
            </a:pPr>
            <a:r>
              <a:rPr lang="en-US" sz="2000" dirty="0">
                <a:solidFill>
                  <a:srgbClr val="111111"/>
                </a:solidFill>
                <a:latin typeface="Impact" pitchFamily="34" charset="0"/>
                <a:ea typeface="Impact" pitchFamily="34" charset="-122"/>
                <a:cs typeface="Impact" pitchFamily="34" charset="-120"/>
              </a:rPr>
              <a:t>Militarización del Estado</a:t>
            </a:r>
            <a:endParaRPr lang="en-US" sz="2000" dirty="0"/>
          </a:p>
        </p:txBody>
      </p:sp>
      <p:sp>
        <p:nvSpPr>
          <p:cNvPr id="17" name="Text 14"/>
          <p:cNvSpPr txBox="1"/>
          <p:nvPr/>
        </p:nvSpPr>
        <p:spPr>
          <a:xfrm>
            <a:off x="685800" y="2468880"/>
            <a:ext cx="50749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Héroe y aparato militar · violencia letal</a:t>
            </a:r>
            <a:endParaRPr lang="en-US" sz="1700" dirty="0"/>
          </a:p>
        </p:txBody>
      </p:sp>
      <p:sp>
        <p:nvSpPr>
          <p:cNvPr id="18" name="Text 15"/>
          <p:cNvSpPr txBox="1"/>
          <p:nvPr/>
        </p:nvSpPr>
        <p:spPr>
          <a:xfrm>
            <a:off x="685800" y="3154680"/>
            <a:ext cx="5074920" cy="502920"/>
          </a:xfrm>
          <a:prstGeom prst="rect">
            <a:avLst/>
          </a:prstGeom>
          <a:noFill/>
          <a:ln/>
        </p:spPr>
        <p:txBody>
          <a:bodyPr wrap="square" lIns="0" tIns="0" rIns="0" bIns="0" rtlCol="0" anchor="t"/>
          <a:lstStyle/>
          <a:p>
            <a:pPr indent="0" marL="0">
              <a:buNone/>
            </a:pPr>
            <a:r>
              <a:rPr lang="en-US" sz="1100" b="1" dirty="0">
                <a:solidFill>
                  <a:srgbClr val="444444"/>
                </a:solidFill>
                <a:latin typeface="Arial" pitchFamily="34" charset="0"/>
                <a:ea typeface="Arial" pitchFamily="34" charset="-122"/>
                <a:cs typeface="Arial" pitchFamily="34" charset="-120"/>
              </a:rPr>
              <a:t>OBRAS: The Authority · The Ultimates</a:t>
            </a:r>
            <a:endParaRPr lang="en-US" sz="1100" dirty="0"/>
          </a:p>
        </p:txBody>
      </p:sp>
      <p:sp>
        <p:nvSpPr>
          <p:cNvPr id="19" name="Shape 16"/>
          <p:cNvSpPr/>
          <p:nvPr/>
        </p:nvSpPr>
        <p:spPr>
          <a:xfrm>
            <a:off x="6272784" y="1673352"/>
            <a:ext cx="5532120" cy="2194560"/>
          </a:xfrm>
          <a:prstGeom prst="rect">
            <a:avLst/>
          </a:prstGeom>
          <a:solidFill>
            <a:srgbClr val="111111"/>
          </a:solidFill>
          <a:ln w="12700">
            <a:solidFill>
              <a:srgbClr val="111111"/>
            </a:solidFill>
            <a:prstDash val="solid"/>
          </a:ln>
        </p:spPr>
      </p:sp>
      <p:sp>
        <p:nvSpPr>
          <p:cNvPr id="20" name="Shape 17"/>
          <p:cNvSpPr/>
          <p:nvPr/>
        </p:nvSpPr>
        <p:spPr>
          <a:xfrm>
            <a:off x="6199632" y="1600200"/>
            <a:ext cx="5532120" cy="2194560"/>
          </a:xfrm>
          <a:prstGeom prst="rect">
            <a:avLst/>
          </a:prstGeom>
          <a:solidFill>
            <a:srgbClr val="FFFFFF"/>
          </a:solidFill>
          <a:ln w="31750">
            <a:solidFill>
              <a:srgbClr val="111111"/>
            </a:solidFill>
            <a:prstDash val="solid"/>
          </a:ln>
        </p:spPr>
      </p:sp>
      <p:sp>
        <p:nvSpPr>
          <p:cNvPr id="21" name="Text 18"/>
          <p:cNvSpPr txBox="1"/>
          <p:nvPr/>
        </p:nvSpPr>
        <p:spPr>
          <a:xfrm>
            <a:off x="6428232" y="1783080"/>
            <a:ext cx="822960" cy="50292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02</a:t>
            </a:r>
            <a:endParaRPr lang="en-US" sz="2800" dirty="0"/>
          </a:p>
        </p:txBody>
      </p:sp>
      <p:sp>
        <p:nvSpPr>
          <p:cNvPr id="22" name="Text 19"/>
          <p:cNvSpPr txBox="1"/>
          <p:nvPr/>
        </p:nvSpPr>
        <p:spPr>
          <a:xfrm>
            <a:off x="7205472" y="1783080"/>
            <a:ext cx="4343400" cy="502920"/>
          </a:xfrm>
          <a:prstGeom prst="rect">
            <a:avLst/>
          </a:prstGeom>
          <a:noFill/>
          <a:ln/>
        </p:spPr>
        <p:txBody>
          <a:bodyPr wrap="square" lIns="0" tIns="0" rIns="0" bIns="0" rtlCol="0" anchor="ctr"/>
          <a:lstStyle/>
          <a:p>
            <a:pPr indent="0" marL="0">
              <a:buNone/>
            </a:pPr>
            <a:r>
              <a:rPr lang="en-US" sz="2000" dirty="0">
                <a:solidFill>
                  <a:srgbClr val="111111"/>
                </a:solidFill>
                <a:latin typeface="Impact" pitchFamily="34" charset="0"/>
                <a:ea typeface="Impact" pitchFamily="34" charset="-122"/>
                <a:cs typeface="Impact" pitchFamily="34" charset="-120"/>
              </a:rPr>
              <a:t>Excepcionalismo norteamericano</a:t>
            </a:r>
            <a:endParaRPr lang="en-US" sz="2000" dirty="0"/>
          </a:p>
        </p:txBody>
      </p:sp>
      <p:sp>
        <p:nvSpPr>
          <p:cNvPr id="23" name="Text 20"/>
          <p:cNvSpPr txBox="1"/>
          <p:nvPr/>
        </p:nvSpPr>
        <p:spPr>
          <a:xfrm>
            <a:off x="6428232" y="2468880"/>
            <a:ext cx="50749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EE.UU. y su «estilo de vida» como misión</a:t>
            </a:r>
            <a:endParaRPr lang="en-US" sz="1700" dirty="0"/>
          </a:p>
        </p:txBody>
      </p:sp>
      <p:sp>
        <p:nvSpPr>
          <p:cNvPr id="24" name="Text 21"/>
          <p:cNvSpPr txBox="1"/>
          <p:nvPr/>
        </p:nvSpPr>
        <p:spPr>
          <a:xfrm>
            <a:off x="6428232" y="3154680"/>
            <a:ext cx="5074920" cy="502920"/>
          </a:xfrm>
          <a:prstGeom prst="rect">
            <a:avLst/>
          </a:prstGeom>
          <a:noFill/>
          <a:ln/>
        </p:spPr>
        <p:txBody>
          <a:bodyPr wrap="square" lIns="0" tIns="0" rIns="0" bIns="0" rtlCol="0" anchor="t"/>
          <a:lstStyle/>
          <a:p>
            <a:pPr indent="0" marL="0">
              <a:buNone/>
            </a:pPr>
            <a:r>
              <a:rPr lang="en-US" sz="1100" b="1" dirty="0">
                <a:solidFill>
                  <a:srgbClr val="444444"/>
                </a:solidFill>
                <a:latin typeface="Arial" pitchFamily="34" charset="0"/>
                <a:ea typeface="Arial" pitchFamily="34" charset="-122"/>
                <a:cs typeface="Arial" pitchFamily="34" charset="-120"/>
              </a:rPr>
              <a:t>OBRAS: The Ultimates · Secret Invasion · Action Comics #775</a:t>
            </a:r>
            <a:endParaRPr lang="en-US" sz="1100" dirty="0"/>
          </a:p>
        </p:txBody>
      </p:sp>
      <p:sp>
        <p:nvSpPr>
          <p:cNvPr id="25" name="Shape 22"/>
          <p:cNvSpPr/>
          <p:nvPr/>
        </p:nvSpPr>
        <p:spPr>
          <a:xfrm>
            <a:off x="530352" y="4050792"/>
            <a:ext cx="5532120" cy="2194560"/>
          </a:xfrm>
          <a:prstGeom prst="rect">
            <a:avLst/>
          </a:prstGeom>
          <a:solidFill>
            <a:srgbClr val="111111"/>
          </a:solidFill>
          <a:ln w="12700">
            <a:solidFill>
              <a:srgbClr val="111111"/>
            </a:solidFill>
            <a:prstDash val="solid"/>
          </a:ln>
        </p:spPr>
      </p:sp>
      <p:sp>
        <p:nvSpPr>
          <p:cNvPr id="26" name="Shape 23"/>
          <p:cNvSpPr/>
          <p:nvPr/>
        </p:nvSpPr>
        <p:spPr>
          <a:xfrm>
            <a:off x="457200" y="3977640"/>
            <a:ext cx="5532120" cy="2194560"/>
          </a:xfrm>
          <a:prstGeom prst="rect">
            <a:avLst/>
          </a:prstGeom>
          <a:solidFill>
            <a:srgbClr val="FFFFFF"/>
          </a:solidFill>
          <a:ln w="31750">
            <a:solidFill>
              <a:srgbClr val="111111"/>
            </a:solidFill>
            <a:prstDash val="solid"/>
          </a:ln>
        </p:spPr>
      </p:sp>
      <p:sp>
        <p:nvSpPr>
          <p:cNvPr id="27" name="Text 24"/>
          <p:cNvSpPr txBox="1"/>
          <p:nvPr/>
        </p:nvSpPr>
        <p:spPr>
          <a:xfrm>
            <a:off x="685800" y="4160520"/>
            <a:ext cx="822960" cy="50292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03</a:t>
            </a:r>
            <a:endParaRPr lang="en-US" sz="2800" dirty="0"/>
          </a:p>
        </p:txBody>
      </p:sp>
      <p:sp>
        <p:nvSpPr>
          <p:cNvPr id="28" name="Text 25"/>
          <p:cNvSpPr txBox="1"/>
          <p:nvPr/>
        </p:nvSpPr>
        <p:spPr>
          <a:xfrm>
            <a:off x="1463040" y="4160520"/>
            <a:ext cx="4343400" cy="502920"/>
          </a:xfrm>
          <a:prstGeom prst="rect">
            <a:avLst/>
          </a:prstGeom>
          <a:noFill/>
          <a:ln/>
        </p:spPr>
        <p:txBody>
          <a:bodyPr wrap="square" lIns="0" tIns="0" rIns="0" bIns="0" rtlCol="0" anchor="ctr"/>
          <a:lstStyle/>
          <a:p>
            <a:pPr indent="0" marL="0">
              <a:buNone/>
            </a:pPr>
            <a:r>
              <a:rPr lang="en-US" sz="2000" dirty="0">
                <a:solidFill>
                  <a:srgbClr val="111111"/>
                </a:solidFill>
                <a:latin typeface="Impact" pitchFamily="34" charset="0"/>
                <a:ea typeface="Impact" pitchFamily="34" charset="-122"/>
                <a:cs typeface="Impact" pitchFamily="34" charset="-120"/>
              </a:rPr>
              <a:t>Seguridad sobre libertades civiles</a:t>
            </a:r>
            <a:endParaRPr lang="en-US" sz="2000" dirty="0"/>
          </a:p>
        </p:txBody>
      </p:sp>
      <p:sp>
        <p:nvSpPr>
          <p:cNvPr id="29" name="Text 26"/>
          <p:cNvSpPr txBox="1"/>
          <p:nvPr/>
        </p:nvSpPr>
        <p:spPr>
          <a:xfrm>
            <a:off x="685800" y="4846320"/>
            <a:ext cx="50749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Control, registro y vigilancia</a:t>
            </a:r>
            <a:endParaRPr lang="en-US" sz="1700" dirty="0"/>
          </a:p>
        </p:txBody>
      </p:sp>
      <p:sp>
        <p:nvSpPr>
          <p:cNvPr id="30" name="Text 27"/>
          <p:cNvSpPr txBox="1"/>
          <p:nvPr/>
        </p:nvSpPr>
        <p:spPr>
          <a:xfrm>
            <a:off x="685800" y="5532120"/>
            <a:ext cx="5074920" cy="502920"/>
          </a:xfrm>
          <a:prstGeom prst="rect">
            <a:avLst/>
          </a:prstGeom>
          <a:noFill/>
          <a:ln/>
        </p:spPr>
        <p:txBody>
          <a:bodyPr wrap="square" lIns="0" tIns="0" rIns="0" bIns="0" rtlCol="0" anchor="t"/>
          <a:lstStyle/>
          <a:p>
            <a:pPr indent="0" marL="0">
              <a:buNone/>
            </a:pPr>
            <a:r>
              <a:rPr lang="en-US" sz="1100" b="1" dirty="0">
                <a:solidFill>
                  <a:srgbClr val="444444"/>
                </a:solidFill>
                <a:latin typeface="Arial" pitchFamily="34" charset="0"/>
                <a:ea typeface="Arial" pitchFamily="34" charset="-122"/>
                <a:cs typeface="Arial" pitchFamily="34" charset="-120"/>
              </a:rPr>
              <a:t>OBRAS: Civil War · Secret Invasion</a:t>
            </a:r>
            <a:endParaRPr lang="en-US" sz="1100" dirty="0"/>
          </a:p>
        </p:txBody>
      </p:sp>
      <p:sp>
        <p:nvSpPr>
          <p:cNvPr id="31" name="Shape 28"/>
          <p:cNvSpPr/>
          <p:nvPr/>
        </p:nvSpPr>
        <p:spPr>
          <a:xfrm>
            <a:off x="6272784" y="4050792"/>
            <a:ext cx="5532120" cy="2194560"/>
          </a:xfrm>
          <a:prstGeom prst="rect">
            <a:avLst/>
          </a:prstGeom>
          <a:solidFill>
            <a:srgbClr val="111111"/>
          </a:solidFill>
          <a:ln w="12700">
            <a:solidFill>
              <a:srgbClr val="111111"/>
            </a:solidFill>
            <a:prstDash val="solid"/>
          </a:ln>
        </p:spPr>
      </p:sp>
      <p:sp>
        <p:nvSpPr>
          <p:cNvPr id="32" name="Shape 29"/>
          <p:cNvSpPr/>
          <p:nvPr/>
        </p:nvSpPr>
        <p:spPr>
          <a:xfrm>
            <a:off x="6199632" y="3977640"/>
            <a:ext cx="5532120" cy="2194560"/>
          </a:xfrm>
          <a:prstGeom prst="rect">
            <a:avLst/>
          </a:prstGeom>
          <a:solidFill>
            <a:srgbClr val="FFF1A8"/>
          </a:solidFill>
          <a:ln w="31750">
            <a:solidFill>
              <a:srgbClr val="111111"/>
            </a:solidFill>
            <a:prstDash val="solid"/>
          </a:ln>
        </p:spPr>
      </p:sp>
      <p:sp>
        <p:nvSpPr>
          <p:cNvPr id="33" name="Text 30"/>
          <p:cNvSpPr txBox="1"/>
          <p:nvPr/>
        </p:nvSpPr>
        <p:spPr>
          <a:xfrm>
            <a:off x="6428232" y="4160520"/>
            <a:ext cx="822960" cy="50292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04</a:t>
            </a:r>
            <a:endParaRPr lang="en-US" sz="2800" dirty="0"/>
          </a:p>
        </p:txBody>
      </p:sp>
      <p:sp>
        <p:nvSpPr>
          <p:cNvPr id="34" name="Text 31"/>
          <p:cNvSpPr txBox="1"/>
          <p:nvPr/>
        </p:nvSpPr>
        <p:spPr>
          <a:xfrm>
            <a:off x="7205472" y="4160520"/>
            <a:ext cx="4343400" cy="502920"/>
          </a:xfrm>
          <a:prstGeom prst="rect">
            <a:avLst/>
          </a:prstGeom>
          <a:noFill/>
          <a:ln/>
        </p:spPr>
        <p:txBody>
          <a:bodyPr wrap="square" lIns="0" tIns="0" rIns="0" bIns="0" rtlCol="0" anchor="ctr"/>
          <a:lstStyle/>
          <a:p>
            <a:pPr indent="0" marL="0">
              <a:buNone/>
            </a:pPr>
            <a:r>
              <a:rPr lang="en-US" sz="2000" dirty="0">
                <a:solidFill>
                  <a:srgbClr val="111111"/>
                </a:solidFill>
                <a:latin typeface="Impact" pitchFamily="34" charset="0"/>
                <a:ea typeface="Impact" pitchFamily="34" charset="-122"/>
                <a:cs typeface="Impact" pitchFamily="34" charset="-120"/>
              </a:rPr>
              <a:t>Legitimidad moral del héroe</a:t>
            </a:r>
            <a:endParaRPr lang="en-US" sz="2000" dirty="0"/>
          </a:p>
        </p:txBody>
      </p:sp>
      <p:sp>
        <p:nvSpPr>
          <p:cNvPr id="35" name="Text 32"/>
          <p:cNvSpPr txBox="1"/>
          <p:nvPr/>
        </p:nvSpPr>
        <p:spPr>
          <a:xfrm>
            <a:off x="6428232" y="4846320"/>
            <a:ext cx="50749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Cuestionamiento del héroe · metacrítica del género</a:t>
            </a:r>
            <a:endParaRPr lang="en-US" sz="1700" dirty="0"/>
          </a:p>
        </p:txBody>
      </p:sp>
      <p:sp>
        <p:nvSpPr>
          <p:cNvPr id="36" name="Text 33"/>
          <p:cNvSpPr txBox="1"/>
          <p:nvPr/>
        </p:nvSpPr>
        <p:spPr>
          <a:xfrm>
            <a:off x="6428232" y="5532120"/>
            <a:ext cx="5074920" cy="502920"/>
          </a:xfrm>
          <a:prstGeom prst="rect">
            <a:avLst/>
          </a:prstGeom>
          <a:noFill/>
          <a:ln/>
        </p:spPr>
        <p:txBody>
          <a:bodyPr wrap="square" lIns="0" tIns="0" rIns="0" bIns="0" rtlCol="0" anchor="t"/>
          <a:lstStyle/>
          <a:p>
            <a:pPr indent="0" marL="0">
              <a:buNone/>
            </a:pPr>
            <a:r>
              <a:rPr lang="en-US" sz="1100" b="1" dirty="0">
                <a:solidFill>
                  <a:srgbClr val="444444"/>
                </a:solidFill>
                <a:latin typeface="Arial" pitchFamily="34" charset="0"/>
                <a:ea typeface="Arial" pitchFamily="34" charset="-122"/>
                <a:cs typeface="Arial" pitchFamily="34" charset="-120"/>
              </a:rPr>
              <a:t>OBRAS: Action Comics #775 · Identity Crisis · Infinite Crisis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Fondo La muerte de Superman" descr="La muerte de Superman">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45000"/>
            </a:srgbClr>
          </a:solidFill>
          <a:ln w="12700">
            <a:solidFill>
              <a:srgbClr val="000000"/>
            </a:solidFill>
            <a:prstDash val="solid"/>
          </a:ln>
        </p:spPr>
      </p:sp>
      <p:sp>
        <p:nvSpPr>
          <p:cNvPr id="4" name="Progreso"/>
          <p:cNvSpPr/>
          <p:nvPr/>
        </p:nvSpPr>
        <p:spPr>
          <a:xfrm>
            <a:off x="0" y="0"/>
            <a:ext cx="3850009"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CONTEXTO · LOS AÑOS '90</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06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3093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3093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309360" cy="5486400"/>
          </a:xfrm>
          <a:prstGeom prst="rect">
            <a:avLst/>
          </a:prstGeom>
        </p:spPr>
      </p:pic>
      <p:sp>
        <p:nvSpPr>
          <p:cNvPr id="13" name="Text 9"/>
          <p:cNvSpPr txBox="1"/>
          <p:nvPr/>
        </p:nvSpPr>
        <p:spPr>
          <a:xfrm>
            <a:off x="777240" y="914400"/>
            <a:ext cx="56692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MERCADO ESPECULATIVO, COLAPSO Y REFUNDACIÓN ]</a:t>
            </a:r>
            <a:endParaRPr lang="en-US" sz="1000" dirty="0"/>
          </a:p>
        </p:txBody>
      </p:sp>
      <p:sp>
        <p:nvSpPr>
          <p:cNvPr id="14" name="Text 10"/>
          <p:cNvSpPr txBox="1"/>
          <p:nvPr/>
        </p:nvSpPr>
        <p:spPr>
          <a:xfrm>
            <a:off x="777240" y="1207008"/>
            <a:ext cx="56692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Los años '90: boom especulativo y colapso</a:t>
            </a:r>
            <a:endParaRPr lang="en-US" sz="2800" dirty="0"/>
          </a:p>
        </p:txBody>
      </p:sp>
      <p:sp>
        <p:nvSpPr>
          <p:cNvPr id="15" name="Text 11"/>
          <p:cNvSpPr txBox="1"/>
          <p:nvPr/>
        </p:nvSpPr>
        <p:spPr>
          <a:xfrm>
            <a:off x="777240" y="2148840"/>
            <a:ext cx="56692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WRIGHT (2001) · JURGENS ET AL. (2019)</a:t>
            </a:r>
            <a:endParaRPr lang="en-US" sz="1000" dirty="0"/>
          </a:p>
        </p:txBody>
      </p:sp>
      <p:sp>
        <p:nvSpPr>
          <p:cNvPr id="16" name="Text 12"/>
          <p:cNvSpPr txBox="1"/>
          <p:nvPr/>
        </p:nvSpPr>
        <p:spPr>
          <a:xfrm>
            <a:off x="777240" y="2560320"/>
            <a:ext cx="56692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Boom especulativo: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portadas variantes y crossovers</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1992: </a:t>
            </a:r>
            <a:pPr indent="0" marL="0">
              <a:spcAft>
                <a:spcPts val="900"/>
              </a:spcAft>
              <a:buNone/>
            </a:pPr>
            <a:r>
              <a:rPr lang="en-US" sz="1900" dirty="0">
                <a:solidFill>
                  <a:srgbClr val="FFFFFF"/>
                </a:solidFill>
                <a:latin typeface="Arial" pitchFamily="34" charset="0"/>
                <a:ea typeface="Arial" pitchFamily="34" charset="-122"/>
                <a:cs typeface="Arial" pitchFamily="34" charset="-120"/>
              </a:rPr>
              <a:t>DC mata a Superman; Image la desplaza</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Pastiche </a:t>
            </a:r>
            <a:pPr indent="0" marL="0">
              <a:spcAft>
                <a:spcPts val="900"/>
              </a:spcAft>
              <a:buNone/>
            </a:pPr>
            <a:r>
              <a:rPr lang="en-US" sz="1900" dirty="0">
                <a:solidFill>
                  <a:srgbClr val="FFFFFF"/>
                </a:solidFill>
                <a:latin typeface="Arial" pitchFamily="34" charset="0"/>
                <a:ea typeface="Arial" pitchFamily="34" charset="-122"/>
                <a:cs typeface="Arial" pitchFamily="34" charset="-120"/>
              </a:rPr>
              <a:t>(Jameson): Moore, Morrison y Miller solo en superficie</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Refundación Marvel: </a:t>
            </a:r>
            <a:pPr indent="0" marL="0">
              <a:spcAft>
                <a:spcPts val="900"/>
              </a:spcAft>
              <a:buNone/>
            </a:pPr>
            <a:r>
              <a:rPr lang="en-US" sz="1900" dirty="0">
                <a:solidFill>
                  <a:srgbClr val="FFFFFF"/>
                </a:solidFill>
                <a:latin typeface="Arial" pitchFamily="34" charset="0"/>
                <a:ea typeface="Arial" pitchFamily="34" charset="-122"/>
                <a:cs typeface="Arial" pitchFamily="34" charset="-120"/>
              </a:rPr>
              <a:t>Marvel Knights y Ultimate; lucha por la dominación cultural (Bourdieu)</a:t>
            </a:r>
            <a:endParaRPr lang="en-US" sz="1900" dirty="0"/>
          </a:p>
        </p:txBody>
      </p:sp>
      <p:sp>
        <p:nvSpPr>
          <p:cNvPr id="17" name="Text 13"/>
          <p:cNvSpPr txBox="1"/>
          <p:nvPr/>
        </p:nvSpPr>
        <p:spPr>
          <a:xfrm>
            <a:off x="7132320" y="5989320"/>
            <a:ext cx="4602175" cy="274320"/>
          </a:xfrm>
          <a:prstGeom prst="rect">
            <a:avLst/>
          </a:prstGeom>
          <a:noFill/>
          <a:ln/>
        </p:spPr>
        <p:txBody>
          <a:bodyPr wrap="square" lIns="0" tIns="0" rIns="0" bIns="0" rtlCol="0" anchor="ctr"/>
          <a:lstStyle/>
          <a:p>
            <a:pPr algn="r" indent="0" marL="0">
              <a:buNone/>
            </a:pPr>
            <a:r>
              <a:rPr lang="en-US" sz="900" dirty="0">
                <a:solidFill>
                  <a:srgbClr val="FFFFFF"/>
                </a:solidFill>
                <a:latin typeface="Arial" pitchFamily="34" charset="0"/>
                <a:ea typeface="Arial" pitchFamily="34" charset="-122"/>
                <a:cs typeface="Arial" pitchFamily="34" charset="-120"/>
              </a:rPr>
              <a:t>La muerte de Superman (DC, 1992)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Fondo Portada de The Authority 1" descr="Portada de The Authority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45000"/>
            </a:srgbClr>
          </a:solidFill>
          <a:ln w="12700">
            <a:solidFill>
              <a:srgbClr val="000000"/>
            </a:solidFill>
            <a:prstDash val="solid"/>
          </a:ln>
        </p:spPr>
      </p:sp>
      <p:sp>
        <p:nvSpPr>
          <p:cNvPr id="4" name="Progreso"/>
          <p:cNvSpPr/>
          <p:nvPr/>
        </p:nvSpPr>
        <p:spPr>
          <a:xfrm>
            <a:off x="0" y="0"/>
            <a:ext cx="4491677"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05. ANÁLISIS · DIMENSIÓN 1</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07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3093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3093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309360" cy="5486400"/>
          </a:xfrm>
          <a:prstGeom prst="rect">
            <a:avLst/>
          </a:prstGeom>
        </p:spPr>
      </p:pic>
      <p:sp>
        <p:nvSpPr>
          <p:cNvPr id="13" name="Text 9"/>
          <p:cNvSpPr txBox="1"/>
          <p:nvPr/>
        </p:nvSpPr>
        <p:spPr>
          <a:xfrm>
            <a:off x="777240" y="914400"/>
            <a:ext cx="56692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1 · MILITARIZACIÓN DEL ESTADO ]</a:t>
            </a:r>
            <a:endParaRPr lang="en-US" sz="1000" dirty="0"/>
          </a:p>
        </p:txBody>
      </p:sp>
      <p:sp>
        <p:nvSpPr>
          <p:cNvPr id="14" name="Text 10"/>
          <p:cNvSpPr txBox="1"/>
          <p:nvPr/>
        </p:nvSpPr>
        <p:spPr>
          <a:xfrm>
            <a:off x="777240" y="1207008"/>
            <a:ext cx="56692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The Authority: fuerza policial global</a:t>
            </a:r>
            <a:endParaRPr lang="en-US" sz="2800" dirty="0"/>
          </a:p>
        </p:txBody>
      </p:sp>
      <p:sp>
        <p:nvSpPr>
          <p:cNvPr id="15" name="Text 11"/>
          <p:cNvSpPr txBox="1"/>
          <p:nvPr/>
        </p:nvSpPr>
        <p:spPr>
          <a:xfrm>
            <a:off x="777240" y="2148840"/>
            <a:ext cx="56692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ELLIS Y HITCH · WILDSTORM · 1999</a:t>
            </a:r>
            <a:endParaRPr lang="en-US" sz="1000" dirty="0"/>
          </a:p>
        </p:txBody>
      </p:sp>
      <p:sp>
        <p:nvSpPr>
          <p:cNvPr id="16" name="Text 12"/>
          <p:cNvSpPr txBox="1"/>
          <p:nvPr/>
        </p:nvSpPr>
        <p:spPr>
          <a:xfrm>
            <a:off x="777240" y="2560320"/>
            <a:ext cx="56692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Tono nuevo: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estrellas de rock, estética Matrix</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Fuerza letal </a:t>
            </a:r>
            <a:pPr indent="0" marL="0">
              <a:spcAft>
                <a:spcPts val="900"/>
              </a:spcAft>
              <a:buNone/>
            </a:pPr>
            <a:r>
              <a:rPr lang="en-US" sz="1900" dirty="0">
                <a:solidFill>
                  <a:srgbClr val="FFFFFF"/>
                </a:solidFill>
                <a:latin typeface="Arial" pitchFamily="34" charset="0"/>
                <a:ea typeface="Arial" pitchFamily="34" charset="-122"/>
                <a:cs typeface="Arial" pitchFamily="34" charset="-120"/>
              </a:rPr>
              <a:t>contra toda amenaza</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Terror </a:t>
            </a:r>
            <a:pPr indent="0" marL="0">
              <a:spcAft>
                <a:spcPts val="900"/>
              </a:spcAft>
              <a:buNone/>
            </a:pPr>
            <a:r>
              <a:rPr lang="en-US" sz="1900" dirty="0">
                <a:solidFill>
                  <a:srgbClr val="FFFFFF"/>
                </a:solidFill>
                <a:latin typeface="Arial" pitchFamily="34" charset="0"/>
                <a:ea typeface="Arial" pitchFamily="34" charset="-122"/>
                <a:cs typeface="Arial" pitchFamily="34" charset="-120"/>
              </a:rPr>
              <a:t>como justificación (Mbembe); Gamorra queda bajo la ONU</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Morrison: </a:t>
            </a:r>
            <a:pPr indent="0" marL="0">
              <a:spcAft>
                <a:spcPts val="900"/>
              </a:spcAft>
              <a:buNone/>
            </a:pPr>
            <a:r>
              <a:rPr lang="en-US" sz="1900" dirty="0">
                <a:solidFill>
                  <a:srgbClr val="FFFFFF"/>
                </a:solidFill>
                <a:latin typeface="Arial" pitchFamily="34" charset="0"/>
                <a:ea typeface="Arial" pitchFamily="34" charset="-122"/>
                <a:cs typeface="Arial" pitchFamily="34" charset="-120"/>
              </a:rPr>
              <a:t>el mainstream la militariza</a:t>
            </a:r>
            <a:endParaRPr lang="en-US" sz="1900" dirty="0"/>
          </a:p>
        </p:txBody>
      </p:sp>
      <p:sp>
        <p:nvSpPr>
          <p:cNvPr id="17" name="Text 13"/>
          <p:cNvSpPr txBox="1"/>
          <p:nvPr/>
        </p:nvSpPr>
        <p:spPr>
          <a:xfrm>
            <a:off x="7132320" y="5989320"/>
            <a:ext cx="4602175" cy="274320"/>
          </a:xfrm>
          <a:prstGeom prst="rect">
            <a:avLst/>
          </a:prstGeom>
          <a:noFill/>
          <a:ln/>
        </p:spPr>
        <p:txBody>
          <a:bodyPr wrap="square" lIns="0" tIns="0" rIns="0" bIns="0" rtlCol="0" anchor="ctr"/>
          <a:lstStyle/>
          <a:p>
            <a:pPr algn="r" indent="0" marL="0">
              <a:buNone/>
            </a:pPr>
            <a:r>
              <a:rPr lang="en-US" sz="900" dirty="0">
                <a:solidFill>
                  <a:srgbClr val="FFFFFF"/>
                </a:solidFill>
                <a:latin typeface="Arial" pitchFamily="34" charset="0"/>
                <a:ea typeface="Arial" pitchFamily="34" charset="-122"/>
                <a:cs typeface="Arial" pitchFamily="34" charset="-120"/>
              </a:rPr>
              <a:t>The Authority #1 (WildStorm, 1999)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Fondo Portada de The Ultimates 1" descr="Portada de The Ultimates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5133345"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05. ANÁLISIS · DIMENSIONES 1 Y 2</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08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DIMENSIONES 1 Y 2 · MILITARIZACIÓN Y EXCEPCIONALISMO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The Ultimates: Avengers al servicio del Estado</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MILLAR Y HITCH · MARVEL · 2002–2004</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Faludi: </a:t>
            </a:r>
            <a:pPr indent="0" marL="0">
              <a:spcAft>
                <a:spcPts val="900"/>
              </a:spcAft>
              <a:buNone/>
            </a:pPr>
            <a:r>
              <a:rPr lang="en-US" sz="1900" dirty="0">
                <a:solidFill>
                  <a:srgbClr val="FFFFFF"/>
                </a:solidFill>
                <a:latin typeface="Arial" pitchFamily="34" charset="0"/>
                <a:ea typeface="Arial" pitchFamily="34" charset="-122"/>
                <a:cs typeface="Arial" pitchFamily="34" charset="-120"/>
              </a:rPr>
              <a:t>tras el 11S, los líderes se pintan como superhéroes</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Enero de 2002: </a:t>
            </a:r>
            <a:pPr indent="0" marL="0">
              <a:spcAft>
                <a:spcPts val="900"/>
              </a:spcAft>
              <a:buNone/>
            </a:pPr>
            <a:r>
              <a:rPr lang="en-US" sz="1900" dirty="0">
                <a:solidFill>
                  <a:srgbClr val="FFFFFF"/>
                </a:solidFill>
                <a:latin typeface="Arial" pitchFamily="34" charset="0"/>
                <a:ea typeface="Arial" pitchFamily="34" charset="-122"/>
                <a:cs typeface="Arial" pitchFamily="34" charset="-120"/>
              </a:rPr>
              <a:t>sale #1, sello Ultimate</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Avengers: </a:t>
            </a:r>
            <a:pPr indent="0" marL="0">
              <a:spcAft>
                <a:spcPts val="900"/>
              </a:spcAft>
              <a:buNone/>
            </a:pPr>
            <a:r>
              <a:rPr lang="en-US" sz="1900" dirty="0">
                <a:solidFill>
                  <a:srgbClr val="FFFFFF"/>
                </a:solidFill>
                <a:latin typeface="Arial" pitchFamily="34" charset="0"/>
                <a:ea typeface="Arial" pitchFamily="34" charset="-122"/>
                <a:cs typeface="Arial" pitchFamily="34" charset="-120"/>
              </a:rPr>
              <a:t>fuerza de proyección militar estatal</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Vocero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de la América de Bush (Morrison)</a:t>
            </a:r>
            <a:endParaRPr lang="en-US" sz="1900" dirty="0"/>
          </a:p>
        </p:txBody>
      </p:sp>
      <p:sp>
        <p:nvSpPr>
          <p:cNvPr id="17" name="Shape 13"/>
          <p:cNvSpPr/>
          <p:nvPr/>
        </p:nvSpPr>
        <p:spPr>
          <a:xfrm>
            <a:off x="7913275" y="768096"/>
            <a:ext cx="3543186" cy="5321808"/>
          </a:xfrm>
          <a:prstGeom prst="rect">
            <a:avLst/>
          </a:prstGeom>
          <a:solidFill>
            <a:srgbClr val="FFFFFF"/>
          </a:solidFill>
          <a:ln w="38100">
            <a:solidFill>
              <a:srgbClr val="FFD400"/>
            </a:solidFill>
            <a:prstDash val="solid"/>
          </a:ln>
        </p:spPr>
      </p:sp>
      <p:pic>
        <p:nvPicPr>
          <p:cNvPr id="18" name="Portada de The Ultimates 1" descr="Portada de The Ultimates 1">    </p:cNvPr>
          <p:cNvPicPr>
            <a:picLocks noChangeAspect="1"/>
          </p:cNvPicPr>
          <p:nvPr/>
        </p:nvPicPr>
        <p:blipFill>
          <a:blip r:embed="rId3"/>
          <a:stretch>
            <a:fillRect/>
          </a:stretch>
        </p:blipFill>
        <p:spPr>
          <a:xfrm>
            <a:off x="7968139" y="822960"/>
            <a:ext cx="3433458"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The Ultimates #1 (Marvel, 2002)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Fondo Civil War 7, doble página" descr="Civil War 7, doble página">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45000"/>
            </a:srgbClr>
          </a:solidFill>
          <a:ln w="12700">
            <a:solidFill>
              <a:srgbClr val="000000"/>
            </a:solidFill>
            <a:prstDash val="solid"/>
          </a:ln>
        </p:spPr>
      </p:sp>
      <p:sp>
        <p:nvSpPr>
          <p:cNvPr id="4" name="Progreso"/>
          <p:cNvSpPr/>
          <p:nvPr/>
        </p:nvSpPr>
        <p:spPr>
          <a:xfrm>
            <a:off x="0" y="0"/>
            <a:ext cx="5775014"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05. ANÁLISIS · DIMENSIÓN 3</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09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3093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3093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309360" cy="5486400"/>
          </a:xfrm>
          <a:prstGeom prst="rect">
            <a:avLst/>
          </a:prstGeom>
        </p:spPr>
      </p:pic>
      <p:sp>
        <p:nvSpPr>
          <p:cNvPr id="13" name="Text 9"/>
          <p:cNvSpPr txBox="1"/>
          <p:nvPr/>
        </p:nvSpPr>
        <p:spPr>
          <a:xfrm>
            <a:off x="777240" y="914400"/>
            <a:ext cx="56692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3 · SEGURIDAD SOBRE LIBERTADES CIVILES ]</a:t>
            </a:r>
            <a:endParaRPr lang="en-US" sz="1000" dirty="0"/>
          </a:p>
        </p:txBody>
      </p:sp>
      <p:sp>
        <p:nvSpPr>
          <p:cNvPr id="14" name="Text 10"/>
          <p:cNvSpPr txBox="1"/>
          <p:nvPr/>
        </p:nvSpPr>
        <p:spPr>
          <a:xfrm>
            <a:off x="777240" y="1207008"/>
            <a:ext cx="56692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Civil War: registro y vigilancia estatal</a:t>
            </a:r>
            <a:endParaRPr lang="en-US" sz="2800" dirty="0"/>
          </a:p>
        </p:txBody>
      </p:sp>
      <p:sp>
        <p:nvSpPr>
          <p:cNvPr id="15" name="Text 11"/>
          <p:cNvSpPr txBox="1"/>
          <p:nvPr/>
        </p:nvSpPr>
        <p:spPr>
          <a:xfrm>
            <a:off x="777240" y="2148840"/>
            <a:ext cx="56692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MILLAR Y MCNIVEN · MARVEL · 2006</a:t>
            </a:r>
            <a:endParaRPr lang="en-US" sz="1000" dirty="0"/>
          </a:p>
        </p:txBody>
      </p:sp>
      <p:sp>
        <p:nvSpPr>
          <p:cNvPr id="16" name="Text 12"/>
          <p:cNvSpPr txBox="1"/>
          <p:nvPr/>
        </p:nvSpPr>
        <p:spPr>
          <a:xfrm>
            <a:off x="777240" y="2560320"/>
            <a:ext cx="56692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Stamford: </a:t>
            </a:r>
            <a:pPr indent="0" marL="0">
              <a:spcAft>
                <a:spcPts val="900"/>
              </a:spcAft>
              <a:buNone/>
            </a:pPr>
            <a:r>
              <a:rPr lang="en-US" sz="1900" dirty="0">
                <a:solidFill>
                  <a:srgbClr val="FFFFFF"/>
                </a:solidFill>
                <a:latin typeface="Arial" pitchFamily="34" charset="0"/>
                <a:ea typeface="Arial" pitchFamily="34" charset="-122"/>
                <a:cs typeface="Arial" pitchFamily="34" charset="-120"/>
              </a:rPr>
              <a:t>800 a 900 niños muertos</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Acta de Registro: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identidad civil bajo supervisión estatal</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Patriot Act: </a:t>
            </a:r>
            <a:pPr indent="0" marL="0">
              <a:spcAft>
                <a:spcPts val="900"/>
              </a:spcAft>
              <a:buNone/>
            </a:pPr>
            <a:r>
              <a:rPr lang="en-US" sz="1900" dirty="0">
                <a:solidFill>
                  <a:srgbClr val="FFFFFF"/>
                </a:solidFill>
                <a:latin typeface="Arial" pitchFamily="34" charset="0"/>
                <a:ea typeface="Arial" pitchFamily="34" charset="-122"/>
                <a:cs typeface="Arial" pitchFamily="34" charset="-120"/>
              </a:rPr>
              <a:t>libertad vs. seguridad (Etzioni)</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Portada: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Capitán América vs. Iron Man</a:t>
            </a:r>
            <a:endParaRPr lang="en-US" sz="1900" dirty="0"/>
          </a:p>
        </p:txBody>
      </p:sp>
      <p:sp>
        <p:nvSpPr>
          <p:cNvPr id="17" name="Text 13"/>
          <p:cNvSpPr txBox="1"/>
          <p:nvPr/>
        </p:nvSpPr>
        <p:spPr>
          <a:xfrm>
            <a:off x="7132320" y="5989320"/>
            <a:ext cx="4602175" cy="274320"/>
          </a:xfrm>
          <a:prstGeom prst="rect">
            <a:avLst/>
          </a:prstGeom>
          <a:noFill/>
          <a:ln/>
        </p:spPr>
        <p:txBody>
          <a:bodyPr wrap="square" lIns="0" tIns="0" rIns="0" bIns="0" rtlCol="0" anchor="ctr"/>
          <a:lstStyle/>
          <a:p>
            <a:pPr algn="r" indent="0" marL="0">
              <a:buNone/>
            </a:pPr>
            <a:r>
              <a:rPr lang="en-US" sz="900" dirty="0">
                <a:solidFill>
                  <a:srgbClr val="FFFFFF"/>
                </a:solidFill>
                <a:latin typeface="Arial" pitchFamily="34" charset="0"/>
                <a:ea typeface="Arial" pitchFamily="34" charset="-122"/>
                <a:cs typeface="Arial" pitchFamily="34" charset="-120"/>
              </a:rPr>
              <a:t>Civil War #7 (Marvel, 2006)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Fondo Portada de Secret Invasion 1" descr="Portada de Secret Invasion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6416682"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05. ANÁLISIS · DIMENSIONES 2 Y 3</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10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DIMENSIONES 2 Y 3 · EXCEPCIONALISMO Y SEGURIDAD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Secret Invasion: la paranoia como época</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BENDIS Y YU · MARVEL · 2008</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Primera respuesta: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héroes impotentes (Amazing Spider-Man #36)</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Evoca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el atentado a las torres</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Paranoia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de la era Bush (Smith y Goodrum)</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Portada: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héroes con rasgos de invasores</a:t>
            </a:r>
            <a:endParaRPr lang="en-US" sz="1900" dirty="0"/>
          </a:p>
        </p:txBody>
      </p:sp>
      <p:sp>
        <p:nvSpPr>
          <p:cNvPr id="17" name="Shape 13"/>
          <p:cNvSpPr/>
          <p:nvPr/>
        </p:nvSpPr>
        <p:spPr>
          <a:xfrm>
            <a:off x="7912679" y="768096"/>
            <a:ext cx="3544377" cy="5321808"/>
          </a:xfrm>
          <a:prstGeom prst="rect">
            <a:avLst/>
          </a:prstGeom>
          <a:solidFill>
            <a:srgbClr val="FFFFFF"/>
          </a:solidFill>
          <a:ln w="38100">
            <a:solidFill>
              <a:srgbClr val="FFD400"/>
            </a:solidFill>
            <a:prstDash val="solid"/>
          </a:ln>
        </p:spPr>
      </p:sp>
      <p:pic>
        <p:nvPicPr>
          <p:cNvPr id="18" name="Portada de Secret Invasion 1" descr="Portada de Secret Invasion 1">    </p:cNvPr>
          <p:cNvPicPr>
            <a:picLocks noChangeAspect="1"/>
          </p:cNvPicPr>
          <p:nvPr/>
        </p:nvPicPr>
        <p:blipFill>
          <a:blip r:embed="rId3"/>
          <a:stretch>
            <a:fillRect/>
          </a:stretch>
        </p:blipFill>
        <p:spPr>
          <a:xfrm>
            <a:off x="7967543" y="822960"/>
            <a:ext cx="3434649"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Secret Invasion #1 (Marvel, 2008)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7058350"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05. ANÁLISIS · SEGUNDA RESPUESTA DE MARVEL</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11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Iron Man y el salto al cine</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DIMENSIÓN 2 · EXCEPCIONALISMO ]</a:t>
            </a:r>
            <a:endParaRPr lang="en-US" sz="900" dirty="0"/>
          </a:p>
        </p:txBody>
      </p:sp>
      <p:sp>
        <p:nvSpPr>
          <p:cNvPr id="13" name="Shape 10"/>
          <p:cNvSpPr/>
          <p:nvPr/>
        </p:nvSpPr>
        <p:spPr>
          <a:xfrm>
            <a:off x="530352" y="1673352"/>
            <a:ext cx="3605784" cy="3246120"/>
          </a:xfrm>
          <a:prstGeom prst="rect">
            <a:avLst/>
          </a:prstGeom>
          <a:solidFill>
            <a:srgbClr val="111111"/>
          </a:solidFill>
          <a:ln w="12700">
            <a:solidFill>
              <a:srgbClr val="111111"/>
            </a:solidFill>
            <a:prstDash val="solid"/>
          </a:ln>
        </p:spPr>
      </p:sp>
      <p:sp>
        <p:nvSpPr>
          <p:cNvPr id="14" name="Shape 11"/>
          <p:cNvSpPr/>
          <p:nvPr/>
        </p:nvSpPr>
        <p:spPr>
          <a:xfrm>
            <a:off x="457200" y="1600200"/>
            <a:ext cx="3605784" cy="3246120"/>
          </a:xfrm>
          <a:prstGeom prst="rect">
            <a:avLst/>
          </a:prstGeom>
          <a:solidFill>
            <a:srgbClr val="FFFFFF"/>
          </a:solidFill>
          <a:ln w="31750">
            <a:solidFill>
              <a:srgbClr val="111111"/>
            </a:solidFill>
            <a:prstDash val="solid"/>
          </a:ln>
        </p:spPr>
      </p:sp>
      <p:sp>
        <p:nvSpPr>
          <p:cNvPr id="15" name="Text 12"/>
          <p:cNvSpPr txBox="1"/>
          <p:nvPr/>
        </p:nvSpPr>
        <p:spPr>
          <a:xfrm>
            <a:off x="640080"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DITTMER (2011)</a:t>
            </a:r>
            <a:endParaRPr lang="en-US" sz="1000" dirty="0"/>
          </a:p>
        </p:txBody>
      </p:sp>
      <p:sp>
        <p:nvSpPr>
          <p:cNvPr id="16" name="Text 13"/>
          <p:cNvSpPr txBox="1"/>
          <p:nvPr/>
        </p:nvSpPr>
        <p:spPr>
          <a:xfrm>
            <a:off x="640080"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Cine = excepcionalismo norteamericano</a:t>
            </a:r>
            <a:endParaRPr lang="en-US" sz="2200" dirty="0"/>
          </a:p>
        </p:txBody>
      </p:sp>
      <p:sp>
        <p:nvSpPr>
          <p:cNvPr id="17" name="Text 14"/>
          <p:cNvSpPr txBox="1"/>
          <p:nvPr/>
        </p:nvSpPr>
        <p:spPr>
          <a:xfrm>
            <a:off x="640080"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El género articula la perspectiva geopolítica de EE.UU.</a:t>
            </a:r>
            <a:endParaRPr lang="en-US" sz="1600" dirty="0"/>
          </a:p>
        </p:txBody>
      </p:sp>
      <p:sp>
        <p:nvSpPr>
          <p:cNvPr id="18" name="Shape 15"/>
          <p:cNvSpPr/>
          <p:nvPr/>
        </p:nvSpPr>
        <p:spPr>
          <a:xfrm>
            <a:off x="4364736" y="1673352"/>
            <a:ext cx="3605784" cy="3246120"/>
          </a:xfrm>
          <a:prstGeom prst="rect">
            <a:avLst/>
          </a:prstGeom>
          <a:solidFill>
            <a:srgbClr val="111111"/>
          </a:solidFill>
          <a:ln w="12700">
            <a:solidFill>
              <a:srgbClr val="111111"/>
            </a:solidFill>
            <a:prstDash val="solid"/>
          </a:ln>
        </p:spPr>
      </p:sp>
      <p:sp>
        <p:nvSpPr>
          <p:cNvPr id="19" name="Shape 16"/>
          <p:cNvSpPr/>
          <p:nvPr/>
        </p:nvSpPr>
        <p:spPr>
          <a:xfrm>
            <a:off x="4291584" y="1600200"/>
            <a:ext cx="3605784" cy="3246120"/>
          </a:xfrm>
          <a:prstGeom prst="rect">
            <a:avLst/>
          </a:prstGeom>
          <a:solidFill>
            <a:srgbClr val="FFF1A8"/>
          </a:solidFill>
          <a:ln w="31750">
            <a:solidFill>
              <a:srgbClr val="111111"/>
            </a:solidFill>
            <a:prstDash val="solid"/>
          </a:ln>
        </p:spPr>
      </p:sp>
      <p:sp>
        <p:nvSpPr>
          <p:cNvPr id="20" name="Text 17"/>
          <p:cNvSpPr txBox="1"/>
          <p:nvPr/>
        </p:nvSpPr>
        <p:spPr>
          <a:xfrm>
            <a:off x="4474464"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JENKINS (2008)</a:t>
            </a:r>
            <a:endParaRPr lang="en-US" sz="1000" dirty="0"/>
          </a:p>
        </p:txBody>
      </p:sp>
      <p:sp>
        <p:nvSpPr>
          <p:cNvPr id="21" name="Text 18"/>
          <p:cNvSpPr txBox="1"/>
          <p:nvPr/>
        </p:nvSpPr>
        <p:spPr>
          <a:xfrm>
            <a:off x="4474464"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Narrativa transmedia</a:t>
            </a:r>
            <a:endParaRPr lang="en-US" sz="2200" dirty="0"/>
          </a:p>
        </p:txBody>
      </p:sp>
      <p:sp>
        <p:nvSpPr>
          <p:cNvPr id="22" name="Text 19"/>
          <p:cNvSpPr txBox="1"/>
          <p:nvPr/>
        </p:nvSpPr>
        <p:spPr>
          <a:xfrm>
            <a:off x="4474464"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Historieta y cine como un mismo proyecto cultural.</a:t>
            </a:r>
            <a:endParaRPr lang="en-US" sz="1600" dirty="0"/>
          </a:p>
        </p:txBody>
      </p:sp>
      <p:sp>
        <p:nvSpPr>
          <p:cNvPr id="23" name="Shape 20"/>
          <p:cNvSpPr/>
          <p:nvPr/>
        </p:nvSpPr>
        <p:spPr>
          <a:xfrm>
            <a:off x="8199120" y="1673352"/>
            <a:ext cx="3605784" cy="3246120"/>
          </a:xfrm>
          <a:prstGeom prst="rect">
            <a:avLst/>
          </a:prstGeom>
          <a:solidFill>
            <a:srgbClr val="111111"/>
          </a:solidFill>
          <a:ln w="12700">
            <a:solidFill>
              <a:srgbClr val="111111"/>
            </a:solidFill>
            <a:prstDash val="solid"/>
          </a:ln>
        </p:spPr>
      </p:sp>
      <p:sp>
        <p:nvSpPr>
          <p:cNvPr id="24" name="Shape 21"/>
          <p:cNvSpPr/>
          <p:nvPr/>
        </p:nvSpPr>
        <p:spPr>
          <a:xfrm>
            <a:off x="8125968" y="1600200"/>
            <a:ext cx="3605784" cy="3246120"/>
          </a:xfrm>
          <a:prstGeom prst="rect">
            <a:avLst/>
          </a:prstGeom>
          <a:solidFill>
            <a:srgbClr val="FFFFFF"/>
          </a:solidFill>
          <a:ln w="31750">
            <a:solidFill>
              <a:srgbClr val="111111"/>
            </a:solidFill>
            <a:prstDash val="solid"/>
          </a:ln>
        </p:spPr>
      </p:sp>
      <p:sp>
        <p:nvSpPr>
          <p:cNvPr id="25" name="Text 22"/>
          <p:cNvSpPr txBox="1"/>
          <p:nvPr/>
        </p:nvSpPr>
        <p:spPr>
          <a:xfrm>
            <a:off x="8308848"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FALUDI (2007)</a:t>
            </a:r>
            <a:endParaRPr lang="en-US" sz="1000" dirty="0"/>
          </a:p>
        </p:txBody>
      </p:sp>
      <p:sp>
        <p:nvSpPr>
          <p:cNvPr id="26" name="Text 23"/>
          <p:cNvSpPr txBox="1"/>
          <p:nvPr/>
        </p:nvSpPr>
        <p:spPr>
          <a:xfrm>
            <a:off x="8308848"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El nuevo John Wayne</a:t>
            </a:r>
            <a:endParaRPr lang="en-US" sz="2200" dirty="0"/>
          </a:p>
        </p:txBody>
      </p:sp>
      <p:sp>
        <p:nvSpPr>
          <p:cNvPr id="27" name="Text 24"/>
          <p:cNvSpPr txBox="1"/>
          <p:nvPr/>
        </p:nvSpPr>
        <p:spPr>
          <a:xfrm>
            <a:off x="8308848"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La masculinidad que EE.UU. parecía necesitar.</a:t>
            </a:r>
            <a:endParaRPr lang="en-US" sz="1600" dirty="0"/>
          </a:p>
        </p:txBody>
      </p:sp>
      <p:sp>
        <p:nvSpPr>
          <p:cNvPr id="28" name="Shape 25"/>
          <p:cNvSpPr/>
          <p:nvPr/>
        </p:nvSpPr>
        <p:spPr>
          <a:xfrm>
            <a:off x="530352" y="5193792"/>
            <a:ext cx="11274552" cy="1097280"/>
          </a:xfrm>
          <a:prstGeom prst="rect">
            <a:avLst/>
          </a:prstGeom>
          <a:solidFill>
            <a:srgbClr val="111111"/>
          </a:solidFill>
          <a:ln w="12700">
            <a:solidFill>
              <a:srgbClr val="111111"/>
            </a:solidFill>
            <a:prstDash val="solid"/>
          </a:ln>
        </p:spPr>
      </p:sp>
      <p:sp>
        <p:nvSpPr>
          <p:cNvPr id="29" name="Shape 26"/>
          <p:cNvSpPr/>
          <p:nvPr/>
        </p:nvSpPr>
        <p:spPr>
          <a:xfrm>
            <a:off x="457200" y="5120640"/>
            <a:ext cx="11274552" cy="1097280"/>
          </a:xfrm>
          <a:prstGeom prst="rect">
            <a:avLst/>
          </a:prstGeom>
          <a:solidFill>
            <a:srgbClr val="111111"/>
          </a:solidFill>
          <a:ln w="31750">
            <a:solidFill>
              <a:srgbClr val="111111"/>
            </a:solidFill>
            <a:prstDash val="solid"/>
          </a:ln>
        </p:spPr>
      </p:sp>
      <p:sp>
        <p:nvSpPr>
          <p:cNvPr id="30" name="Text 27"/>
          <p:cNvSpPr txBox="1"/>
          <p:nvPr/>
        </p:nvSpPr>
        <p:spPr>
          <a:xfrm>
            <a:off x="685800" y="5166360"/>
            <a:ext cx="10835640" cy="1005840"/>
          </a:xfrm>
          <a:prstGeom prst="rect">
            <a:avLst/>
          </a:prstGeom>
          <a:noFill/>
          <a:ln/>
        </p:spPr>
        <p:txBody>
          <a:bodyPr wrap="square" lIns="0" tIns="0" rIns="0" bIns="0" rtlCol="0" anchor="ctr"/>
          <a:lstStyle/>
          <a:p>
            <a:pPr indent="0" marL="0">
              <a:buNone/>
            </a:pPr>
            <a:r>
              <a:rPr lang="en-US" sz="1700" b="1" dirty="0">
                <a:solidFill>
                  <a:srgbClr val="FFD400"/>
                </a:solidFill>
                <a:latin typeface="Arial" pitchFamily="34" charset="0"/>
                <a:ea typeface="Arial" pitchFamily="34" charset="-122"/>
                <a:cs typeface="Arial" pitchFamily="34" charset="-120"/>
              </a:rPr>
              <a:t>Iron Man (2008): </a:t>
            </a:r>
            <a:pPr indent="0" marL="0">
              <a:buNone/>
            </a:pPr>
            <a:r>
              <a:rPr lang="en-US" sz="1700" dirty="0">
                <a:solidFill>
                  <a:srgbClr val="FFFFFF"/>
                </a:solidFill>
                <a:latin typeface="Arial" pitchFamily="34" charset="0"/>
                <a:ea typeface="Arial" pitchFamily="34" charset="-122"/>
                <a:cs typeface="Arial" pitchFamily="34" charset="-120"/>
              </a:rPr>
              <a:t>ícono de innovación tecnológica y dominación jerárquica  </a:t>
            </a:r>
            <a:pPr indent="0" marL="0">
              <a:buNone/>
            </a:pPr>
            <a:r>
              <a:rPr lang="en-US" sz="1700" b="1" dirty="0">
                <a:solidFill>
                  <a:srgbClr val="FFD400"/>
                </a:solidFill>
                <a:latin typeface="Arial" pitchFamily="34" charset="0"/>
                <a:ea typeface="Arial" pitchFamily="34" charset="-122"/>
                <a:cs typeface="Arial" pitchFamily="34" charset="-120"/>
              </a:rPr>
              <a:t>→ </a:t>
            </a:r>
            <a:pPr indent="0" marL="0">
              <a:buNone/>
            </a:pPr>
            <a:r>
              <a:rPr lang="en-US" sz="1700" dirty="0">
                <a:solidFill>
                  <a:srgbClr val="FFFFFF"/>
                </a:solidFill>
                <a:latin typeface="Arial" pitchFamily="34" charset="0"/>
                <a:ea typeface="Arial" pitchFamily="34" charset="-122"/>
                <a:cs typeface="Arial" pitchFamily="34" charset="-120"/>
              </a:rPr>
              <a:t>MCU.</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Fondo Action Comics 775, página 24" descr="Action Comics 775, página 24">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7700018"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06. ANÁLISIS · DIMENSIONES 2 Y 4</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12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DIMENSIONES 2 Y 4 · EXCEPCIONALISMO Y LEGITIMIDAD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Action Comics #775: ¿quedó anticuado Superman?</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KELLY, MAHNKE Y BERMEJO · DC · 2001</a:t>
            </a:r>
            <a:endParaRPr lang="en-US" sz="1000" dirty="0"/>
          </a:p>
        </p:txBody>
      </p:sp>
      <p:sp>
        <p:nvSpPr>
          <p:cNvPr id="16" name="Text 12"/>
          <p:cNvSpPr txBox="1"/>
          <p:nvPr/>
        </p:nvSpPr>
        <p:spPr>
          <a:xfrm>
            <a:off x="777240" y="2560320"/>
            <a:ext cx="6126480" cy="182880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Lema: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«verdad, justicia y estilo de vida norteamericano»</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The Elite: </a:t>
            </a:r>
            <a:pPr indent="0" marL="0">
              <a:spcAft>
                <a:spcPts val="900"/>
              </a:spcAft>
              <a:buNone/>
            </a:pPr>
            <a:r>
              <a:rPr lang="en-US" sz="1700" dirty="0">
                <a:solidFill>
                  <a:srgbClr val="FFFFFF"/>
                </a:solidFill>
                <a:latin typeface="Arial" pitchFamily="34" charset="0"/>
                <a:ea typeface="Arial" pitchFamily="34" charset="-122"/>
                <a:cs typeface="Arial" pitchFamily="34" charset="-120"/>
              </a:rPr>
              <a:t>antihéroes violentos, recurso metatextual</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Kelly: </a:t>
            </a:r>
            <a:pPr indent="0" marL="0">
              <a:spcAft>
                <a:spcPts val="900"/>
              </a:spcAft>
              <a:buNone/>
            </a:pPr>
            <a:r>
              <a:rPr lang="en-US" sz="1700" dirty="0">
                <a:solidFill>
                  <a:srgbClr val="FFFFFF"/>
                </a:solidFill>
                <a:latin typeface="Arial" pitchFamily="34" charset="0"/>
                <a:ea typeface="Arial" pitchFamily="34" charset="-122"/>
                <a:cs typeface="Arial" pitchFamily="34" charset="-120"/>
              </a:rPr>
              <a:t>Superman vence sin renunciar a sus valores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Pero: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el mainstream eligió lo contrario</a:t>
            </a:r>
            <a:endParaRPr lang="en-US" sz="1700" dirty="0"/>
          </a:p>
        </p:txBody>
      </p:sp>
      <p:sp>
        <p:nvSpPr>
          <p:cNvPr id="17" name="Text 13"/>
          <p:cNvSpPr txBox="1"/>
          <p:nvPr/>
        </p:nvSpPr>
        <p:spPr>
          <a:xfrm>
            <a:off x="777240" y="4526280"/>
            <a:ext cx="6126480" cy="1051560"/>
          </a:xfrm>
          <a:prstGeom prst="wedgeRoundRectCallout">
            <a:avLst/>
          </a:prstGeom>
          <a:solidFill>
            <a:srgbClr val="FFFFFF"/>
          </a:solidFill>
          <a:ln w="31750">
            <a:solidFill>
              <a:srgbClr val="111111"/>
            </a:solidFill>
          </a:ln>
        </p:spPr>
        <p:txBody>
          <a:bodyPr wrap="square" lIns="101600" tIns="101600" rIns="101600" bIns="101600" rtlCol="0" anchor="ctr"/>
          <a:lstStyle/>
          <a:p>
            <a:pPr indent="0" marL="0">
              <a:buNone/>
            </a:pPr>
            <a:r>
              <a:rPr lang="en-US" sz="1300" b="1" i="1" dirty="0">
                <a:solidFill>
                  <a:srgbClr val="111111"/>
                </a:solidFill>
                <a:latin typeface="Arial" pitchFamily="34" charset="0"/>
                <a:ea typeface="Arial" pitchFamily="34" charset="-122"/>
                <a:cs typeface="Arial" pitchFamily="34" charset="-120"/>
              </a:rPr>
              <a:t>«People have to know that there's another way, Lois. They have to hear a voice of compassion and faith instead of spite and anger.» (p. 24)</a:t>
            </a:r>
            <a:endParaRPr lang="en-US" sz="1300" dirty="0"/>
          </a:p>
        </p:txBody>
      </p:sp>
      <p:sp>
        <p:nvSpPr>
          <p:cNvPr id="18" name="Shape 14"/>
          <p:cNvSpPr/>
          <p:nvPr/>
        </p:nvSpPr>
        <p:spPr>
          <a:xfrm>
            <a:off x="7946354" y="768096"/>
            <a:ext cx="3477028" cy="5321808"/>
          </a:xfrm>
          <a:prstGeom prst="rect">
            <a:avLst/>
          </a:prstGeom>
          <a:solidFill>
            <a:srgbClr val="FFFFFF"/>
          </a:solidFill>
          <a:ln w="38100">
            <a:solidFill>
              <a:srgbClr val="FFD400"/>
            </a:solidFill>
            <a:prstDash val="solid"/>
          </a:ln>
        </p:spPr>
      </p:sp>
      <p:pic>
        <p:nvPicPr>
          <p:cNvPr id="19" name="Action Comics 775, página 24" descr="Action Comics 775, página 24">    </p:cNvPr>
          <p:cNvPicPr>
            <a:picLocks noChangeAspect="1"/>
          </p:cNvPicPr>
          <p:nvPr/>
        </p:nvPicPr>
        <p:blipFill>
          <a:blip r:embed="rId3"/>
          <a:stretch>
            <a:fillRect/>
          </a:stretch>
        </p:blipFill>
        <p:spPr>
          <a:xfrm>
            <a:off x="8001218" y="822960"/>
            <a:ext cx="3367300" cy="5212080"/>
          </a:xfrm>
          <a:prstGeom prst="rect">
            <a:avLst/>
          </a:prstGeom>
        </p:spPr>
      </p:pic>
      <p:sp>
        <p:nvSpPr>
          <p:cNvPr id="20" name="Text 15"/>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Action Comics #775, p. 24 (DC, 2001)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Fondo Portada de Identity Crisis 7" descr="Portada de Identity Crisis 7">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8341686"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06. ANÁLISIS · DIMENSIÓN 4</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13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4 · LEGITIMIDAD MORAL DEL HÉROE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Identity Crisis: la Liga bajo sospecha</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MELTZER Y MORALES · DC · 2005</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Policial superheroico: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la Liga lobotomiza a un villano</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Encubrimiento: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borran la memoria de un compañero</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Morrison: </a:t>
            </a:r>
            <a:pPr indent="0" marL="0">
              <a:spcAft>
                <a:spcPts val="900"/>
              </a:spcAft>
              <a:buNone/>
            </a:pPr>
            <a:r>
              <a:rPr lang="en-US" sz="1900" dirty="0">
                <a:solidFill>
                  <a:srgbClr val="FFFFFF"/>
                </a:solidFill>
                <a:latin typeface="Arial" pitchFamily="34" charset="0"/>
                <a:ea typeface="Arial" pitchFamily="34" charset="-122"/>
                <a:cs typeface="Arial" pitchFamily="34" charset="-120"/>
              </a:rPr>
              <a:t>fin de la Edad de Plata</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Contexto: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DC contrata escritores «glamorosos»</a:t>
            </a:r>
            <a:endParaRPr lang="en-US" sz="1900" dirty="0"/>
          </a:p>
        </p:txBody>
      </p:sp>
      <p:sp>
        <p:nvSpPr>
          <p:cNvPr id="17" name="Shape 13"/>
          <p:cNvSpPr/>
          <p:nvPr/>
        </p:nvSpPr>
        <p:spPr>
          <a:xfrm>
            <a:off x="7950737" y="768096"/>
            <a:ext cx="3468262" cy="5321808"/>
          </a:xfrm>
          <a:prstGeom prst="rect">
            <a:avLst/>
          </a:prstGeom>
          <a:solidFill>
            <a:srgbClr val="FFFFFF"/>
          </a:solidFill>
          <a:ln w="38100">
            <a:solidFill>
              <a:srgbClr val="FFD400"/>
            </a:solidFill>
            <a:prstDash val="solid"/>
          </a:ln>
        </p:spPr>
      </p:sp>
      <p:pic>
        <p:nvPicPr>
          <p:cNvPr id="18" name="Portada de Identity Crisis 7" descr="Portada de Identity Crisis 7">    </p:cNvPr>
          <p:cNvPicPr>
            <a:picLocks noChangeAspect="1"/>
          </p:cNvPicPr>
          <p:nvPr/>
        </p:nvPicPr>
        <p:blipFill>
          <a:blip r:embed="rId3"/>
          <a:stretch>
            <a:fillRect/>
          </a:stretch>
        </p:blipFill>
        <p:spPr>
          <a:xfrm>
            <a:off x="8005601" y="822960"/>
            <a:ext cx="3358534"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Identity Crisis #7 (DC, 2005)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Fondo Portada de Infinite Crisis 1" descr="Portada de Infinite Crisis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8983354"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06. ANÁLISIS · DIMENSIÓN 4</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14 / 19</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4 · METACRÍTICA DEL GÉNERO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Infinite Crisis: el sueño americano roto</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JOHNS ET AL. · DC · 2006</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20° aniversario </a:t>
            </a:r>
            <a:pPr indent="0" marL="0">
              <a:spcAft>
                <a:spcPts val="900"/>
              </a:spcAft>
              <a:buNone/>
            </a:pPr>
            <a:r>
              <a:rPr lang="en-US" sz="1900" dirty="0">
                <a:solidFill>
                  <a:srgbClr val="FFFFFF"/>
                </a:solidFill>
                <a:latin typeface="Arial" pitchFamily="34" charset="0"/>
                <a:ea typeface="Arial" pitchFamily="34" charset="-122"/>
                <a:cs typeface="Arial" pitchFamily="34" charset="-120"/>
              </a:rPr>
              <a:t>de Crisis on Infinite Earths</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Reemplazar </a:t>
            </a:r>
            <a:pPr indent="0" marL="0">
              <a:spcAft>
                <a:spcPts val="900"/>
              </a:spcAft>
              <a:buNone/>
            </a:pPr>
            <a:r>
              <a:rPr lang="en-US" sz="1900" dirty="0">
                <a:solidFill>
                  <a:srgbClr val="FFFFFF"/>
                </a:solidFill>
                <a:latin typeface="Arial" pitchFamily="34" charset="0"/>
                <a:ea typeface="Arial" pitchFamily="34" charset="-122"/>
                <a:cs typeface="Arial" pitchFamily="34" charset="-120"/>
              </a:rPr>
              <a:t>el universo actual por el de los '40</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Lema: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«we've given them a gift they've thrown away»</a:t>
            </a:r>
            <a:endParaRPr lang="en-US" sz="1900" dirty="0"/>
          </a:p>
          <a:p>
            <a:pPr marL="203200" indent="-203200">
              <a:spcAft>
                <a:spcPts val="900"/>
              </a:spcAft>
              <a:buSzPct val="100000"/>
              <a:buChar char="•"/>
            </a:pPr>
            <a:r>
              <a:rPr lang="en-US" sz="1900" b="1" dirty="0">
                <a:solidFill>
                  <a:srgbClr val="FFFFFF"/>
                </a:solidFill>
                <a:latin typeface="Arial" pitchFamily="34" charset="0"/>
                <a:ea typeface="Arial" pitchFamily="34" charset="-122"/>
                <a:cs typeface="Arial" pitchFamily="34" charset="-120"/>
              </a:rPr>
              <a:t>Doble lectura: </a:t>
            </a:r>
            <a:pPr indent="0" marL="0">
              <a:spcAft>
                <a:spcPts val="900"/>
              </a:spcAft>
              <a:buNone/>
            </a:pPr>
            <a:r>
              <a:rPr lang="en-US" sz="1900" dirty="0">
                <a:solidFill>
                  <a:srgbClr val="FFFFFF"/>
                </a:solidFill>
                <a:latin typeface="Arial" pitchFamily="34" charset="0"/>
                <a:ea typeface="Arial" pitchFamily="34" charset="-122"/>
                <a:cs typeface="Arial" pitchFamily="34" charset="-120"/>
              </a:rPr>
              <a:t>metacrítica y ruptura del sueño americano</a:t>
            </a:r>
            <a:endParaRPr lang="en-US" sz="1900" dirty="0"/>
          </a:p>
        </p:txBody>
      </p:sp>
      <p:sp>
        <p:nvSpPr>
          <p:cNvPr id="17" name="Shape 13"/>
          <p:cNvSpPr/>
          <p:nvPr/>
        </p:nvSpPr>
        <p:spPr>
          <a:xfrm>
            <a:off x="7956910" y="768096"/>
            <a:ext cx="3455916" cy="5321808"/>
          </a:xfrm>
          <a:prstGeom prst="rect">
            <a:avLst/>
          </a:prstGeom>
          <a:solidFill>
            <a:srgbClr val="FFFFFF"/>
          </a:solidFill>
          <a:ln w="38100">
            <a:solidFill>
              <a:srgbClr val="FFD400"/>
            </a:solidFill>
            <a:prstDash val="solid"/>
          </a:ln>
        </p:spPr>
      </p:sp>
      <p:pic>
        <p:nvPicPr>
          <p:cNvPr id="18" name="Portada de Infinite Crisis 1" descr="Portada de Infinite Crisis 1">    </p:cNvPr>
          <p:cNvPicPr>
            <a:picLocks noChangeAspect="1"/>
          </p:cNvPicPr>
          <p:nvPr/>
        </p:nvPicPr>
        <p:blipFill>
          <a:blip r:embed="rId3"/>
          <a:stretch>
            <a:fillRect/>
          </a:stretch>
        </p:blipFill>
        <p:spPr>
          <a:xfrm>
            <a:off x="8011774" y="822960"/>
            <a:ext cx="3346188"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Infinite Crisis #1 (DC, 2005)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9625023"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06. ¿POR QUÉ SE PERDIÓ EL ESPÍRITU DE ÉPOCA?</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15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Un género sin espíritu de época</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WRIGHT · FUKUYAMA · FISHER ]</a:t>
            </a:r>
            <a:endParaRPr lang="en-US" sz="900" dirty="0"/>
          </a:p>
        </p:txBody>
      </p:sp>
      <p:sp>
        <p:nvSpPr>
          <p:cNvPr id="13" name="Shape 10"/>
          <p:cNvSpPr/>
          <p:nvPr/>
        </p:nvSpPr>
        <p:spPr>
          <a:xfrm>
            <a:off x="530352" y="1673352"/>
            <a:ext cx="3605784" cy="3246120"/>
          </a:xfrm>
          <a:prstGeom prst="rect">
            <a:avLst/>
          </a:prstGeom>
          <a:solidFill>
            <a:srgbClr val="111111"/>
          </a:solidFill>
          <a:ln w="12700">
            <a:solidFill>
              <a:srgbClr val="111111"/>
            </a:solidFill>
            <a:prstDash val="solid"/>
          </a:ln>
        </p:spPr>
      </p:sp>
      <p:sp>
        <p:nvSpPr>
          <p:cNvPr id="14" name="Shape 11"/>
          <p:cNvSpPr/>
          <p:nvPr/>
        </p:nvSpPr>
        <p:spPr>
          <a:xfrm>
            <a:off x="457200" y="1600200"/>
            <a:ext cx="3605784" cy="3246120"/>
          </a:xfrm>
          <a:prstGeom prst="rect">
            <a:avLst/>
          </a:prstGeom>
          <a:solidFill>
            <a:srgbClr val="FFFFFF"/>
          </a:solidFill>
          <a:ln w="31750">
            <a:solidFill>
              <a:srgbClr val="111111"/>
            </a:solidFill>
            <a:prstDash val="solid"/>
          </a:ln>
        </p:spPr>
      </p:sp>
      <p:sp>
        <p:nvSpPr>
          <p:cNvPr id="15" name="Text 12"/>
          <p:cNvSpPr txBox="1"/>
          <p:nvPr/>
        </p:nvSpPr>
        <p:spPr>
          <a:xfrm>
            <a:off x="640080"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WRIGHT (2001)</a:t>
            </a:r>
            <a:endParaRPr lang="en-US" sz="1000" dirty="0"/>
          </a:p>
        </p:txBody>
      </p:sp>
      <p:sp>
        <p:nvSpPr>
          <p:cNvPr id="16" name="Text 13"/>
          <p:cNvSpPr txBox="1"/>
          <p:nvPr/>
        </p:nvSpPr>
        <p:spPr>
          <a:xfrm>
            <a:off x="640080"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Competencia de otros medios</a:t>
            </a:r>
            <a:endParaRPr lang="en-US" sz="2200" dirty="0"/>
          </a:p>
        </p:txBody>
      </p:sp>
      <p:sp>
        <p:nvSpPr>
          <p:cNvPr id="17" name="Text 14"/>
          <p:cNvSpPr txBox="1"/>
          <p:nvPr/>
        </p:nvSpPr>
        <p:spPr>
          <a:xfrm>
            <a:off x="640080"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Videojuegos y entretenimiento le quitan terreno al cómic.</a:t>
            </a:r>
            <a:endParaRPr lang="en-US" sz="1600" dirty="0"/>
          </a:p>
        </p:txBody>
      </p:sp>
      <p:sp>
        <p:nvSpPr>
          <p:cNvPr id="18" name="Shape 15"/>
          <p:cNvSpPr/>
          <p:nvPr/>
        </p:nvSpPr>
        <p:spPr>
          <a:xfrm>
            <a:off x="4364736" y="1673352"/>
            <a:ext cx="3605784" cy="3246120"/>
          </a:xfrm>
          <a:prstGeom prst="rect">
            <a:avLst/>
          </a:prstGeom>
          <a:solidFill>
            <a:srgbClr val="111111"/>
          </a:solidFill>
          <a:ln w="12700">
            <a:solidFill>
              <a:srgbClr val="111111"/>
            </a:solidFill>
            <a:prstDash val="solid"/>
          </a:ln>
        </p:spPr>
      </p:sp>
      <p:sp>
        <p:nvSpPr>
          <p:cNvPr id="19" name="Shape 16"/>
          <p:cNvSpPr/>
          <p:nvPr/>
        </p:nvSpPr>
        <p:spPr>
          <a:xfrm>
            <a:off x="4291584" y="1600200"/>
            <a:ext cx="3605784" cy="3246120"/>
          </a:xfrm>
          <a:prstGeom prst="rect">
            <a:avLst/>
          </a:prstGeom>
          <a:solidFill>
            <a:srgbClr val="FFF1A8"/>
          </a:solidFill>
          <a:ln w="31750">
            <a:solidFill>
              <a:srgbClr val="111111"/>
            </a:solidFill>
            <a:prstDash val="solid"/>
          </a:ln>
        </p:spPr>
      </p:sp>
      <p:sp>
        <p:nvSpPr>
          <p:cNvPr id="20" name="Text 17"/>
          <p:cNvSpPr txBox="1"/>
          <p:nvPr/>
        </p:nvSpPr>
        <p:spPr>
          <a:xfrm>
            <a:off x="4474464"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FUKUYAMA (2021)</a:t>
            </a:r>
            <a:endParaRPr lang="en-US" sz="1000" dirty="0"/>
          </a:p>
        </p:txBody>
      </p:sp>
      <p:sp>
        <p:nvSpPr>
          <p:cNvPr id="21" name="Text 18"/>
          <p:cNvSpPr txBox="1"/>
          <p:nvPr/>
        </p:nvSpPr>
        <p:spPr>
          <a:xfrm>
            <a:off x="4474464"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«El fin de la historia»</a:t>
            </a:r>
            <a:endParaRPr lang="en-US" sz="2200" dirty="0"/>
          </a:p>
        </p:txBody>
      </p:sp>
      <p:sp>
        <p:nvSpPr>
          <p:cNvPr id="22" name="Text 19"/>
          <p:cNvSpPr txBox="1"/>
          <p:nvPr/>
        </p:nvSpPr>
        <p:spPr>
          <a:xfrm>
            <a:off x="4474464"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Una década que se piensa sin alternativas.</a:t>
            </a:r>
            <a:endParaRPr lang="en-US" sz="1600" dirty="0"/>
          </a:p>
        </p:txBody>
      </p:sp>
      <p:sp>
        <p:nvSpPr>
          <p:cNvPr id="23" name="Shape 20"/>
          <p:cNvSpPr/>
          <p:nvPr/>
        </p:nvSpPr>
        <p:spPr>
          <a:xfrm>
            <a:off x="8199120" y="1673352"/>
            <a:ext cx="3605784" cy="3246120"/>
          </a:xfrm>
          <a:prstGeom prst="rect">
            <a:avLst/>
          </a:prstGeom>
          <a:solidFill>
            <a:srgbClr val="111111"/>
          </a:solidFill>
          <a:ln w="12700">
            <a:solidFill>
              <a:srgbClr val="111111"/>
            </a:solidFill>
            <a:prstDash val="solid"/>
          </a:ln>
        </p:spPr>
      </p:sp>
      <p:sp>
        <p:nvSpPr>
          <p:cNvPr id="24" name="Shape 21"/>
          <p:cNvSpPr/>
          <p:nvPr/>
        </p:nvSpPr>
        <p:spPr>
          <a:xfrm>
            <a:off x="8125968" y="1600200"/>
            <a:ext cx="3605784" cy="3246120"/>
          </a:xfrm>
          <a:prstGeom prst="rect">
            <a:avLst/>
          </a:prstGeom>
          <a:solidFill>
            <a:srgbClr val="FFFFFF"/>
          </a:solidFill>
          <a:ln w="31750">
            <a:solidFill>
              <a:srgbClr val="111111"/>
            </a:solidFill>
            <a:prstDash val="solid"/>
          </a:ln>
        </p:spPr>
      </p:sp>
      <p:sp>
        <p:nvSpPr>
          <p:cNvPr id="25" name="Text 22"/>
          <p:cNvSpPr txBox="1"/>
          <p:nvPr/>
        </p:nvSpPr>
        <p:spPr>
          <a:xfrm>
            <a:off x="8308848" y="1783080"/>
            <a:ext cx="219456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FISHER (2016)</a:t>
            </a:r>
            <a:endParaRPr lang="en-US" sz="1000" dirty="0"/>
          </a:p>
        </p:txBody>
      </p:sp>
      <p:sp>
        <p:nvSpPr>
          <p:cNvPr id="26" name="Text 23"/>
          <p:cNvSpPr txBox="1"/>
          <p:nvPr/>
        </p:nvSpPr>
        <p:spPr>
          <a:xfrm>
            <a:off x="8308848" y="2194560"/>
            <a:ext cx="3240024" cy="109728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«La lenta cancelación del futuro»</a:t>
            </a:r>
            <a:endParaRPr lang="en-US" sz="2200" dirty="0"/>
          </a:p>
        </p:txBody>
      </p:sp>
      <p:sp>
        <p:nvSpPr>
          <p:cNvPr id="27" name="Text 24"/>
          <p:cNvSpPr txBox="1"/>
          <p:nvPr/>
        </p:nvSpPr>
        <p:spPr>
          <a:xfrm>
            <a:off x="8308848" y="3429000"/>
            <a:ext cx="3240024"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El género no pudo imaginar otro futuro.</a:t>
            </a:r>
            <a:endParaRPr lang="en-US" sz="1600" dirty="0"/>
          </a:p>
        </p:txBody>
      </p:sp>
      <p:sp>
        <p:nvSpPr>
          <p:cNvPr id="28" name="Shape 25"/>
          <p:cNvSpPr/>
          <p:nvPr/>
        </p:nvSpPr>
        <p:spPr>
          <a:xfrm>
            <a:off x="530352" y="5193792"/>
            <a:ext cx="11274552" cy="1097280"/>
          </a:xfrm>
          <a:prstGeom prst="rect">
            <a:avLst/>
          </a:prstGeom>
          <a:solidFill>
            <a:srgbClr val="111111"/>
          </a:solidFill>
          <a:ln w="12700">
            <a:solidFill>
              <a:srgbClr val="111111"/>
            </a:solidFill>
            <a:prstDash val="solid"/>
          </a:ln>
        </p:spPr>
      </p:sp>
      <p:sp>
        <p:nvSpPr>
          <p:cNvPr id="29" name="Shape 26"/>
          <p:cNvSpPr/>
          <p:nvPr/>
        </p:nvSpPr>
        <p:spPr>
          <a:xfrm>
            <a:off x="457200" y="5120640"/>
            <a:ext cx="11274552" cy="1097280"/>
          </a:xfrm>
          <a:prstGeom prst="rect">
            <a:avLst/>
          </a:prstGeom>
          <a:solidFill>
            <a:srgbClr val="111111"/>
          </a:solidFill>
          <a:ln w="31750">
            <a:solidFill>
              <a:srgbClr val="111111"/>
            </a:solidFill>
            <a:prstDash val="solid"/>
          </a:ln>
        </p:spPr>
      </p:sp>
      <p:sp>
        <p:nvSpPr>
          <p:cNvPr id="30" name="Text 27"/>
          <p:cNvSpPr txBox="1"/>
          <p:nvPr/>
        </p:nvSpPr>
        <p:spPr>
          <a:xfrm>
            <a:off x="685800" y="5166360"/>
            <a:ext cx="10835640" cy="1005840"/>
          </a:xfrm>
          <a:prstGeom prst="rect">
            <a:avLst/>
          </a:prstGeom>
          <a:noFill/>
          <a:ln/>
        </p:spPr>
        <p:txBody>
          <a:bodyPr wrap="square" lIns="0" tIns="0" rIns="0" bIns="0" rtlCol="0" anchor="ctr"/>
          <a:lstStyle/>
          <a:p>
            <a:pPr indent="0" marL="0">
              <a:buNone/>
            </a:pPr>
            <a:r>
              <a:rPr lang="en-US" sz="1700" b="1" dirty="0">
                <a:solidFill>
                  <a:srgbClr val="FFD400"/>
                </a:solidFill>
                <a:latin typeface="Arial" pitchFamily="34" charset="0"/>
                <a:ea typeface="Arial" pitchFamily="34" charset="-122"/>
                <a:cs typeface="Arial" pitchFamily="34" charset="-120"/>
              </a:rPr>
              <a:t>Resultado: </a:t>
            </a:r>
            <a:pPr indent="0" marL="0">
              <a:buNone/>
            </a:pPr>
            <a:r>
              <a:rPr lang="en-US" sz="1700" dirty="0">
                <a:solidFill>
                  <a:srgbClr val="FFFFFF"/>
                </a:solidFill>
                <a:latin typeface="Arial" pitchFamily="34" charset="0"/>
                <a:ea typeface="Arial" pitchFamily="34" charset="-122"/>
                <a:cs typeface="Arial" pitchFamily="34" charset="-120"/>
              </a:rPr>
              <a:t>grim &amp; gritty + militarización = el superhéroe como parodia de sí mismo (Wanted, Millar).  </a:t>
            </a:r>
            <a:pPr indent="0" marL="0">
              <a:buNone/>
            </a:pPr>
            <a:r>
              <a:rPr lang="en-US" sz="1700" b="1" dirty="0">
                <a:solidFill>
                  <a:srgbClr val="FFD400"/>
                </a:solidFill>
                <a:latin typeface="Arial" pitchFamily="34" charset="0"/>
                <a:ea typeface="Arial" pitchFamily="34" charset="-122"/>
                <a:cs typeface="Arial" pitchFamily="34" charset="-120"/>
              </a:rPr>
              <a:t>Y sin embargo, </a:t>
            </a:r>
            <a:pPr indent="0" marL="0">
              <a:buNone/>
            </a:pPr>
            <a:r>
              <a:rPr lang="en-US" sz="1700" dirty="0">
                <a:solidFill>
                  <a:srgbClr val="FFFFFF"/>
                </a:solidFill>
                <a:latin typeface="Arial" pitchFamily="34" charset="0"/>
                <a:ea typeface="Arial" pitchFamily="34" charset="-122"/>
                <a:cs typeface="Arial" pitchFamily="34" charset="-120"/>
              </a:rPr>
              <a:t>ahí va a estar Superman.</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0266691"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07. DISCUSIÓN</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16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Dos respuestas a una misma crisis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DIMENSIONES × OBRAS ]</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852160" cy="914400"/>
        </p:xfrm>
        <a:graphic>
          <a:graphicData uri="http://schemas.openxmlformats.org/drawingml/2006/table">
            <a:tbl>
              <a:tblPr/>
              <a:tblGrid>
                <a:gridCol w="2377440"/>
                <a:gridCol w="868680"/>
                <a:gridCol w="868680"/>
                <a:gridCol w="868680"/>
                <a:gridCol w="868680"/>
              </a:tblGrid>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Obra</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D1</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D2</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D3</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Authority</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Ultimates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Civil War</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Secret Invasion</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Action Comics #775</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Identity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Infinite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57200" y="5029200"/>
            <a:ext cx="5852160" cy="457200"/>
          </a:xfrm>
          <a:prstGeom prst="rect">
            <a:avLst/>
          </a:prstGeom>
          <a:noFill/>
          <a:ln/>
        </p:spPr>
        <p:txBody>
          <a:bodyPr wrap="square" lIns="0" tIns="0" rIns="0" bIns="0" rtlCol="0" anchor="t"/>
          <a:lstStyle/>
          <a:p>
            <a:pPr indent="0" marL="0">
              <a:buNone/>
            </a:pPr>
            <a:r>
              <a:rPr lang="en-US" sz="1100" b="1" dirty="0">
                <a:solidFill>
                  <a:srgbClr val="444444"/>
                </a:solidFill>
                <a:latin typeface="Arial" pitchFamily="34" charset="0"/>
                <a:ea typeface="Arial" pitchFamily="34" charset="-122"/>
                <a:cs typeface="Arial" pitchFamily="34" charset="-120"/>
              </a:rPr>
              <a:t>D1 militarización · D2 excepcionalismo · D3 seguridad vs. libertades · D4 legitimidad moral</a:t>
            </a:r>
            <a:endParaRPr lang="en-US" sz="1100" dirty="0"/>
          </a:p>
        </p:txBody>
      </p:sp>
      <p:sp>
        <p:nvSpPr>
          <p:cNvPr id="15" name="Text 11"/>
          <p:cNvSpPr txBox="1"/>
          <p:nvPr/>
        </p:nvSpPr>
        <p:spPr>
          <a:xfrm>
            <a:off x="457200" y="5623560"/>
            <a:ext cx="5852160" cy="457200"/>
          </a:xfrm>
          <a:prstGeom prst="rect">
            <a:avLst/>
          </a:prstGeom>
          <a:noFill/>
          <a:ln/>
        </p:spPr>
        <p:txBody>
          <a:bodyPr wrap="square" lIns="0" tIns="0" rIns="0" bIns="0" rtlCol="0" anchor="t"/>
          <a:lstStyle/>
          <a:p>
            <a:pPr indent="0" marL="0">
              <a:buNone/>
            </a:pPr>
            <a:r>
              <a:rPr lang="en-US" sz="1500" b="1" dirty="0">
                <a:solidFill>
                  <a:srgbClr val="E5262B"/>
                </a:solidFill>
                <a:latin typeface="Arial" pitchFamily="34" charset="0"/>
                <a:ea typeface="Arial" pitchFamily="34" charset="-122"/>
                <a:cs typeface="Arial" pitchFamily="34" charset="-120"/>
              </a:rPr>
              <a:t>PRECURSOR: </a:t>
            </a:r>
            <a:pPr indent="0" marL="0">
              <a:buNone/>
            </a:pPr>
            <a:r>
              <a:rPr lang="en-US" sz="1500" b="1" dirty="0">
                <a:solidFill>
                  <a:srgbClr val="111111"/>
                </a:solidFill>
                <a:latin typeface="Arial" pitchFamily="34" charset="0"/>
                <a:ea typeface="Arial" pitchFamily="34" charset="-122"/>
                <a:cs typeface="Arial" pitchFamily="34" charset="-120"/>
              </a:rPr>
              <a:t>The Authority (1999)</a:t>
            </a:r>
            <a:endParaRPr lang="en-US" sz="1500" dirty="0"/>
          </a:p>
        </p:txBody>
      </p:sp>
      <p:sp>
        <p:nvSpPr>
          <p:cNvPr id="16" name="Shape 12"/>
          <p:cNvSpPr/>
          <p:nvPr/>
        </p:nvSpPr>
        <p:spPr>
          <a:xfrm>
            <a:off x="6656832" y="1673352"/>
            <a:ext cx="5148072" cy="2240280"/>
          </a:xfrm>
          <a:prstGeom prst="rect">
            <a:avLst/>
          </a:prstGeom>
          <a:solidFill>
            <a:srgbClr val="111111"/>
          </a:solidFill>
          <a:ln w="12700">
            <a:solidFill>
              <a:srgbClr val="111111"/>
            </a:solidFill>
            <a:prstDash val="solid"/>
          </a:ln>
        </p:spPr>
      </p:sp>
      <p:sp>
        <p:nvSpPr>
          <p:cNvPr id="17" name="Shape 13"/>
          <p:cNvSpPr/>
          <p:nvPr/>
        </p:nvSpPr>
        <p:spPr>
          <a:xfrm>
            <a:off x="6583680" y="1600200"/>
            <a:ext cx="5148072" cy="2240280"/>
          </a:xfrm>
          <a:prstGeom prst="rect">
            <a:avLst/>
          </a:prstGeom>
          <a:solidFill>
            <a:srgbClr val="FFFFFF"/>
          </a:solidFill>
          <a:ln w="31750">
            <a:solidFill>
              <a:srgbClr val="111111"/>
            </a:solidFill>
            <a:prstDash val="solid"/>
          </a:ln>
        </p:spPr>
      </p:sp>
      <p:sp>
        <p:nvSpPr>
          <p:cNvPr id="18" name="Text 14"/>
          <p:cNvSpPr txBox="1"/>
          <p:nvPr/>
        </p:nvSpPr>
        <p:spPr>
          <a:xfrm>
            <a:off x="6766560" y="1764792"/>
            <a:ext cx="237744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MARVEL · MILITARIZACIÓN</a:t>
            </a:r>
            <a:endParaRPr lang="en-US" sz="1000" dirty="0"/>
          </a:p>
        </p:txBody>
      </p:sp>
      <p:sp>
        <p:nvSpPr>
          <p:cNvPr id="19" name="Text 15"/>
          <p:cNvSpPr txBox="1"/>
          <p:nvPr/>
        </p:nvSpPr>
        <p:spPr>
          <a:xfrm>
            <a:off x="6766560" y="2240280"/>
            <a:ext cx="4800600" cy="146304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Héroe al servicio del Estado → cine → Iron Man → MCU</a:t>
            </a:r>
            <a:endParaRPr lang="en-US" sz="2200" dirty="0"/>
          </a:p>
        </p:txBody>
      </p:sp>
      <p:sp>
        <p:nvSpPr>
          <p:cNvPr id="20" name="Shape 16"/>
          <p:cNvSpPr/>
          <p:nvPr/>
        </p:nvSpPr>
        <p:spPr>
          <a:xfrm>
            <a:off x="6656832" y="4096512"/>
            <a:ext cx="5148072" cy="2194560"/>
          </a:xfrm>
          <a:prstGeom prst="rect">
            <a:avLst/>
          </a:prstGeom>
          <a:solidFill>
            <a:srgbClr val="111111"/>
          </a:solidFill>
          <a:ln w="12700">
            <a:solidFill>
              <a:srgbClr val="111111"/>
            </a:solidFill>
            <a:prstDash val="solid"/>
          </a:ln>
        </p:spPr>
      </p:sp>
      <p:sp>
        <p:nvSpPr>
          <p:cNvPr id="21" name="Shape 17"/>
          <p:cNvSpPr/>
          <p:nvPr/>
        </p:nvSpPr>
        <p:spPr>
          <a:xfrm>
            <a:off x="6583680" y="4023360"/>
            <a:ext cx="5148072" cy="2194560"/>
          </a:xfrm>
          <a:prstGeom prst="rect">
            <a:avLst/>
          </a:prstGeom>
          <a:solidFill>
            <a:srgbClr val="FFF1A8"/>
          </a:solidFill>
          <a:ln w="31750">
            <a:solidFill>
              <a:srgbClr val="111111"/>
            </a:solidFill>
            <a:prstDash val="solid"/>
          </a:ln>
        </p:spPr>
      </p:sp>
      <p:sp>
        <p:nvSpPr>
          <p:cNvPr id="22" name="Text 18"/>
          <p:cNvSpPr txBox="1"/>
          <p:nvPr/>
        </p:nvSpPr>
        <p:spPr>
          <a:xfrm>
            <a:off x="6766560" y="4187952"/>
            <a:ext cx="182880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DC · METACRÍTICA</a:t>
            </a:r>
            <a:endParaRPr lang="en-US" sz="1000" dirty="0"/>
          </a:p>
        </p:txBody>
      </p:sp>
      <p:sp>
        <p:nvSpPr>
          <p:cNvPr id="23" name="Text 19"/>
          <p:cNvSpPr txBox="1"/>
          <p:nvPr/>
        </p:nvSpPr>
        <p:spPr>
          <a:xfrm>
            <a:off x="6766560" y="4663440"/>
            <a:ext cx="4800600" cy="1463040"/>
          </a:xfrm>
          <a:prstGeom prst="rect">
            <a:avLst/>
          </a:prstGeom>
          <a:noFill/>
          <a:ln/>
        </p:spPr>
        <p:txBody>
          <a:bodyPr wrap="square" lIns="0" tIns="0" rIns="0" bIns="0" rtlCol="0" anchor="t"/>
          <a:lstStyle/>
          <a:p>
            <a:pPr indent="0" marL="0">
              <a:buNone/>
            </a:pPr>
            <a:r>
              <a:rPr lang="en-US" sz="2200" dirty="0">
                <a:solidFill>
                  <a:srgbClr val="111111"/>
                </a:solidFill>
                <a:latin typeface="Impact" pitchFamily="34" charset="0"/>
                <a:ea typeface="Impact" pitchFamily="34" charset="-122"/>
                <a:cs typeface="Impact" pitchFamily="34" charset="-120"/>
              </a:rPr>
              <a:t>Repensar al héroe → su caída = ruptura del sueño americano</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0908359"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08. REBOOTS Y ACTUALIDAD</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17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Reboots y actualidad del superhéroe</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[ 2009 → 2024 ]</a:t>
            </a:r>
            <a:endParaRPr lang="en-US" sz="900" dirty="0"/>
          </a:p>
        </p:txBody>
      </p:sp>
      <p:sp>
        <p:nvSpPr>
          <p:cNvPr id="13" name="Shape 10"/>
          <p:cNvSpPr/>
          <p:nvPr/>
        </p:nvSpPr>
        <p:spPr>
          <a:xfrm>
            <a:off x="530352" y="1673352"/>
            <a:ext cx="2606040" cy="2103120"/>
          </a:xfrm>
          <a:prstGeom prst="rect">
            <a:avLst/>
          </a:prstGeom>
          <a:solidFill>
            <a:srgbClr val="111111"/>
          </a:solidFill>
          <a:ln w="12700">
            <a:solidFill>
              <a:srgbClr val="111111"/>
            </a:solidFill>
            <a:prstDash val="solid"/>
          </a:ln>
        </p:spPr>
      </p:sp>
      <p:sp>
        <p:nvSpPr>
          <p:cNvPr id="14" name="Shape 11"/>
          <p:cNvSpPr/>
          <p:nvPr/>
        </p:nvSpPr>
        <p:spPr>
          <a:xfrm>
            <a:off x="457200" y="1600200"/>
            <a:ext cx="2606040" cy="2103120"/>
          </a:xfrm>
          <a:prstGeom prst="rect">
            <a:avLst/>
          </a:prstGeom>
          <a:solidFill>
            <a:srgbClr val="FFFFFF"/>
          </a:solidFill>
          <a:ln w="31750">
            <a:solidFill>
              <a:srgbClr val="111111"/>
            </a:solidFill>
            <a:prstDash val="solid"/>
          </a:ln>
        </p:spPr>
      </p:sp>
      <p:sp>
        <p:nvSpPr>
          <p:cNvPr id="15" name="Text 12"/>
          <p:cNvSpPr txBox="1"/>
          <p:nvPr/>
        </p:nvSpPr>
        <p:spPr>
          <a:xfrm>
            <a:off x="640080" y="1737360"/>
            <a:ext cx="224028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2009</a:t>
            </a:r>
            <a:endParaRPr lang="en-US" sz="2800" dirty="0"/>
          </a:p>
        </p:txBody>
      </p:sp>
      <p:sp>
        <p:nvSpPr>
          <p:cNvPr id="16" name="Text 13"/>
          <p:cNvSpPr txBox="1"/>
          <p:nvPr/>
        </p:nvSpPr>
        <p:spPr>
          <a:xfrm>
            <a:off x="640080" y="2331720"/>
            <a:ext cx="2240280" cy="640080"/>
          </a:xfrm>
          <a:prstGeom prst="rect">
            <a:avLst/>
          </a:prstGeom>
          <a:noFill/>
          <a:ln/>
        </p:spPr>
        <p:txBody>
          <a:bodyPr wrap="square" lIns="0" tIns="0" rIns="0" bIns="0" rtlCol="0" anchor="t"/>
          <a:lstStyle/>
          <a:p>
            <a:pPr indent="0" marL="0">
              <a:buNone/>
            </a:pPr>
            <a:r>
              <a:rPr lang="en-US" sz="1900" dirty="0">
                <a:solidFill>
                  <a:srgbClr val="111111"/>
                </a:solidFill>
                <a:latin typeface="Impact" pitchFamily="34" charset="0"/>
                <a:ea typeface="Impact" pitchFamily="34" charset="-122"/>
                <a:cs typeface="Impact" pitchFamily="34" charset="-120"/>
              </a:rPr>
              <a:t>Disney compra Marvel</a:t>
            </a:r>
            <a:endParaRPr lang="en-US" sz="1900" dirty="0"/>
          </a:p>
        </p:txBody>
      </p:sp>
      <p:sp>
        <p:nvSpPr>
          <p:cNvPr id="17" name="Text 14"/>
          <p:cNvSpPr txBox="1"/>
          <p:nvPr/>
        </p:nvSpPr>
        <p:spPr>
          <a:xfrm>
            <a:off x="640080" y="3108960"/>
            <a:ext cx="2240280" cy="457200"/>
          </a:xfrm>
          <a:prstGeom prst="rect">
            <a:avLst/>
          </a:prstGeom>
          <a:noFill/>
          <a:ln/>
        </p:spPr>
        <p:txBody>
          <a:bodyPr wrap="square" lIns="0" tIns="0" rIns="0" bIns="0" rtlCol="0" anchor="t"/>
          <a:lstStyle/>
          <a:p>
            <a:pPr indent="0" marL="0">
              <a:buNone/>
            </a:pPr>
            <a:r>
              <a:rPr lang="en-US" sz="1400" b="1" dirty="0">
                <a:solidFill>
                  <a:srgbClr val="444444"/>
                </a:solidFill>
                <a:latin typeface="Arial" pitchFamily="34" charset="0"/>
                <a:ea typeface="Arial" pitchFamily="34" charset="-122"/>
                <a:cs typeface="Arial" pitchFamily="34" charset="-120"/>
              </a:rPr>
              <a:t>Más sinergia con el cine</a:t>
            </a:r>
            <a:endParaRPr lang="en-US" sz="1400" dirty="0"/>
          </a:p>
        </p:txBody>
      </p:sp>
      <p:sp>
        <p:nvSpPr>
          <p:cNvPr id="18" name="Shape 15"/>
          <p:cNvSpPr/>
          <p:nvPr/>
        </p:nvSpPr>
        <p:spPr>
          <a:xfrm>
            <a:off x="3090672" y="2468880"/>
            <a:ext cx="201168" cy="365760"/>
          </a:xfrm>
          <a:prstGeom prst="rightArrow">
            <a:avLst/>
          </a:prstGeom>
          <a:solidFill>
            <a:srgbClr val="E5262B"/>
          </a:solidFill>
          <a:ln w="19050">
            <a:solidFill>
              <a:srgbClr val="111111"/>
            </a:solidFill>
            <a:prstDash val="solid"/>
          </a:ln>
        </p:spPr>
      </p:sp>
      <p:sp>
        <p:nvSpPr>
          <p:cNvPr id="19" name="Shape 16"/>
          <p:cNvSpPr/>
          <p:nvPr/>
        </p:nvSpPr>
        <p:spPr>
          <a:xfrm>
            <a:off x="3364992" y="1673352"/>
            <a:ext cx="2606040" cy="2103120"/>
          </a:xfrm>
          <a:prstGeom prst="rect">
            <a:avLst/>
          </a:prstGeom>
          <a:solidFill>
            <a:srgbClr val="111111"/>
          </a:solidFill>
          <a:ln w="12700">
            <a:solidFill>
              <a:srgbClr val="111111"/>
            </a:solidFill>
            <a:prstDash val="solid"/>
          </a:ln>
        </p:spPr>
      </p:sp>
      <p:sp>
        <p:nvSpPr>
          <p:cNvPr id="20" name="Shape 17"/>
          <p:cNvSpPr/>
          <p:nvPr/>
        </p:nvSpPr>
        <p:spPr>
          <a:xfrm>
            <a:off x="3291840" y="1600200"/>
            <a:ext cx="2606040" cy="2103120"/>
          </a:xfrm>
          <a:prstGeom prst="rect">
            <a:avLst/>
          </a:prstGeom>
          <a:solidFill>
            <a:srgbClr val="FFFFFF"/>
          </a:solidFill>
          <a:ln w="31750">
            <a:solidFill>
              <a:srgbClr val="111111"/>
            </a:solidFill>
            <a:prstDash val="solid"/>
          </a:ln>
        </p:spPr>
      </p:sp>
      <p:sp>
        <p:nvSpPr>
          <p:cNvPr id="21" name="Text 18"/>
          <p:cNvSpPr txBox="1"/>
          <p:nvPr/>
        </p:nvSpPr>
        <p:spPr>
          <a:xfrm>
            <a:off x="3474720" y="1737360"/>
            <a:ext cx="224028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2011</a:t>
            </a:r>
            <a:endParaRPr lang="en-US" sz="2800" dirty="0"/>
          </a:p>
        </p:txBody>
      </p:sp>
      <p:sp>
        <p:nvSpPr>
          <p:cNvPr id="22" name="Text 19"/>
          <p:cNvSpPr txBox="1"/>
          <p:nvPr/>
        </p:nvSpPr>
        <p:spPr>
          <a:xfrm>
            <a:off x="3474720" y="2331720"/>
            <a:ext cx="2240280" cy="640080"/>
          </a:xfrm>
          <a:prstGeom prst="rect">
            <a:avLst/>
          </a:prstGeom>
          <a:noFill/>
          <a:ln/>
        </p:spPr>
        <p:txBody>
          <a:bodyPr wrap="square" lIns="0" tIns="0" rIns="0" bIns="0" rtlCol="0" anchor="t"/>
          <a:lstStyle/>
          <a:p>
            <a:pPr indent="0" marL="0">
              <a:buNone/>
            </a:pPr>
            <a:r>
              <a:rPr lang="en-US" sz="1900" dirty="0">
                <a:solidFill>
                  <a:srgbClr val="111111"/>
                </a:solidFill>
                <a:latin typeface="Impact" pitchFamily="34" charset="0"/>
                <a:ea typeface="Impact" pitchFamily="34" charset="-122"/>
                <a:cs typeface="Impact" pitchFamily="34" charset="-120"/>
              </a:rPr>
              <a:t>DC: New 52</a:t>
            </a:r>
            <a:endParaRPr lang="en-US" sz="1900" dirty="0"/>
          </a:p>
        </p:txBody>
      </p:sp>
      <p:sp>
        <p:nvSpPr>
          <p:cNvPr id="23" name="Text 20"/>
          <p:cNvSpPr txBox="1"/>
          <p:nvPr/>
        </p:nvSpPr>
        <p:spPr>
          <a:xfrm>
            <a:off x="3474720" y="3108960"/>
            <a:ext cx="2240280" cy="457200"/>
          </a:xfrm>
          <a:prstGeom prst="rect">
            <a:avLst/>
          </a:prstGeom>
          <a:noFill/>
          <a:ln/>
        </p:spPr>
        <p:txBody>
          <a:bodyPr wrap="square" lIns="0" tIns="0" rIns="0" bIns="0" rtlCol="0" anchor="t"/>
          <a:lstStyle/>
          <a:p>
            <a:pPr indent="0" marL="0">
              <a:buNone/>
            </a:pPr>
            <a:r>
              <a:rPr lang="en-US" sz="1400" b="1" dirty="0">
                <a:solidFill>
                  <a:srgbClr val="444444"/>
                </a:solidFill>
                <a:latin typeface="Arial" pitchFamily="34" charset="0"/>
                <a:ea typeface="Arial" pitchFamily="34" charset="-122"/>
                <a:cs typeface="Arial" pitchFamily="34" charset="-120"/>
              </a:rPr>
              <a:t>Luego, Rebirth</a:t>
            </a:r>
            <a:endParaRPr lang="en-US" sz="1400" dirty="0"/>
          </a:p>
        </p:txBody>
      </p:sp>
      <p:sp>
        <p:nvSpPr>
          <p:cNvPr id="24" name="Shape 21"/>
          <p:cNvSpPr/>
          <p:nvPr/>
        </p:nvSpPr>
        <p:spPr>
          <a:xfrm>
            <a:off x="5925312" y="2468880"/>
            <a:ext cx="201168" cy="365760"/>
          </a:xfrm>
          <a:prstGeom prst="rightArrow">
            <a:avLst/>
          </a:prstGeom>
          <a:solidFill>
            <a:srgbClr val="E5262B"/>
          </a:solidFill>
          <a:ln w="19050">
            <a:solidFill>
              <a:srgbClr val="111111"/>
            </a:solidFill>
            <a:prstDash val="solid"/>
          </a:ln>
        </p:spPr>
      </p:sp>
      <p:sp>
        <p:nvSpPr>
          <p:cNvPr id="25" name="Shape 22"/>
          <p:cNvSpPr/>
          <p:nvPr/>
        </p:nvSpPr>
        <p:spPr>
          <a:xfrm>
            <a:off x="6199632" y="1673352"/>
            <a:ext cx="2606040" cy="2103120"/>
          </a:xfrm>
          <a:prstGeom prst="rect">
            <a:avLst/>
          </a:prstGeom>
          <a:solidFill>
            <a:srgbClr val="111111"/>
          </a:solidFill>
          <a:ln w="12700">
            <a:solidFill>
              <a:srgbClr val="111111"/>
            </a:solidFill>
            <a:prstDash val="solid"/>
          </a:ln>
        </p:spPr>
      </p:sp>
      <p:sp>
        <p:nvSpPr>
          <p:cNvPr id="26" name="Shape 23"/>
          <p:cNvSpPr/>
          <p:nvPr/>
        </p:nvSpPr>
        <p:spPr>
          <a:xfrm>
            <a:off x="6126480" y="1600200"/>
            <a:ext cx="2606040" cy="2103120"/>
          </a:xfrm>
          <a:prstGeom prst="rect">
            <a:avLst/>
          </a:prstGeom>
          <a:solidFill>
            <a:srgbClr val="FFFFFF"/>
          </a:solidFill>
          <a:ln w="31750">
            <a:solidFill>
              <a:srgbClr val="111111"/>
            </a:solidFill>
            <a:prstDash val="solid"/>
          </a:ln>
        </p:spPr>
      </p:sp>
      <p:sp>
        <p:nvSpPr>
          <p:cNvPr id="27" name="Text 24"/>
          <p:cNvSpPr txBox="1"/>
          <p:nvPr/>
        </p:nvSpPr>
        <p:spPr>
          <a:xfrm>
            <a:off x="6309360" y="1737360"/>
            <a:ext cx="224028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2015</a:t>
            </a:r>
            <a:endParaRPr lang="en-US" sz="2800" dirty="0"/>
          </a:p>
        </p:txBody>
      </p:sp>
      <p:sp>
        <p:nvSpPr>
          <p:cNvPr id="28" name="Text 25"/>
          <p:cNvSpPr txBox="1"/>
          <p:nvPr/>
        </p:nvSpPr>
        <p:spPr>
          <a:xfrm>
            <a:off x="6309360" y="2331720"/>
            <a:ext cx="2240280" cy="640080"/>
          </a:xfrm>
          <a:prstGeom prst="rect">
            <a:avLst/>
          </a:prstGeom>
          <a:noFill/>
          <a:ln/>
        </p:spPr>
        <p:txBody>
          <a:bodyPr wrap="square" lIns="0" tIns="0" rIns="0" bIns="0" rtlCol="0" anchor="t"/>
          <a:lstStyle/>
          <a:p>
            <a:pPr indent="0" marL="0">
              <a:buNone/>
            </a:pPr>
            <a:r>
              <a:rPr lang="en-US" sz="1900" dirty="0">
                <a:solidFill>
                  <a:srgbClr val="111111"/>
                </a:solidFill>
                <a:latin typeface="Impact" pitchFamily="34" charset="0"/>
                <a:ea typeface="Impact" pitchFamily="34" charset="-122"/>
                <a:cs typeface="Impact" pitchFamily="34" charset="-120"/>
              </a:rPr>
              <a:t>Fin de Ultimate</a:t>
            </a:r>
            <a:endParaRPr lang="en-US" sz="1900" dirty="0"/>
          </a:p>
        </p:txBody>
      </p:sp>
      <p:sp>
        <p:nvSpPr>
          <p:cNvPr id="29" name="Text 26"/>
          <p:cNvSpPr txBox="1"/>
          <p:nvPr/>
        </p:nvSpPr>
        <p:spPr>
          <a:xfrm>
            <a:off x="6309360" y="3108960"/>
            <a:ext cx="2240280" cy="457200"/>
          </a:xfrm>
          <a:prstGeom prst="rect">
            <a:avLst/>
          </a:prstGeom>
          <a:noFill/>
          <a:ln/>
        </p:spPr>
        <p:txBody>
          <a:bodyPr wrap="square" lIns="0" tIns="0" rIns="0" bIns="0" rtlCol="0" anchor="t"/>
          <a:lstStyle/>
          <a:p>
            <a:pPr indent="0" marL="0">
              <a:buNone/>
            </a:pPr>
            <a:r>
              <a:rPr lang="en-US" sz="1400" b="1" dirty="0">
                <a:solidFill>
                  <a:srgbClr val="444444"/>
                </a:solidFill>
                <a:latin typeface="Arial" pitchFamily="34" charset="0"/>
                <a:ea typeface="Arial" pitchFamily="34" charset="-122"/>
                <a:cs typeface="Arial" pitchFamily="34" charset="-120"/>
              </a:rPr>
              <a:t>Secret Wars</a:t>
            </a:r>
            <a:endParaRPr lang="en-US" sz="1400" dirty="0"/>
          </a:p>
        </p:txBody>
      </p:sp>
      <p:sp>
        <p:nvSpPr>
          <p:cNvPr id="30" name="Shape 27"/>
          <p:cNvSpPr/>
          <p:nvPr/>
        </p:nvSpPr>
        <p:spPr>
          <a:xfrm>
            <a:off x="8759952" y="2468880"/>
            <a:ext cx="201168" cy="365760"/>
          </a:xfrm>
          <a:prstGeom prst="rightArrow">
            <a:avLst/>
          </a:prstGeom>
          <a:solidFill>
            <a:srgbClr val="E5262B"/>
          </a:solidFill>
          <a:ln w="19050">
            <a:solidFill>
              <a:srgbClr val="111111"/>
            </a:solidFill>
            <a:prstDash val="solid"/>
          </a:ln>
        </p:spPr>
      </p:sp>
      <p:sp>
        <p:nvSpPr>
          <p:cNvPr id="31" name="Shape 28"/>
          <p:cNvSpPr/>
          <p:nvPr/>
        </p:nvSpPr>
        <p:spPr>
          <a:xfrm>
            <a:off x="9034272" y="1673352"/>
            <a:ext cx="2606040" cy="2103120"/>
          </a:xfrm>
          <a:prstGeom prst="rect">
            <a:avLst/>
          </a:prstGeom>
          <a:solidFill>
            <a:srgbClr val="111111"/>
          </a:solidFill>
          <a:ln w="12700">
            <a:solidFill>
              <a:srgbClr val="111111"/>
            </a:solidFill>
            <a:prstDash val="solid"/>
          </a:ln>
        </p:spPr>
      </p:sp>
      <p:sp>
        <p:nvSpPr>
          <p:cNvPr id="32" name="Shape 29"/>
          <p:cNvSpPr/>
          <p:nvPr/>
        </p:nvSpPr>
        <p:spPr>
          <a:xfrm>
            <a:off x="8961120" y="1600200"/>
            <a:ext cx="2606040" cy="2103120"/>
          </a:xfrm>
          <a:prstGeom prst="rect">
            <a:avLst/>
          </a:prstGeom>
          <a:solidFill>
            <a:srgbClr val="FFF1A8"/>
          </a:solidFill>
          <a:ln w="31750">
            <a:solidFill>
              <a:srgbClr val="111111"/>
            </a:solidFill>
            <a:prstDash val="solid"/>
          </a:ln>
        </p:spPr>
      </p:sp>
      <p:sp>
        <p:nvSpPr>
          <p:cNvPr id="33" name="Text 30"/>
          <p:cNvSpPr txBox="1"/>
          <p:nvPr/>
        </p:nvSpPr>
        <p:spPr>
          <a:xfrm>
            <a:off x="9144000" y="1737360"/>
            <a:ext cx="224028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2024</a:t>
            </a:r>
            <a:endParaRPr lang="en-US" sz="2800" dirty="0"/>
          </a:p>
        </p:txBody>
      </p:sp>
      <p:sp>
        <p:nvSpPr>
          <p:cNvPr id="34" name="Text 31"/>
          <p:cNvSpPr txBox="1"/>
          <p:nvPr/>
        </p:nvSpPr>
        <p:spPr>
          <a:xfrm>
            <a:off x="9144000" y="2331720"/>
            <a:ext cx="2240280" cy="640080"/>
          </a:xfrm>
          <a:prstGeom prst="rect">
            <a:avLst/>
          </a:prstGeom>
          <a:noFill/>
          <a:ln/>
        </p:spPr>
        <p:txBody>
          <a:bodyPr wrap="square" lIns="0" tIns="0" rIns="0" bIns="0" rtlCol="0" anchor="t"/>
          <a:lstStyle/>
          <a:p>
            <a:pPr indent="0" marL="0">
              <a:buNone/>
            </a:pPr>
            <a:r>
              <a:rPr lang="en-US" sz="1900" dirty="0">
                <a:solidFill>
                  <a:srgbClr val="111111"/>
                </a:solidFill>
                <a:latin typeface="Impact" pitchFamily="34" charset="0"/>
                <a:ea typeface="Impact" pitchFamily="34" charset="-122"/>
                <a:cs typeface="Impact" pitchFamily="34" charset="-120"/>
              </a:rPr>
              <a:t>Absolute</a:t>
            </a:r>
            <a:endParaRPr lang="en-US" sz="1900" dirty="0"/>
          </a:p>
        </p:txBody>
      </p:sp>
      <p:sp>
        <p:nvSpPr>
          <p:cNvPr id="35" name="Text 32"/>
          <p:cNvSpPr txBox="1"/>
          <p:nvPr/>
        </p:nvSpPr>
        <p:spPr>
          <a:xfrm>
            <a:off x="9144000" y="3108960"/>
            <a:ext cx="2240280" cy="457200"/>
          </a:xfrm>
          <a:prstGeom prst="rect">
            <a:avLst/>
          </a:prstGeom>
          <a:noFill/>
          <a:ln/>
        </p:spPr>
        <p:txBody>
          <a:bodyPr wrap="square" lIns="0" tIns="0" rIns="0" bIns="0" rtlCol="0" anchor="t"/>
          <a:lstStyle/>
          <a:p>
            <a:pPr indent="0" marL="0">
              <a:buNone/>
            </a:pPr>
            <a:r>
              <a:rPr lang="en-US" sz="1400" b="1" dirty="0">
                <a:solidFill>
                  <a:srgbClr val="444444"/>
                </a:solidFill>
                <a:latin typeface="Arial" pitchFamily="34" charset="0"/>
                <a:ea typeface="Arial" pitchFamily="34" charset="-122"/>
                <a:cs typeface="Arial" pitchFamily="34" charset="-120"/>
              </a:rPr>
              <a:t>Ultimate Spider-Man</a:t>
            </a:r>
            <a:endParaRPr lang="en-US" sz="1400" dirty="0"/>
          </a:p>
        </p:txBody>
      </p:sp>
      <p:sp>
        <p:nvSpPr>
          <p:cNvPr id="36" name="Shape 33"/>
          <p:cNvSpPr/>
          <p:nvPr/>
        </p:nvSpPr>
        <p:spPr>
          <a:xfrm>
            <a:off x="530352" y="4050792"/>
            <a:ext cx="11274552" cy="2240280"/>
          </a:xfrm>
          <a:prstGeom prst="rect">
            <a:avLst/>
          </a:prstGeom>
          <a:solidFill>
            <a:srgbClr val="111111"/>
          </a:solidFill>
          <a:ln w="12700">
            <a:solidFill>
              <a:srgbClr val="111111"/>
            </a:solidFill>
            <a:prstDash val="solid"/>
          </a:ln>
        </p:spPr>
      </p:sp>
      <p:sp>
        <p:nvSpPr>
          <p:cNvPr id="37" name="Shape 34"/>
          <p:cNvSpPr/>
          <p:nvPr/>
        </p:nvSpPr>
        <p:spPr>
          <a:xfrm>
            <a:off x="457200" y="3977640"/>
            <a:ext cx="11274552" cy="2240280"/>
          </a:xfrm>
          <a:prstGeom prst="rect">
            <a:avLst/>
          </a:prstGeom>
          <a:solidFill>
            <a:srgbClr val="111111"/>
          </a:solidFill>
          <a:ln w="31750">
            <a:solidFill>
              <a:srgbClr val="111111"/>
            </a:solidFill>
            <a:prstDash val="solid"/>
          </a:ln>
        </p:spPr>
      </p:sp>
      <p:sp>
        <p:nvSpPr>
          <p:cNvPr id="38" name="Text 35"/>
          <p:cNvSpPr txBox="1"/>
          <p:nvPr/>
        </p:nvSpPr>
        <p:spPr>
          <a:xfrm>
            <a:off x="731520" y="4114800"/>
            <a:ext cx="10698480" cy="365760"/>
          </a:xfrm>
          <a:prstGeom prst="rect">
            <a:avLst/>
          </a:prstGeom>
          <a:noFill/>
          <a:ln/>
        </p:spPr>
        <p:txBody>
          <a:bodyPr wrap="square" lIns="0" tIns="0" rIns="0" bIns="0" rtlCol="0" anchor="ctr"/>
          <a:lstStyle/>
          <a:p>
            <a:pPr indent="0" marL="0">
              <a:buNone/>
            </a:pPr>
            <a:r>
              <a:rPr lang="en-US" sz="1400" b="1" dirty="0">
                <a:solidFill>
                  <a:srgbClr val="FFD400"/>
                </a:solidFill>
                <a:latin typeface="Arial" pitchFamily="34" charset="0"/>
                <a:ea typeface="Arial" pitchFamily="34" charset="-122"/>
                <a:cs typeface="Arial" pitchFamily="34" charset="-120"/>
              </a:rPr>
              <a:t>ABSOLUTE Y ULTIMATE SPIDER-MAN: EL SUEÑO AMERICANO FRACASA</a:t>
            </a:r>
            <a:endParaRPr lang="en-US" sz="1400" dirty="0"/>
          </a:p>
        </p:txBody>
      </p:sp>
      <p:sp>
        <p:nvSpPr>
          <p:cNvPr id="39" name="Text 36"/>
          <p:cNvSpPr txBox="1"/>
          <p:nvPr/>
        </p:nvSpPr>
        <p:spPr>
          <a:xfrm>
            <a:off x="731520" y="4572000"/>
            <a:ext cx="10698480" cy="155448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Peter Parker de 35 años, sin poderes</a:t>
            </a:r>
            <a:endParaRPr lang="en-US" sz="1800" dirty="0"/>
          </a:p>
          <a:p>
            <a:pPr marL="203200" indent="-2032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Clark Kent, hijo de trabajadores rurales</a:t>
            </a:r>
            <a:endParaRPr lang="en-US" sz="1800" dirty="0"/>
          </a:p>
          <a:p>
            <a:pPr marL="203200" indent="-203200">
              <a:spcAft>
                <a:spcPts val="800"/>
              </a:spcAft>
              <a:buSzPct val="100000"/>
              <a:buChar char="•"/>
            </a:pPr>
            <a:r>
              <a:rPr lang="en-US" sz="1800" dirty="0">
                <a:solidFill>
                  <a:srgbClr val="FFFFFF"/>
                </a:solidFill>
                <a:latin typeface="Arial" pitchFamily="34" charset="0"/>
                <a:ea typeface="Arial" pitchFamily="34" charset="-122"/>
                <a:cs typeface="Arial" pitchFamily="34" charset="-120"/>
              </a:rPr>
              <a:t>Precariado (Standing, 2013): generación sin futuro tangible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1550027"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09. CONCLUSIÓN</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18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Respuesta a la pregunta</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CIERRE ]</a:t>
            </a:r>
            <a:endParaRPr lang="en-US" sz="900" dirty="0"/>
          </a:p>
        </p:txBody>
      </p:sp>
      <p:sp>
        <p:nvSpPr>
          <p:cNvPr id="13" name="Shape 10"/>
          <p:cNvSpPr/>
          <p:nvPr/>
        </p:nvSpPr>
        <p:spPr>
          <a:xfrm>
            <a:off x="530352" y="1673352"/>
            <a:ext cx="6949440" cy="1371600"/>
          </a:xfrm>
          <a:prstGeom prst="rect">
            <a:avLst/>
          </a:prstGeom>
          <a:solidFill>
            <a:srgbClr val="111111"/>
          </a:solidFill>
          <a:ln w="12700">
            <a:solidFill>
              <a:srgbClr val="111111"/>
            </a:solidFill>
            <a:prstDash val="solid"/>
          </a:ln>
        </p:spPr>
      </p:sp>
      <p:sp>
        <p:nvSpPr>
          <p:cNvPr id="14" name="Shape 11"/>
          <p:cNvSpPr/>
          <p:nvPr/>
        </p:nvSpPr>
        <p:spPr>
          <a:xfrm>
            <a:off x="457200" y="1600200"/>
            <a:ext cx="6949440" cy="1371600"/>
          </a:xfrm>
          <a:prstGeom prst="rect">
            <a:avLst/>
          </a:prstGeom>
          <a:solidFill>
            <a:srgbClr val="FFFFFF"/>
          </a:solidFill>
          <a:ln w="31750">
            <a:solidFill>
              <a:srgbClr val="111111"/>
            </a:solidFill>
            <a:prstDash val="solid"/>
          </a:ln>
        </p:spPr>
      </p:sp>
      <p:sp>
        <p:nvSpPr>
          <p:cNvPr id="15" name="Text 12"/>
          <p:cNvSpPr txBox="1"/>
          <p:nvPr/>
        </p:nvSpPr>
        <p:spPr>
          <a:xfrm>
            <a:off x="640080" y="1737360"/>
            <a:ext cx="82296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01</a:t>
            </a:r>
            <a:endParaRPr lang="en-US" sz="2800" dirty="0"/>
          </a:p>
        </p:txBody>
      </p:sp>
      <p:sp>
        <p:nvSpPr>
          <p:cNvPr id="16" name="Text 13"/>
          <p:cNvSpPr txBox="1"/>
          <p:nvPr/>
        </p:nvSpPr>
        <p:spPr>
          <a:xfrm>
            <a:off x="1463040" y="1764792"/>
            <a:ext cx="5760720" cy="457200"/>
          </a:xfrm>
          <a:prstGeom prst="rect">
            <a:avLst/>
          </a:prstGeom>
          <a:noFill/>
          <a:ln/>
        </p:spPr>
        <p:txBody>
          <a:bodyPr wrap="square" lIns="0" tIns="0" rIns="0" bIns="0" rtlCol="0" anchor="ctr"/>
          <a:lstStyle/>
          <a:p>
            <a:pPr indent="0" marL="0">
              <a:buNone/>
            </a:pPr>
            <a:r>
              <a:rPr lang="en-US" sz="2200" dirty="0">
                <a:solidFill>
                  <a:srgbClr val="111111"/>
                </a:solidFill>
                <a:latin typeface="Impact" pitchFamily="34" charset="0"/>
                <a:ea typeface="Impact" pitchFamily="34" charset="-122"/>
                <a:cs typeface="Impact" pitchFamily="34" charset="-120"/>
              </a:rPr>
              <a:t>El 11S: punto de quiebre</a:t>
            </a:r>
            <a:endParaRPr lang="en-US" sz="2200" dirty="0"/>
          </a:p>
        </p:txBody>
      </p:sp>
      <p:sp>
        <p:nvSpPr>
          <p:cNvPr id="17" name="Text 14"/>
          <p:cNvSpPr txBox="1"/>
          <p:nvPr/>
        </p:nvSpPr>
        <p:spPr>
          <a:xfrm>
            <a:off x="1463040" y="2331720"/>
            <a:ext cx="57607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Militarización · excepcionalismo · seguridad</a:t>
            </a:r>
            <a:endParaRPr lang="en-US" sz="1700" dirty="0"/>
          </a:p>
        </p:txBody>
      </p:sp>
      <p:sp>
        <p:nvSpPr>
          <p:cNvPr id="18" name="Shape 15"/>
          <p:cNvSpPr/>
          <p:nvPr/>
        </p:nvSpPr>
        <p:spPr>
          <a:xfrm>
            <a:off x="530352" y="3227832"/>
            <a:ext cx="6949440" cy="1371600"/>
          </a:xfrm>
          <a:prstGeom prst="rect">
            <a:avLst/>
          </a:prstGeom>
          <a:solidFill>
            <a:srgbClr val="111111"/>
          </a:solidFill>
          <a:ln w="12700">
            <a:solidFill>
              <a:srgbClr val="111111"/>
            </a:solidFill>
            <a:prstDash val="solid"/>
          </a:ln>
        </p:spPr>
      </p:sp>
      <p:sp>
        <p:nvSpPr>
          <p:cNvPr id="19" name="Shape 16"/>
          <p:cNvSpPr/>
          <p:nvPr/>
        </p:nvSpPr>
        <p:spPr>
          <a:xfrm>
            <a:off x="457200" y="3154680"/>
            <a:ext cx="6949440" cy="1371600"/>
          </a:xfrm>
          <a:prstGeom prst="rect">
            <a:avLst/>
          </a:prstGeom>
          <a:solidFill>
            <a:srgbClr val="FFFFFF"/>
          </a:solidFill>
          <a:ln w="31750">
            <a:solidFill>
              <a:srgbClr val="111111"/>
            </a:solidFill>
            <a:prstDash val="solid"/>
          </a:ln>
        </p:spPr>
      </p:sp>
      <p:sp>
        <p:nvSpPr>
          <p:cNvPr id="20" name="Text 17"/>
          <p:cNvSpPr txBox="1"/>
          <p:nvPr/>
        </p:nvSpPr>
        <p:spPr>
          <a:xfrm>
            <a:off x="640080" y="3291840"/>
            <a:ext cx="82296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02</a:t>
            </a:r>
            <a:endParaRPr lang="en-US" sz="2800" dirty="0"/>
          </a:p>
        </p:txBody>
      </p:sp>
      <p:sp>
        <p:nvSpPr>
          <p:cNvPr id="21" name="Text 18"/>
          <p:cNvSpPr txBox="1"/>
          <p:nvPr/>
        </p:nvSpPr>
        <p:spPr>
          <a:xfrm>
            <a:off x="1463040" y="3319272"/>
            <a:ext cx="5760720" cy="457200"/>
          </a:xfrm>
          <a:prstGeom prst="rect">
            <a:avLst/>
          </a:prstGeom>
          <a:noFill/>
          <a:ln/>
        </p:spPr>
        <p:txBody>
          <a:bodyPr wrap="square" lIns="0" tIns="0" rIns="0" bIns="0" rtlCol="0" anchor="ctr"/>
          <a:lstStyle/>
          <a:p>
            <a:pPr indent="0" marL="0">
              <a:buNone/>
            </a:pPr>
            <a:r>
              <a:rPr lang="en-US" sz="2200" dirty="0">
                <a:solidFill>
                  <a:srgbClr val="111111"/>
                </a:solidFill>
                <a:latin typeface="Impact" pitchFamily="34" charset="0"/>
                <a:ea typeface="Impact" pitchFamily="34" charset="-122"/>
                <a:cs typeface="Impact" pitchFamily="34" charset="-120"/>
              </a:rPr>
              <a:t>Dos respuestas</a:t>
            </a:r>
            <a:endParaRPr lang="en-US" sz="2200" dirty="0"/>
          </a:p>
        </p:txBody>
      </p:sp>
      <p:sp>
        <p:nvSpPr>
          <p:cNvPr id="22" name="Text 19"/>
          <p:cNvSpPr txBox="1"/>
          <p:nvPr/>
        </p:nvSpPr>
        <p:spPr>
          <a:xfrm>
            <a:off x="1463040" y="3886200"/>
            <a:ext cx="57607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Marvel militariza · DC metacritica</a:t>
            </a:r>
            <a:endParaRPr lang="en-US" sz="1700" dirty="0"/>
          </a:p>
        </p:txBody>
      </p:sp>
      <p:sp>
        <p:nvSpPr>
          <p:cNvPr id="23" name="Shape 20"/>
          <p:cNvSpPr/>
          <p:nvPr/>
        </p:nvSpPr>
        <p:spPr>
          <a:xfrm>
            <a:off x="530352" y="4782312"/>
            <a:ext cx="6949440" cy="1371600"/>
          </a:xfrm>
          <a:prstGeom prst="rect">
            <a:avLst/>
          </a:prstGeom>
          <a:solidFill>
            <a:srgbClr val="111111"/>
          </a:solidFill>
          <a:ln w="12700">
            <a:solidFill>
              <a:srgbClr val="111111"/>
            </a:solidFill>
            <a:prstDash val="solid"/>
          </a:ln>
        </p:spPr>
      </p:sp>
      <p:sp>
        <p:nvSpPr>
          <p:cNvPr id="24" name="Shape 21"/>
          <p:cNvSpPr/>
          <p:nvPr/>
        </p:nvSpPr>
        <p:spPr>
          <a:xfrm>
            <a:off x="457200" y="4709160"/>
            <a:ext cx="6949440" cy="1371600"/>
          </a:xfrm>
          <a:prstGeom prst="rect">
            <a:avLst/>
          </a:prstGeom>
          <a:solidFill>
            <a:srgbClr val="FFFFFF"/>
          </a:solidFill>
          <a:ln w="31750">
            <a:solidFill>
              <a:srgbClr val="111111"/>
            </a:solidFill>
            <a:prstDash val="solid"/>
          </a:ln>
        </p:spPr>
      </p:sp>
      <p:sp>
        <p:nvSpPr>
          <p:cNvPr id="25" name="Text 22"/>
          <p:cNvSpPr txBox="1"/>
          <p:nvPr/>
        </p:nvSpPr>
        <p:spPr>
          <a:xfrm>
            <a:off x="640080" y="4846320"/>
            <a:ext cx="822960" cy="548640"/>
          </a:xfrm>
          <a:prstGeom prst="rect">
            <a:avLst/>
          </a:prstGeom>
          <a:noFill/>
          <a:ln/>
        </p:spPr>
        <p:txBody>
          <a:bodyPr wrap="square" lIns="0" tIns="0" rIns="0" bIns="0" rtlCol="0" anchor="ctr"/>
          <a:lstStyle/>
          <a:p>
            <a:pPr indent="0" marL="0">
              <a:buNone/>
            </a:pPr>
            <a:r>
              <a:rPr lang="en-US" sz="2800" dirty="0">
                <a:solidFill>
                  <a:srgbClr val="E5262B"/>
                </a:solidFill>
                <a:latin typeface="Impact" pitchFamily="34" charset="0"/>
                <a:ea typeface="Impact" pitchFamily="34" charset="-122"/>
                <a:cs typeface="Impact" pitchFamily="34" charset="-120"/>
              </a:rPr>
              <a:t>03</a:t>
            </a:r>
            <a:endParaRPr lang="en-US" sz="2800" dirty="0"/>
          </a:p>
        </p:txBody>
      </p:sp>
      <p:sp>
        <p:nvSpPr>
          <p:cNvPr id="26" name="Text 23"/>
          <p:cNvSpPr txBox="1"/>
          <p:nvPr/>
        </p:nvSpPr>
        <p:spPr>
          <a:xfrm>
            <a:off x="1463040" y="4873752"/>
            <a:ext cx="5760720" cy="457200"/>
          </a:xfrm>
          <a:prstGeom prst="rect">
            <a:avLst/>
          </a:prstGeom>
          <a:noFill/>
          <a:ln/>
        </p:spPr>
        <p:txBody>
          <a:bodyPr wrap="square" lIns="0" tIns="0" rIns="0" bIns="0" rtlCol="0" anchor="ctr"/>
          <a:lstStyle/>
          <a:p>
            <a:pPr indent="0" marL="0">
              <a:buNone/>
            </a:pPr>
            <a:r>
              <a:rPr lang="en-US" sz="2200" dirty="0">
                <a:solidFill>
                  <a:srgbClr val="111111"/>
                </a:solidFill>
                <a:latin typeface="Impact" pitchFamily="34" charset="0"/>
                <a:ea typeface="Impact" pitchFamily="34" charset="-122"/>
                <a:cs typeface="Impact" pitchFamily="34" charset="-120"/>
              </a:rPr>
              <a:t>Un género parodia de sí mismo</a:t>
            </a:r>
            <a:endParaRPr lang="en-US" sz="2200" dirty="0"/>
          </a:p>
        </p:txBody>
      </p:sp>
      <p:sp>
        <p:nvSpPr>
          <p:cNvPr id="27" name="Text 24"/>
          <p:cNvSpPr txBox="1"/>
          <p:nvPr/>
        </p:nvSpPr>
        <p:spPr>
          <a:xfrm>
            <a:off x="1463040" y="5440680"/>
            <a:ext cx="5760720" cy="54864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«Y sin embargo, ahí va a estar Superman»</a:t>
            </a:r>
            <a:endParaRPr lang="en-US" sz="1700" dirty="0"/>
          </a:p>
        </p:txBody>
      </p:sp>
      <p:sp>
        <p:nvSpPr>
          <p:cNvPr id="28" name="Shape 25"/>
          <p:cNvSpPr/>
          <p:nvPr/>
        </p:nvSpPr>
        <p:spPr>
          <a:xfrm>
            <a:off x="7680960" y="1600200"/>
            <a:ext cx="4050792" cy="4480560"/>
          </a:xfrm>
          <a:prstGeom prst="rect">
            <a:avLst/>
          </a:prstGeom>
          <a:solidFill>
            <a:srgbClr val="111111"/>
          </a:solidFill>
          <a:ln w="38100">
            <a:solidFill>
              <a:srgbClr val="FFD400"/>
            </a:solidFill>
            <a:prstDash val="solid"/>
          </a:ln>
        </p:spPr>
      </p:sp>
      <p:sp>
        <p:nvSpPr>
          <p:cNvPr id="29" name="Text 26"/>
          <p:cNvSpPr txBox="1"/>
          <p:nvPr/>
        </p:nvSpPr>
        <p:spPr>
          <a:xfrm>
            <a:off x="7955280" y="1783080"/>
            <a:ext cx="3474720" cy="274320"/>
          </a:xfrm>
          <a:prstGeom prst="rect">
            <a:avLst/>
          </a:prstGeom>
          <a:noFill/>
          <a:ln/>
        </p:spPr>
        <p:txBody>
          <a:bodyPr wrap="square" lIns="0" tIns="0" rIns="0" bIns="0" rtlCol="0" anchor="ctr"/>
          <a:lstStyle/>
          <a:p>
            <a:pPr indent="0" marL="0">
              <a:buNone/>
            </a:pPr>
            <a:r>
              <a:rPr lang="en-US" sz="1200" b="1" dirty="0">
                <a:solidFill>
                  <a:srgbClr val="FFD400"/>
                </a:solidFill>
                <a:latin typeface="Arial" pitchFamily="34" charset="0"/>
                <a:ea typeface="Arial" pitchFamily="34" charset="-122"/>
                <a:cs typeface="Arial" pitchFamily="34" charset="-120"/>
              </a:rPr>
              <a:t>HOY</a:t>
            </a:r>
            <a:endParaRPr lang="en-US" sz="1200" dirty="0"/>
          </a:p>
        </p:txBody>
      </p:sp>
      <p:sp>
        <p:nvSpPr>
          <p:cNvPr id="30" name="Text 27"/>
          <p:cNvSpPr txBox="1"/>
          <p:nvPr/>
        </p:nvSpPr>
        <p:spPr>
          <a:xfrm>
            <a:off x="7955280" y="2194560"/>
            <a:ext cx="3520440" cy="109728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Una nueva oportunidad</a:t>
            </a:r>
            <a:endParaRPr lang="en-US" sz="2800" dirty="0"/>
          </a:p>
        </p:txBody>
      </p:sp>
      <p:sp>
        <p:nvSpPr>
          <p:cNvPr id="31" name="Text 28"/>
          <p:cNvSpPr txBox="1"/>
          <p:nvPr/>
        </p:nvSpPr>
        <p:spPr>
          <a:xfrm>
            <a:off x="7955280" y="3566160"/>
            <a:ext cx="3520440" cy="10972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Volver a ser un horizonte al cual aspirar.</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2191695"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10. GRACIAS · REFERENCIAS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19 / 19</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Gracias · Referencias principales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BIBLIOGRAFÍA Y CORPUS ]</a:t>
            </a:r>
            <a:endParaRPr lang="en-US" sz="900" dirty="0"/>
          </a:p>
        </p:txBody>
      </p:sp>
      <p:sp>
        <p:nvSpPr>
          <p:cNvPr id="13" name="Shape 10"/>
          <p:cNvSpPr/>
          <p:nvPr/>
        </p:nvSpPr>
        <p:spPr>
          <a:xfrm>
            <a:off x="530352" y="1581912"/>
            <a:ext cx="6766560" cy="4709160"/>
          </a:xfrm>
          <a:prstGeom prst="rect">
            <a:avLst/>
          </a:prstGeom>
          <a:solidFill>
            <a:srgbClr val="111111"/>
          </a:solidFill>
          <a:ln w="12700">
            <a:solidFill>
              <a:srgbClr val="111111"/>
            </a:solidFill>
            <a:prstDash val="solid"/>
          </a:ln>
        </p:spPr>
      </p:sp>
      <p:sp>
        <p:nvSpPr>
          <p:cNvPr id="14" name="Shape 11"/>
          <p:cNvSpPr/>
          <p:nvPr/>
        </p:nvSpPr>
        <p:spPr>
          <a:xfrm>
            <a:off x="457200" y="1508760"/>
            <a:ext cx="6766560" cy="4709160"/>
          </a:xfrm>
          <a:prstGeom prst="rect">
            <a:avLst/>
          </a:prstGeom>
          <a:solidFill>
            <a:srgbClr val="FFFFFF"/>
          </a:solidFill>
          <a:ln w="31750">
            <a:solidFill>
              <a:srgbClr val="111111"/>
            </a:solidFill>
            <a:prstDash val="solid"/>
          </a:ln>
        </p:spPr>
      </p:sp>
      <p:sp>
        <p:nvSpPr>
          <p:cNvPr id="15" name="Text 12"/>
          <p:cNvSpPr txBox="1"/>
          <p:nvPr/>
        </p:nvSpPr>
        <p:spPr>
          <a:xfrm>
            <a:off x="640080" y="1664208"/>
            <a:ext cx="146304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BIBLIOGRAFÍA</a:t>
            </a:r>
            <a:endParaRPr lang="en-US" sz="1000" dirty="0"/>
          </a:p>
        </p:txBody>
      </p:sp>
      <p:sp>
        <p:nvSpPr>
          <p:cNvPr id="16" name="Text 13"/>
          <p:cNvSpPr txBox="1"/>
          <p:nvPr/>
        </p:nvSpPr>
        <p:spPr>
          <a:xfrm>
            <a:off x="640080" y="2057400"/>
            <a:ext cx="6400800" cy="4069080"/>
          </a:xfrm>
          <a:prstGeom prst="rect">
            <a:avLst/>
          </a:prstGeom>
          <a:noFill/>
          <a:ln/>
        </p:spPr>
        <p:txBody>
          <a:bodyPr wrap="square" lIns="0" tIns="0" rIns="0" bIns="0" rtlCol="0" anchor="t"/>
          <a:lstStyle/>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Bourdieu, P. (2000). Las condiciones sociales de la circulación de las ideas.</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Dittmer, J. (2011). American exceptionalism, visual effects, and the post-9/11 cinematic superhero boom.</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Etzioni, A. (2005). How patriotic is the Patriot Act?</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Faludi, S. (2007). The terror dream.</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Fisher, M. (2016). Realismo capitalista.</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Fukuyama, F. (2021). El fin de la historia.</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Jameson, F. (1989). Documentos de cultura, documentos de barbarie.</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Jameson, F. (1991). El posmodernismo o la lógica cultural del capitalismo avanzado.</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Jenkins, H. (2008). Convergencia cultural.</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Mbembe, A. (2011). Necropolítica.</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Morrison, G. (2011). Supergods.</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Parsons, T. (1974). El concepto de sociedad.</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Smith, P. y Goodrum, M. (2011). Representations of trauma in post-9/11 superhero comics.</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Standing, G. (2013). El precariado.</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Todorov, T. (1988). El origen de los géneros.</a:t>
            </a:r>
            <a:endParaRPr lang="en-US" sz="1100" dirty="0"/>
          </a:p>
          <a:p>
            <a:pPr marL="203200" indent="-203200">
              <a:spcAft>
                <a:spcPts val="300"/>
              </a:spcAft>
              <a:buSzPct val="100000"/>
              <a:buChar char="•"/>
            </a:pPr>
            <a:r>
              <a:rPr lang="en-US" sz="1100" dirty="0">
                <a:solidFill>
                  <a:srgbClr val="111111"/>
                </a:solidFill>
                <a:latin typeface="Arial" pitchFamily="34" charset="0"/>
                <a:ea typeface="Arial" pitchFamily="34" charset="-122"/>
                <a:cs typeface="Arial" pitchFamily="34" charset="-120"/>
              </a:rPr>
              <a:t>Wright, B. W. (2001). Comic book nation.</a:t>
            </a:r>
            <a:endParaRPr lang="en-US" sz="1100" dirty="0"/>
          </a:p>
        </p:txBody>
      </p:sp>
      <p:sp>
        <p:nvSpPr>
          <p:cNvPr id="17" name="Shape 14"/>
          <p:cNvSpPr/>
          <p:nvPr/>
        </p:nvSpPr>
        <p:spPr>
          <a:xfrm>
            <a:off x="7479792" y="1581912"/>
            <a:ext cx="4325112" cy="4709160"/>
          </a:xfrm>
          <a:prstGeom prst="rect">
            <a:avLst/>
          </a:prstGeom>
          <a:solidFill>
            <a:srgbClr val="111111"/>
          </a:solidFill>
          <a:ln w="12700">
            <a:solidFill>
              <a:srgbClr val="111111"/>
            </a:solidFill>
            <a:prstDash val="solid"/>
          </a:ln>
        </p:spPr>
      </p:sp>
      <p:sp>
        <p:nvSpPr>
          <p:cNvPr id="18" name="Shape 15"/>
          <p:cNvSpPr/>
          <p:nvPr/>
        </p:nvSpPr>
        <p:spPr>
          <a:xfrm>
            <a:off x="7406640" y="1508760"/>
            <a:ext cx="4325112" cy="4709160"/>
          </a:xfrm>
          <a:prstGeom prst="rect">
            <a:avLst/>
          </a:prstGeom>
          <a:solidFill>
            <a:srgbClr val="FFF1A8"/>
          </a:solidFill>
          <a:ln w="31750">
            <a:solidFill>
              <a:srgbClr val="111111"/>
            </a:solidFill>
            <a:prstDash val="solid"/>
          </a:ln>
        </p:spPr>
      </p:sp>
      <p:sp>
        <p:nvSpPr>
          <p:cNvPr id="19" name="Text 16"/>
          <p:cNvSpPr txBox="1"/>
          <p:nvPr/>
        </p:nvSpPr>
        <p:spPr>
          <a:xfrm>
            <a:off x="7589520" y="1664208"/>
            <a:ext cx="109728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CORPUS</a:t>
            </a:r>
            <a:endParaRPr lang="en-US" sz="1000" dirty="0"/>
          </a:p>
        </p:txBody>
      </p:sp>
      <p:sp>
        <p:nvSpPr>
          <p:cNvPr id="20" name="Text 17"/>
          <p:cNvSpPr txBox="1"/>
          <p:nvPr/>
        </p:nvSpPr>
        <p:spPr>
          <a:xfrm>
            <a:off x="7589520" y="2057400"/>
            <a:ext cx="3977640" cy="406908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Ellis, W. y Hitch, B. (1999). The Authority. WildStorm.</a:t>
            </a:r>
            <a:endParaRPr lang="en-US" sz="1200" dirty="0"/>
          </a:p>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Millar, M. y Hitch, B. (2002–2004). The Ultimates. Marvel.</a:t>
            </a:r>
            <a:endParaRPr lang="en-US" sz="1200" dirty="0"/>
          </a:p>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Millar, M. y McNiven, S. (2006). Civil War. Marvel.</a:t>
            </a:r>
            <a:endParaRPr lang="en-US" sz="1200" dirty="0"/>
          </a:p>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Bendis, B. M. y Yu, L. F. (2008). Secret Invasion. Marvel.</a:t>
            </a:r>
            <a:endParaRPr lang="en-US" sz="1200" dirty="0"/>
          </a:p>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Kelly, J., Mahnke, D. y Bermejo, L. (2001). Action Comics #775. DC.</a:t>
            </a:r>
            <a:endParaRPr lang="en-US" sz="1200" dirty="0"/>
          </a:p>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Meltzer, B. y Morales, R. (2005). Identity Crisis. DC.</a:t>
            </a:r>
            <a:endParaRPr lang="en-US" sz="1200" dirty="0"/>
          </a:p>
          <a:p>
            <a:pPr marL="203200" indent="-203200">
              <a:spcAft>
                <a:spcPts val="600"/>
              </a:spcAft>
              <a:buSzPct val="100000"/>
              <a:buChar char="•"/>
            </a:pPr>
            <a:r>
              <a:rPr lang="en-US" sz="1200" dirty="0">
                <a:solidFill>
                  <a:srgbClr val="111111"/>
                </a:solidFill>
                <a:latin typeface="Arial" pitchFamily="34" charset="0"/>
                <a:ea typeface="Arial" pitchFamily="34" charset="-122"/>
                <a:cs typeface="Arial" pitchFamily="34" charset="-120"/>
              </a:rPr>
              <a:t>Johns, G. et al. (2006). Infinite Crisis. DC.</a:t>
            </a:r>
            <a:endParaRPr lang="en-US" sz="1200" dirty="0"/>
          </a:p>
        </p:txBody>
      </p:sp>
    </p:spTree>
  </p:cSld>
  <p:clrMapOvr>
    <a:masterClrMapping/>
  </p:clrMapOvr>
</p:sld>
</file>

<file path=ppt/theme/theme1.xml><?xml version="1.0" encoding="utf-8"?>
<a:theme xmlns:a="http://schemas.openxmlformats.org/drawingml/2006/main" name="Superheroes 11S">
  <a:themeElements>
    <a:clrScheme name="Superheroes 11S">
      <a:dk1>
        <a:srgbClr val="111111"/>
      </a:dk1>
      <a:lt1>
        <a:srgbClr val="FFFFFF"/>
      </a:lt1>
      <a:dk2>
        <a:srgbClr val="333333"/>
      </a:dk2>
      <a:lt2>
        <a:srgbClr val="F5F5F5"/>
      </a:lt2>
      <a:accent1>
        <a:srgbClr val="E5262B"/>
      </a:accent1>
      <a:accent2>
        <a:srgbClr val="111111"/>
      </a:accent2>
      <a:accent3>
        <a:srgbClr val="555555"/>
      </a:accent3>
      <a:accent4>
        <a:srgbClr val="FFD400"/>
      </a:accent4>
      <a:accent5>
        <a:srgbClr val="999999"/>
      </a:accent5>
      <a:accent6>
        <a:srgbClr val="DDDDDD"/>
      </a:accent6>
      <a:hlink>
        <a:srgbClr val="C8281E"/>
      </a:hlink>
      <a:folHlink>
        <a:srgbClr val="555555"/>
      </a:folHlink>
    </a:clrScheme>
    <a:fontScheme name="Superheroes 11S">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tienen de divertido la verdad, la justicia y el estilo de vida del Superhéroe?</dc:title>
  <dc:subject>PptxGenJS Presentation</dc:subject>
  <dc:creator>Alejo Tomás Ortega</dc:creator>
  <cp:lastModifiedBy>Alejo Tomás Ortega</cp:lastModifiedBy>
  <cp:revision>1</cp:revision>
  <dcterms:created xsi:type="dcterms:W3CDTF">2026-10-27T18:11:15Z</dcterms:created>
  <dcterms:modified xsi:type="dcterms:W3CDTF">2026-10-27T18:11:15Z</dcterms:modified>
</cp:coreProperties>
</file>