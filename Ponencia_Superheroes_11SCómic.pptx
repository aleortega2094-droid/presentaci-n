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trabajo, Mesa 5. El título remite a Action Comics #775 (Kelly, Mahnke y Bermejo, 2001), cuya portada está en la tira junto con el resto del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investigación, marco (Todorov y Jameson) e hipótesis. Anticipar que los tres valores de la hipótesis se vuelven dimensiones de análisis, más una cuarta sobre la crisis interna del género.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'90 como crisis de legitimidad comercial y creativa. La muerte de Superman es el gesto de una editorial que busca relevancia pública. Cierre: la refundación llega con Marvel Knights y Ultimate.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 al comentario recibido: fuentes, muestra, criterios y estrategia de análisis. El corpus son siete cómics; la columna 'Dim.' remite a las cuatro dimensiones de la diapositiva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primeras salen de los valores de la hipótesis; la cuarta (legitimidad moral) recoge la crisis interna del género. Cada obra permite observar al menos una dimensión.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Primeros indicios del enfoque del nuevo milenio. El léxico del terror y el terrorismo justifica la violencia de los héroes. No hay justicia rehabilitativa; la colaboración con organismos estatales de seguridad se ve como algo positivo.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Tono hiperrealista que Marvel encuentra para la época. Faludi: la prensa mostraba a funcionarios de Bush con la hipérbole del género. Dittmer: el género articula el excepcionalismo norteamericano.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evento que sacudió a Marvel. La portada elegida muestra el enfrentamiento final entre Capitán América y Iron Man, las dos posiciones frente al registro.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tono hiperrealista que Millar, con otro estilo. Smith y Goodrum leen la miniserie como representación de trauma post 11S.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título del trabajo sale de este número. Kelly convierte el lema en pregunta. Kingdom Come (1996) ya opera en el mismo registro metacrítico.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portada del #7 muestra los trajes vacíos: los héroes ausentes frente a la pregunta moral. El héroe pierde la inocencia ante sus propios 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Johns usa el propio medio para discutir un problema que el género arrastra desde fines de los '80. Que lo diga el Superman de la Edad de Oro es una decisión autoral que expresa el clima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claramente datos (diapositivas anteriores) de interpretación (esta). Marvel militariza y DC metacritica; ambos movimientos expresan el mismo clima de época.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que responde la pregunta de investigación, separado de la discusión. Final con la actualidad: el género vuelve a sintonizar con las angustias de época.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principales. La bibliografía completa está en el texto de la ponencia.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 Id="rId8" Type="http://schemas.openxmlformats.org/officeDocument/2006/relationships/image" Target="../media/image-1-8.jp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D400"/>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812780"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01. PORTADA</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01 / 15</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Text 6"/>
          <p:cNvSpPr txBox="1"/>
          <p:nvPr/>
        </p:nvSpPr>
        <p:spPr>
          <a:xfrm>
            <a:off x="457200" y="640080"/>
            <a:ext cx="11247120" cy="274320"/>
          </a:xfrm>
          <a:prstGeom prst="rect">
            <a:avLst/>
          </a:prstGeom>
          <a:noFill/>
          <a:ln/>
        </p:spPr>
        <p:txBody>
          <a:bodyPr wrap="square" lIns="0" tIns="0" rIns="0" bIns="0" rtlCol="0" anchor="ctr"/>
          <a:lstStyle/>
          <a:p>
            <a:pPr indent="0" marL="0">
              <a:buNone/>
            </a:pPr>
            <a:r>
              <a:rPr lang="en-US" sz="1100" b="1" dirty="0">
                <a:solidFill>
                  <a:srgbClr val="111111"/>
                </a:solidFill>
                <a:latin typeface="Arial" pitchFamily="34" charset="0"/>
                <a:ea typeface="Arial" pitchFamily="34" charset="-122"/>
                <a:cs typeface="Arial" pitchFamily="34" charset="-120"/>
              </a:rPr>
              <a:t>JORNADAS DE INVESTIGADORES · INSTITUTO DE INVESTIGACIONES GINO GERMANI</a:t>
            </a:r>
            <a:endParaRPr lang="en-US" sz="1100" dirty="0"/>
          </a:p>
        </p:txBody>
      </p:sp>
      <p:sp>
        <p:nvSpPr>
          <p:cNvPr id="10" name="Text 7"/>
          <p:cNvSpPr txBox="1"/>
          <p:nvPr/>
        </p:nvSpPr>
        <p:spPr>
          <a:xfrm>
            <a:off x="457200" y="960120"/>
            <a:ext cx="8778240" cy="384048"/>
          </a:xfrm>
          <a:prstGeom prst="rect">
            <a:avLst/>
          </a:prstGeom>
          <a:solidFill>
            <a:srgbClr val="E5262B"/>
          </a:solidFill>
          <a:ln w="25400">
            <a:solidFill>
              <a:srgbClr val="111111"/>
            </a:solidFill>
          </a:ln>
        </p:spPr>
        <p:txBody>
          <a:bodyPr wrap="square" lIns="0" tIns="127000" rIns="12700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MESA 5. CULTURAS POPULARES, CONTRACULTURA, ARTE Y TRABAJO CULTURAL</a:t>
            </a:r>
            <a:endParaRPr lang="en-US" sz="1400" dirty="0"/>
          </a:p>
        </p:txBody>
      </p:sp>
      <p:sp>
        <p:nvSpPr>
          <p:cNvPr id="11" name="Shape 8"/>
          <p:cNvSpPr/>
          <p:nvPr/>
        </p:nvSpPr>
        <p:spPr>
          <a:xfrm>
            <a:off x="530352" y="1627632"/>
            <a:ext cx="11274552" cy="1600200"/>
          </a:xfrm>
          <a:prstGeom prst="rect">
            <a:avLst/>
          </a:prstGeom>
          <a:solidFill>
            <a:srgbClr val="111111"/>
          </a:solidFill>
          <a:ln w="12700">
            <a:solidFill>
              <a:srgbClr val="111111"/>
            </a:solidFill>
            <a:prstDash val="solid"/>
          </a:ln>
        </p:spPr>
      </p:sp>
      <p:sp>
        <p:nvSpPr>
          <p:cNvPr id="12" name="Shape 9"/>
          <p:cNvSpPr/>
          <p:nvPr/>
        </p:nvSpPr>
        <p:spPr>
          <a:xfrm>
            <a:off x="457200" y="1554480"/>
            <a:ext cx="11274552" cy="1600200"/>
          </a:xfrm>
          <a:prstGeom prst="rect">
            <a:avLst/>
          </a:prstGeom>
          <a:solidFill>
            <a:srgbClr val="FFFFFF"/>
          </a:solidFill>
          <a:ln w="38100">
            <a:solidFill>
              <a:srgbClr val="111111"/>
            </a:solidFill>
            <a:prstDash val="solid"/>
          </a:ln>
        </p:spPr>
      </p:sp>
      <p:sp>
        <p:nvSpPr>
          <p:cNvPr id="13" name="Text 10"/>
          <p:cNvSpPr txBox="1"/>
          <p:nvPr/>
        </p:nvSpPr>
        <p:spPr>
          <a:xfrm>
            <a:off x="685800" y="1600200"/>
            <a:ext cx="10835640" cy="1508760"/>
          </a:xfrm>
          <a:prstGeom prst="rect">
            <a:avLst/>
          </a:prstGeom>
          <a:noFill/>
          <a:ln/>
        </p:spPr>
        <p:txBody>
          <a:bodyPr wrap="square" lIns="0" tIns="0" rIns="0" bIns="0" rtlCol="0" anchor="ctr"/>
          <a:lstStyle/>
          <a:p>
            <a:pPr indent="0" marL="0">
              <a:buNone/>
            </a:pPr>
            <a:r>
              <a:rPr lang="en-US" sz="3400" dirty="0">
                <a:solidFill>
                  <a:srgbClr val="111111"/>
                </a:solidFill>
                <a:latin typeface="Impact" pitchFamily="34" charset="0"/>
                <a:ea typeface="Impact" pitchFamily="34" charset="-122"/>
                <a:cs typeface="Impact" pitchFamily="34" charset="-120"/>
              </a:rPr>
              <a:t>¿Qué tienen de divertido la verdad, la justicia y el estilo de vida del Superhéroe?</a:t>
            </a:r>
            <a:endParaRPr lang="en-US" sz="3400" dirty="0"/>
          </a:p>
        </p:txBody>
      </p:sp>
      <p:sp>
        <p:nvSpPr>
          <p:cNvPr id="14" name="Text 11"/>
          <p:cNvSpPr txBox="1"/>
          <p:nvPr/>
        </p:nvSpPr>
        <p:spPr>
          <a:xfrm>
            <a:off x="457200" y="3291840"/>
            <a:ext cx="11247120" cy="59436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La reconfiguración del género superheroico y su impacto en la cultura posterior al Cómic Crash de los '90 y el 11S</a:t>
            </a:r>
            <a:endParaRPr lang="en-US" sz="1600" dirty="0"/>
          </a:p>
        </p:txBody>
      </p:sp>
      <p:sp>
        <p:nvSpPr>
          <p:cNvPr id="15" name="Shape 12"/>
          <p:cNvSpPr/>
          <p:nvPr/>
        </p:nvSpPr>
        <p:spPr>
          <a:xfrm rot="-120000">
            <a:off x="800100" y="3886200"/>
            <a:ext cx="1371600" cy="2075688"/>
          </a:xfrm>
          <a:prstGeom prst="rect">
            <a:avLst/>
          </a:prstGeom>
          <a:solidFill>
            <a:srgbClr val="FFFFFF"/>
          </a:solidFill>
          <a:ln w="31750">
            <a:solidFill>
              <a:srgbClr val="111111"/>
            </a:solidFill>
            <a:prstDash val="solid"/>
          </a:ln>
        </p:spPr>
      </p:sp>
      <p:pic>
        <p:nvPicPr>
          <p:cNvPr id="16" name="Portada authority" descr="Portada authority">    </p:cNvPr>
          <p:cNvPicPr>
            <a:picLocks noChangeAspect="1"/>
          </p:cNvPicPr>
          <p:nvPr/>
        </p:nvPicPr>
        <p:blipFill>
          <a:blip r:embed="rId2"/>
          <a:stretch>
            <a:fillRect/>
          </a:stretch>
        </p:blipFill>
        <p:spPr>
          <a:xfrm rot="-120000">
            <a:off x="845820" y="3931920"/>
            <a:ext cx="1280160" cy="1984248"/>
          </a:xfrm>
          <a:prstGeom prst="rect">
            <a:avLst/>
          </a:prstGeom>
        </p:spPr>
      </p:pic>
      <p:sp>
        <p:nvSpPr>
          <p:cNvPr id="17" name="Shape 13"/>
          <p:cNvSpPr/>
          <p:nvPr/>
        </p:nvSpPr>
        <p:spPr>
          <a:xfrm rot="90000">
            <a:off x="2336292" y="3886200"/>
            <a:ext cx="1371600" cy="2075688"/>
          </a:xfrm>
          <a:prstGeom prst="rect">
            <a:avLst/>
          </a:prstGeom>
          <a:solidFill>
            <a:srgbClr val="FFFFFF"/>
          </a:solidFill>
          <a:ln w="31750">
            <a:solidFill>
              <a:srgbClr val="111111"/>
            </a:solidFill>
            <a:prstDash val="solid"/>
          </a:ln>
        </p:spPr>
      </p:sp>
      <p:pic>
        <p:nvPicPr>
          <p:cNvPr id="18" name="Portada action" descr="Portada action">    </p:cNvPr>
          <p:cNvPicPr>
            <a:picLocks noChangeAspect="1"/>
          </p:cNvPicPr>
          <p:nvPr/>
        </p:nvPicPr>
        <p:blipFill>
          <a:blip r:embed="rId3"/>
          <a:stretch>
            <a:fillRect/>
          </a:stretch>
        </p:blipFill>
        <p:spPr>
          <a:xfrm rot="90000">
            <a:off x="2382012" y="3931920"/>
            <a:ext cx="1280160" cy="1984248"/>
          </a:xfrm>
          <a:prstGeom prst="rect">
            <a:avLst/>
          </a:prstGeom>
        </p:spPr>
      </p:pic>
      <p:sp>
        <p:nvSpPr>
          <p:cNvPr id="19" name="Shape 14"/>
          <p:cNvSpPr/>
          <p:nvPr/>
        </p:nvSpPr>
        <p:spPr>
          <a:xfrm rot="-60000">
            <a:off x="3872484" y="3886200"/>
            <a:ext cx="1371600" cy="2075688"/>
          </a:xfrm>
          <a:prstGeom prst="rect">
            <a:avLst/>
          </a:prstGeom>
          <a:solidFill>
            <a:srgbClr val="FFFFFF"/>
          </a:solidFill>
          <a:ln w="31750">
            <a:solidFill>
              <a:srgbClr val="111111"/>
            </a:solidFill>
            <a:prstDash val="solid"/>
          </a:ln>
        </p:spPr>
      </p:sp>
      <p:pic>
        <p:nvPicPr>
          <p:cNvPr id="20" name="Portada ultimates" descr="Portada ultimates">    </p:cNvPr>
          <p:cNvPicPr>
            <a:picLocks noChangeAspect="1"/>
          </p:cNvPicPr>
          <p:nvPr/>
        </p:nvPicPr>
        <p:blipFill>
          <a:blip r:embed="rId4"/>
          <a:stretch>
            <a:fillRect/>
          </a:stretch>
        </p:blipFill>
        <p:spPr>
          <a:xfrm rot="-60000">
            <a:off x="3918204" y="3931920"/>
            <a:ext cx="1280160" cy="1984248"/>
          </a:xfrm>
          <a:prstGeom prst="rect">
            <a:avLst/>
          </a:prstGeom>
        </p:spPr>
      </p:pic>
      <p:sp>
        <p:nvSpPr>
          <p:cNvPr id="21" name="Shape 15"/>
          <p:cNvSpPr/>
          <p:nvPr/>
        </p:nvSpPr>
        <p:spPr>
          <a:xfrm rot="120000">
            <a:off x="5408676" y="3886200"/>
            <a:ext cx="1371600" cy="2075688"/>
          </a:xfrm>
          <a:prstGeom prst="rect">
            <a:avLst/>
          </a:prstGeom>
          <a:solidFill>
            <a:srgbClr val="FFFFFF"/>
          </a:solidFill>
          <a:ln w="31750">
            <a:solidFill>
              <a:srgbClr val="111111"/>
            </a:solidFill>
            <a:prstDash val="solid"/>
          </a:ln>
        </p:spPr>
      </p:sp>
      <p:pic>
        <p:nvPicPr>
          <p:cNvPr id="22" name="Portada identity" descr="Portada identity">    </p:cNvPr>
          <p:cNvPicPr>
            <a:picLocks noChangeAspect="1"/>
          </p:cNvPicPr>
          <p:nvPr/>
        </p:nvPicPr>
        <p:blipFill>
          <a:blip r:embed="rId5"/>
          <a:stretch>
            <a:fillRect/>
          </a:stretch>
        </p:blipFill>
        <p:spPr>
          <a:xfrm rot="120000">
            <a:off x="5454396" y="3931920"/>
            <a:ext cx="1280160" cy="1984248"/>
          </a:xfrm>
          <a:prstGeom prst="rect">
            <a:avLst/>
          </a:prstGeom>
        </p:spPr>
      </p:pic>
      <p:sp>
        <p:nvSpPr>
          <p:cNvPr id="23" name="Shape 16"/>
          <p:cNvSpPr/>
          <p:nvPr/>
        </p:nvSpPr>
        <p:spPr>
          <a:xfrm rot="-90000">
            <a:off x="6944868" y="3886200"/>
            <a:ext cx="1371600" cy="2075688"/>
          </a:xfrm>
          <a:prstGeom prst="rect">
            <a:avLst/>
          </a:prstGeom>
          <a:solidFill>
            <a:srgbClr val="FFFFFF"/>
          </a:solidFill>
          <a:ln w="31750">
            <a:solidFill>
              <a:srgbClr val="111111"/>
            </a:solidFill>
            <a:prstDash val="solid"/>
          </a:ln>
        </p:spPr>
      </p:sp>
      <p:pic>
        <p:nvPicPr>
          <p:cNvPr id="24" name="Portada infinite" descr="Portada infinite">    </p:cNvPr>
          <p:cNvPicPr>
            <a:picLocks noChangeAspect="1"/>
          </p:cNvPicPr>
          <p:nvPr/>
        </p:nvPicPr>
        <p:blipFill>
          <a:blip r:embed="rId6"/>
          <a:stretch>
            <a:fillRect/>
          </a:stretch>
        </p:blipFill>
        <p:spPr>
          <a:xfrm rot="-90000">
            <a:off x="6990588" y="3931920"/>
            <a:ext cx="1280160" cy="1984248"/>
          </a:xfrm>
          <a:prstGeom prst="rect">
            <a:avLst/>
          </a:prstGeom>
        </p:spPr>
      </p:pic>
      <p:sp>
        <p:nvSpPr>
          <p:cNvPr id="25" name="Shape 17"/>
          <p:cNvSpPr/>
          <p:nvPr/>
        </p:nvSpPr>
        <p:spPr>
          <a:xfrm rot="60000">
            <a:off x="8481060" y="3886200"/>
            <a:ext cx="1371600" cy="2075688"/>
          </a:xfrm>
          <a:prstGeom prst="rect">
            <a:avLst/>
          </a:prstGeom>
          <a:solidFill>
            <a:srgbClr val="FFFFFF"/>
          </a:solidFill>
          <a:ln w="31750">
            <a:solidFill>
              <a:srgbClr val="111111"/>
            </a:solidFill>
            <a:prstDash val="solid"/>
          </a:ln>
        </p:spPr>
      </p:sp>
      <p:pic>
        <p:nvPicPr>
          <p:cNvPr id="26" name="Portada civil" descr="Portada civil">    </p:cNvPr>
          <p:cNvPicPr>
            <a:picLocks noChangeAspect="1"/>
          </p:cNvPicPr>
          <p:nvPr/>
        </p:nvPicPr>
        <p:blipFill>
          <a:blip r:embed="rId7"/>
          <a:stretch>
            <a:fillRect/>
          </a:stretch>
        </p:blipFill>
        <p:spPr>
          <a:xfrm rot="60000">
            <a:off x="8526780" y="3931920"/>
            <a:ext cx="1280160" cy="1984248"/>
          </a:xfrm>
          <a:prstGeom prst="rect">
            <a:avLst/>
          </a:prstGeom>
        </p:spPr>
      </p:pic>
      <p:sp>
        <p:nvSpPr>
          <p:cNvPr id="27" name="Shape 18"/>
          <p:cNvSpPr/>
          <p:nvPr/>
        </p:nvSpPr>
        <p:spPr>
          <a:xfrm rot="-120000">
            <a:off x="10017252" y="3886200"/>
            <a:ext cx="1371600" cy="2075688"/>
          </a:xfrm>
          <a:prstGeom prst="rect">
            <a:avLst/>
          </a:prstGeom>
          <a:solidFill>
            <a:srgbClr val="FFFFFF"/>
          </a:solidFill>
          <a:ln w="31750">
            <a:solidFill>
              <a:srgbClr val="111111"/>
            </a:solidFill>
            <a:prstDash val="solid"/>
          </a:ln>
        </p:spPr>
      </p:sp>
      <p:pic>
        <p:nvPicPr>
          <p:cNvPr id="28" name="Portada secret" descr="Portada secret">    </p:cNvPr>
          <p:cNvPicPr>
            <a:picLocks noChangeAspect="1"/>
          </p:cNvPicPr>
          <p:nvPr/>
        </p:nvPicPr>
        <p:blipFill>
          <a:blip r:embed="rId8"/>
          <a:stretch>
            <a:fillRect/>
          </a:stretch>
        </p:blipFill>
        <p:spPr>
          <a:xfrm rot="-120000">
            <a:off x="10062972" y="3931920"/>
            <a:ext cx="1280160" cy="1984248"/>
          </a:xfrm>
          <a:prstGeom prst="rect">
            <a:avLst/>
          </a:prstGeom>
        </p:spPr>
      </p:pic>
      <p:sp>
        <p:nvSpPr>
          <p:cNvPr id="29" name="Text 19"/>
          <p:cNvSpPr txBox="1"/>
          <p:nvPr/>
        </p:nvSpPr>
        <p:spPr>
          <a:xfrm>
            <a:off x="457200" y="6053328"/>
            <a:ext cx="11247120" cy="32004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Alejo Tomás Ortega</a:t>
            </a:r>
            <a:pPr indent="0" marL="0">
              <a:buNone/>
            </a:pPr>
            <a:r>
              <a:rPr lang="en-US" sz="1500" dirty="0">
                <a:solidFill>
                  <a:srgbClr val="111111"/>
                </a:solidFill>
                <a:latin typeface="Arial" pitchFamily="34" charset="0"/>
                <a:ea typeface="Arial" pitchFamily="34" charset="-122"/>
                <a:cs typeface="Arial" pitchFamily="34" charset="-120"/>
              </a:rPr>
              <a:t>  ·  Estudiante avanzado Lic. en Sociología (FSOC-UBA)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625559"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01. PROBLEMA Y MARCO TEÓRICO</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02 / 15</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Planteo del problema y marco teórico</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CÓMICS DE SUPERHÉROES · 1990–2010 ]</a:t>
            </a:r>
            <a:endParaRPr lang="en-US" sz="900" dirty="0"/>
          </a:p>
        </p:txBody>
      </p:sp>
      <p:sp>
        <p:nvSpPr>
          <p:cNvPr id="13" name="Shape 10"/>
          <p:cNvSpPr/>
          <p:nvPr/>
        </p:nvSpPr>
        <p:spPr>
          <a:xfrm>
            <a:off x="530352" y="1581912"/>
            <a:ext cx="5852160" cy="3017520"/>
          </a:xfrm>
          <a:prstGeom prst="rect">
            <a:avLst/>
          </a:prstGeom>
          <a:solidFill>
            <a:srgbClr val="111111"/>
          </a:solidFill>
          <a:ln w="12700">
            <a:solidFill>
              <a:srgbClr val="111111"/>
            </a:solidFill>
            <a:prstDash val="solid"/>
          </a:ln>
        </p:spPr>
      </p:sp>
      <p:sp>
        <p:nvSpPr>
          <p:cNvPr id="14" name="Shape 11"/>
          <p:cNvSpPr/>
          <p:nvPr/>
        </p:nvSpPr>
        <p:spPr>
          <a:xfrm>
            <a:off x="457200" y="1508760"/>
            <a:ext cx="5852160" cy="3017520"/>
          </a:xfrm>
          <a:prstGeom prst="rect">
            <a:avLst/>
          </a:prstGeom>
          <a:solidFill>
            <a:srgbClr val="FFFFFF"/>
          </a:solidFill>
          <a:ln w="31750">
            <a:solidFill>
              <a:srgbClr val="111111"/>
            </a:solidFill>
            <a:prstDash val="solid"/>
          </a:ln>
        </p:spPr>
      </p:sp>
      <p:sp>
        <p:nvSpPr>
          <p:cNvPr id="15" name="Text 12"/>
          <p:cNvSpPr txBox="1"/>
          <p:nvPr/>
        </p:nvSpPr>
        <p:spPr>
          <a:xfrm>
            <a:off x="685800" y="1691640"/>
            <a:ext cx="118872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PREGUNTA</a:t>
            </a:r>
            <a:endParaRPr lang="en-US" sz="1000" dirty="0"/>
          </a:p>
        </p:txBody>
      </p:sp>
      <p:sp>
        <p:nvSpPr>
          <p:cNvPr id="16" name="Text 13"/>
          <p:cNvSpPr txBox="1"/>
          <p:nvPr/>
        </p:nvSpPr>
        <p:spPr>
          <a:xfrm>
            <a:off x="685800" y="2057400"/>
            <a:ext cx="5394960" cy="118872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¿De qué manera el género de superhéroes, en tanto texto cultural de la sociedad estadounidense, se vio afectado por el atentado del 11S?</a:t>
            </a:r>
            <a:endParaRPr lang="en-US" sz="1700" dirty="0"/>
          </a:p>
        </p:txBody>
      </p:sp>
      <p:sp>
        <p:nvSpPr>
          <p:cNvPr id="17" name="Text 14"/>
          <p:cNvSpPr txBox="1"/>
          <p:nvPr/>
        </p:nvSpPr>
        <p:spPr>
          <a:xfrm>
            <a:off x="685800" y="3291840"/>
            <a:ext cx="5394960" cy="114300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rgbClr val="111111"/>
                </a:solidFill>
                <a:latin typeface="Arial" pitchFamily="34" charset="0"/>
                <a:ea typeface="Arial" pitchFamily="34" charset="-122"/>
                <a:cs typeface="Arial" pitchFamily="34" charset="-120"/>
              </a:rPr>
              <a:t>General: </a:t>
            </a:r>
            <a:pPr indent="0" marL="0">
              <a:spcAft>
                <a:spcPts val="600"/>
              </a:spcAft>
              <a:buNone/>
            </a:pPr>
            <a:r>
              <a:rPr lang="en-US" sz="1400" dirty="0">
                <a:solidFill>
                  <a:srgbClr val="111111"/>
                </a:solidFill>
                <a:latin typeface="Arial" pitchFamily="34" charset="0"/>
                <a:ea typeface="Arial" pitchFamily="34" charset="-122"/>
                <a:cs typeface="Arial" pitchFamily="34" charset="-120"/>
              </a:rPr>
              <a:t>comprender los desplazamientos temáticos y estéticos entre 1990 y 2010</a:t>
            </a:r>
            <a:endParaRPr lang="en-US" sz="1400" dirty="0"/>
          </a:p>
          <a:p>
            <a:pPr marL="203200" indent="-203200">
              <a:spcAft>
                <a:spcPts val="600"/>
              </a:spcAft>
              <a:buSzPct val="100000"/>
              <a:buChar char="•"/>
            </a:pPr>
            <a:r>
              <a:rPr lang="en-US" sz="1400" b="1" dirty="0">
                <a:solidFill>
                  <a:srgbClr val="111111"/>
                </a:solidFill>
                <a:latin typeface="Arial" pitchFamily="34" charset="0"/>
                <a:ea typeface="Arial" pitchFamily="34" charset="-122"/>
                <a:cs typeface="Arial" pitchFamily="34" charset="-120"/>
              </a:rPr>
              <a:t>Específicos: </a:t>
            </a:r>
            <a:pPr indent="0" marL="0">
              <a:spcAft>
                <a:spcPts val="600"/>
              </a:spcAft>
              <a:buNone/>
            </a:pPr>
            <a:r>
              <a:rPr lang="en-US" sz="1400" dirty="0">
                <a:solidFill>
                  <a:srgbClr val="111111"/>
                </a:solidFill>
                <a:latin typeface="Arial" pitchFamily="34" charset="0"/>
                <a:ea typeface="Arial" pitchFamily="34" charset="-122"/>
                <a:cs typeface="Arial" pitchFamily="34" charset="-120"/>
              </a:rPr>
              <a:t>recuperar el estado de la industria en los '90 y analizar las respuestas de DC y Marvel</a:t>
            </a:r>
            <a:endParaRPr lang="en-US" sz="1400" dirty="0"/>
          </a:p>
        </p:txBody>
      </p:sp>
      <p:sp>
        <p:nvSpPr>
          <p:cNvPr id="18" name="Shape 15"/>
          <p:cNvSpPr/>
          <p:nvPr/>
        </p:nvSpPr>
        <p:spPr>
          <a:xfrm>
            <a:off x="6611112" y="1581912"/>
            <a:ext cx="5193792" cy="1417320"/>
          </a:xfrm>
          <a:prstGeom prst="rect">
            <a:avLst/>
          </a:prstGeom>
          <a:solidFill>
            <a:srgbClr val="111111"/>
          </a:solidFill>
          <a:ln w="12700">
            <a:solidFill>
              <a:srgbClr val="111111"/>
            </a:solidFill>
            <a:prstDash val="solid"/>
          </a:ln>
        </p:spPr>
      </p:sp>
      <p:sp>
        <p:nvSpPr>
          <p:cNvPr id="19" name="Shape 16"/>
          <p:cNvSpPr/>
          <p:nvPr/>
        </p:nvSpPr>
        <p:spPr>
          <a:xfrm>
            <a:off x="6537960" y="1508760"/>
            <a:ext cx="5193792" cy="1417320"/>
          </a:xfrm>
          <a:prstGeom prst="rect">
            <a:avLst/>
          </a:prstGeom>
          <a:solidFill>
            <a:srgbClr val="FFFFFF"/>
          </a:solidFill>
          <a:ln w="31750">
            <a:solidFill>
              <a:srgbClr val="111111"/>
            </a:solidFill>
            <a:prstDash val="solid"/>
          </a:ln>
        </p:spPr>
      </p:sp>
      <p:sp>
        <p:nvSpPr>
          <p:cNvPr id="20" name="Text 17"/>
          <p:cNvSpPr txBox="1"/>
          <p:nvPr/>
        </p:nvSpPr>
        <p:spPr>
          <a:xfrm>
            <a:off x="6766560" y="1645920"/>
            <a:ext cx="4754880" cy="114300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Todorov (1988)</a:t>
            </a:r>
            <a:endParaRPr lang="en-US" sz="1600" dirty="0"/>
          </a:p>
          <a:p>
            <a:pPr indent="0" marL="0">
              <a:buNone/>
            </a:pPr>
            <a:r>
              <a:rPr lang="en-US" sz="1600" dirty="0">
                <a:solidFill>
                  <a:srgbClr val="111111"/>
                </a:solidFill>
                <a:latin typeface="Arial" pitchFamily="34" charset="0"/>
                <a:ea typeface="Arial" pitchFamily="34" charset="-122"/>
                <a:cs typeface="Arial" pitchFamily="34" charset="-120"/>
              </a:rPr>
              <a:t>El género como matriz de reproducción de los valores sociales.</a:t>
            </a:r>
            <a:endParaRPr lang="en-US" sz="1600" dirty="0"/>
          </a:p>
        </p:txBody>
      </p:sp>
      <p:sp>
        <p:nvSpPr>
          <p:cNvPr id="21" name="Shape 18"/>
          <p:cNvSpPr/>
          <p:nvPr/>
        </p:nvSpPr>
        <p:spPr>
          <a:xfrm>
            <a:off x="6611112" y="3182112"/>
            <a:ext cx="5193792" cy="1417320"/>
          </a:xfrm>
          <a:prstGeom prst="rect">
            <a:avLst/>
          </a:prstGeom>
          <a:solidFill>
            <a:srgbClr val="111111"/>
          </a:solidFill>
          <a:ln w="12700">
            <a:solidFill>
              <a:srgbClr val="111111"/>
            </a:solidFill>
            <a:prstDash val="solid"/>
          </a:ln>
        </p:spPr>
      </p:sp>
      <p:sp>
        <p:nvSpPr>
          <p:cNvPr id="22" name="Shape 19"/>
          <p:cNvSpPr/>
          <p:nvPr/>
        </p:nvSpPr>
        <p:spPr>
          <a:xfrm>
            <a:off x="6537960" y="3108960"/>
            <a:ext cx="5193792" cy="1417320"/>
          </a:xfrm>
          <a:prstGeom prst="rect">
            <a:avLst/>
          </a:prstGeom>
          <a:solidFill>
            <a:srgbClr val="FFFFFF"/>
          </a:solidFill>
          <a:ln w="31750">
            <a:solidFill>
              <a:srgbClr val="111111"/>
            </a:solidFill>
            <a:prstDash val="solid"/>
          </a:ln>
        </p:spPr>
      </p:sp>
      <p:sp>
        <p:nvSpPr>
          <p:cNvPr id="23" name="Text 20"/>
          <p:cNvSpPr txBox="1"/>
          <p:nvPr/>
        </p:nvSpPr>
        <p:spPr>
          <a:xfrm>
            <a:off x="6766560" y="3246120"/>
            <a:ext cx="4754880" cy="118872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Jameson (1989)</a:t>
            </a:r>
            <a:endParaRPr lang="en-US" sz="1500" dirty="0"/>
          </a:p>
          <a:p>
            <a:pPr indent="0" marL="0">
              <a:buNone/>
            </a:pPr>
            <a:r>
              <a:rPr lang="en-US" sz="1500" dirty="0">
                <a:solidFill>
                  <a:srgbClr val="111111"/>
                </a:solidFill>
                <a:latin typeface="Arial" pitchFamily="34" charset="0"/>
                <a:ea typeface="Arial" pitchFamily="34" charset="-122"/>
                <a:cs typeface="Arial" pitchFamily="34" charset="-120"/>
              </a:rPr>
              <a:t>El texto cultural como acto socialmente simbólico que procesa, y a veces resuelve, las contradicciones de su momento histórico.</a:t>
            </a:r>
            <a:endParaRPr lang="en-US" sz="1500" dirty="0"/>
          </a:p>
        </p:txBody>
      </p:sp>
      <p:sp>
        <p:nvSpPr>
          <p:cNvPr id="24" name="Shape 21"/>
          <p:cNvSpPr/>
          <p:nvPr/>
        </p:nvSpPr>
        <p:spPr>
          <a:xfrm>
            <a:off x="530352" y="4828032"/>
            <a:ext cx="11274552" cy="1463040"/>
          </a:xfrm>
          <a:prstGeom prst="rect">
            <a:avLst/>
          </a:prstGeom>
          <a:solidFill>
            <a:srgbClr val="111111"/>
          </a:solidFill>
          <a:ln w="12700">
            <a:solidFill>
              <a:srgbClr val="111111"/>
            </a:solidFill>
            <a:prstDash val="solid"/>
          </a:ln>
        </p:spPr>
      </p:sp>
      <p:sp>
        <p:nvSpPr>
          <p:cNvPr id="25" name="Shape 22"/>
          <p:cNvSpPr/>
          <p:nvPr/>
        </p:nvSpPr>
        <p:spPr>
          <a:xfrm>
            <a:off x="457200" y="4754880"/>
            <a:ext cx="11274552" cy="1463040"/>
          </a:xfrm>
          <a:prstGeom prst="rect">
            <a:avLst/>
          </a:prstGeom>
          <a:solidFill>
            <a:srgbClr val="FFF1A8"/>
          </a:solidFill>
          <a:ln w="31750">
            <a:solidFill>
              <a:srgbClr val="111111"/>
            </a:solidFill>
            <a:prstDash val="solid"/>
          </a:ln>
        </p:spPr>
      </p:sp>
      <p:sp>
        <p:nvSpPr>
          <p:cNvPr id="26" name="Text 23"/>
          <p:cNvSpPr txBox="1"/>
          <p:nvPr/>
        </p:nvSpPr>
        <p:spPr>
          <a:xfrm>
            <a:off x="685800" y="4919472"/>
            <a:ext cx="118872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HIPÓTESIS</a:t>
            </a:r>
            <a:endParaRPr lang="en-US" sz="1000" dirty="0"/>
          </a:p>
        </p:txBody>
      </p:sp>
      <p:sp>
        <p:nvSpPr>
          <p:cNvPr id="27" name="Text 24"/>
          <p:cNvSpPr txBox="1"/>
          <p:nvPr/>
        </p:nvSpPr>
        <p:spPr>
          <a:xfrm>
            <a:off x="685800" y="5285232"/>
            <a:ext cx="10789920" cy="8229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El género es una institución que reproduce los valores dominantes de su contexto: </a:t>
            </a:r>
            <a:pPr indent="0" marL="0">
              <a:buNone/>
            </a:pPr>
            <a:r>
              <a:rPr lang="en-US" sz="1600" b="1" dirty="0">
                <a:solidFill>
                  <a:srgbClr val="111111"/>
                </a:solidFill>
                <a:latin typeface="Arial" pitchFamily="34" charset="0"/>
                <a:ea typeface="Arial" pitchFamily="34" charset="-122"/>
                <a:cs typeface="Arial" pitchFamily="34" charset="-120"/>
              </a:rPr>
              <a:t>militarización del Estado, excepcionalidad norteamericana y primacía de la seguridad por sobre las libertades civiles.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Fondo La muerte de Superman" descr="La muerte de Superman">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45000"/>
            </a:srgbClr>
          </a:solidFill>
          <a:ln w="12700">
            <a:solidFill>
              <a:srgbClr val="000000"/>
            </a:solidFill>
            <a:prstDash val="solid"/>
          </a:ln>
        </p:spPr>
      </p:sp>
      <p:sp>
        <p:nvSpPr>
          <p:cNvPr id="4" name="Progreso"/>
          <p:cNvSpPr/>
          <p:nvPr/>
        </p:nvSpPr>
        <p:spPr>
          <a:xfrm>
            <a:off x="0" y="0"/>
            <a:ext cx="2438339"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02. CONTEXTO · LOS AÑOS '90</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03 / 15</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3093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3093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309360" cy="5486400"/>
          </a:xfrm>
          <a:prstGeom prst="rect">
            <a:avLst/>
          </a:prstGeom>
        </p:spPr>
      </p:pic>
      <p:sp>
        <p:nvSpPr>
          <p:cNvPr id="13" name="Text 9"/>
          <p:cNvSpPr txBox="1"/>
          <p:nvPr/>
        </p:nvSpPr>
        <p:spPr>
          <a:xfrm>
            <a:off x="777240" y="914400"/>
            <a:ext cx="56692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MERCADO ESPECULATIVO, COLAPSO Y REFUNDACIÓN ]</a:t>
            </a:r>
            <a:endParaRPr lang="en-US" sz="1000" dirty="0"/>
          </a:p>
        </p:txBody>
      </p:sp>
      <p:sp>
        <p:nvSpPr>
          <p:cNvPr id="14" name="Text 10"/>
          <p:cNvSpPr txBox="1"/>
          <p:nvPr/>
        </p:nvSpPr>
        <p:spPr>
          <a:xfrm>
            <a:off x="777240" y="1207008"/>
            <a:ext cx="56692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Los años '90: boom especulativo y colapso</a:t>
            </a:r>
            <a:endParaRPr lang="en-US" sz="2800" dirty="0"/>
          </a:p>
        </p:txBody>
      </p:sp>
      <p:sp>
        <p:nvSpPr>
          <p:cNvPr id="15" name="Text 11"/>
          <p:cNvSpPr txBox="1"/>
          <p:nvPr/>
        </p:nvSpPr>
        <p:spPr>
          <a:xfrm>
            <a:off x="777240" y="2148840"/>
            <a:ext cx="56692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WRIGHT (2001) · JURGENS ET AL. (2019)</a:t>
            </a:r>
            <a:endParaRPr lang="en-US" sz="1000" dirty="0"/>
          </a:p>
        </p:txBody>
      </p:sp>
      <p:sp>
        <p:nvSpPr>
          <p:cNvPr id="16" name="Text 12"/>
          <p:cNvSpPr txBox="1"/>
          <p:nvPr/>
        </p:nvSpPr>
        <p:spPr>
          <a:xfrm>
            <a:off x="777240" y="2560320"/>
            <a:ext cx="5669280" cy="338328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Apertura adulta: </a:t>
            </a:r>
            <a:pPr indent="0" marL="0">
              <a:spcAft>
                <a:spcPts val="900"/>
              </a:spcAft>
              <a:buNone/>
            </a:pPr>
            <a:r>
              <a:rPr lang="en-US" sz="1700" dirty="0">
                <a:solidFill>
                  <a:srgbClr val="FFFFFF"/>
                </a:solidFill>
                <a:latin typeface="Arial" pitchFamily="34" charset="0"/>
                <a:ea typeface="Arial" pitchFamily="34" charset="-122"/>
                <a:cs typeface="Arial" pitchFamily="34" charset="-120"/>
              </a:rPr>
              <a:t>Watchmen y The Dark Knight Returns; Marvel cotiza en Wall Street (1991)</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Especulación: </a:t>
            </a:r>
            <a:pPr indent="0" marL="0">
              <a:spcAft>
                <a:spcPts val="900"/>
              </a:spcAft>
              <a:buNone/>
            </a:pPr>
            <a:r>
              <a:rPr lang="en-US" sz="1700" dirty="0">
                <a:solidFill>
                  <a:srgbClr val="FFFFFF"/>
                </a:solidFill>
                <a:latin typeface="Arial" pitchFamily="34" charset="0"/>
                <a:ea typeface="Arial" pitchFamily="34" charset="-122"/>
                <a:cs typeface="Arial" pitchFamily="34" charset="-120"/>
              </a:rPr>
              <a:t>portadas variantes, crossovers obligatorios y ventas que miden unidades compradas, no lectores</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1992: </a:t>
            </a:r>
            <a:pPr indent="0" marL="0">
              <a:spcAft>
                <a:spcPts val="900"/>
              </a:spcAft>
              <a:buNone/>
            </a:pPr>
            <a:r>
              <a:rPr lang="en-US" sz="1700" dirty="0">
                <a:solidFill>
                  <a:srgbClr val="FFFFFF"/>
                </a:solidFill>
                <a:latin typeface="Arial" pitchFamily="34" charset="0"/>
                <a:ea typeface="Arial" pitchFamily="34" charset="-122"/>
                <a:cs typeface="Arial" pitchFamily="34" charset="-120"/>
              </a:rPr>
              <a:t>DC mata a Superman; Image Comics la desplaza brevemente del segundo lugar</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Refundación: </a:t>
            </a:r>
            <a:pPr indent="0" marL="0">
              <a:spcAft>
                <a:spcPts val="900"/>
              </a:spcAft>
              <a:buNone/>
            </a:pPr>
            <a:r>
              <a:rPr lang="en-US" sz="1700" dirty="0">
                <a:solidFill>
                  <a:srgbClr val="FFFFFF"/>
                </a:solidFill>
                <a:latin typeface="Arial" pitchFamily="34" charset="0"/>
                <a:ea typeface="Arial" pitchFamily="34" charset="-122"/>
                <a:cs typeface="Arial" pitchFamily="34" charset="-120"/>
              </a:rPr>
              <a:t>Marvel Knights (1998) y el sello Ultimate, tras un pastiche de Moore, Morrison y Miller</a:t>
            </a:r>
            <a:endParaRPr lang="en-US" sz="1700" dirty="0"/>
          </a:p>
        </p:txBody>
      </p:sp>
      <p:sp>
        <p:nvSpPr>
          <p:cNvPr id="17" name="Text 13"/>
          <p:cNvSpPr txBox="1"/>
          <p:nvPr/>
        </p:nvSpPr>
        <p:spPr>
          <a:xfrm>
            <a:off x="7132320" y="5989320"/>
            <a:ext cx="4602175" cy="274320"/>
          </a:xfrm>
          <a:prstGeom prst="rect">
            <a:avLst/>
          </a:prstGeom>
          <a:noFill/>
          <a:ln/>
        </p:spPr>
        <p:txBody>
          <a:bodyPr wrap="square" lIns="0" tIns="0" rIns="0" bIns="0" rtlCol="0" anchor="ctr"/>
          <a:lstStyle/>
          <a:p>
            <a:pPr algn="r" indent="0" marL="0">
              <a:buNone/>
            </a:pPr>
            <a:r>
              <a:rPr lang="en-US" sz="900" dirty="0">
                <a:solidFill>
                  <a:srgbClr val="FFFFFF"/>
                </a:solidFill>
                <a:latin typeface="Arial" pitchFamily="34" charset="0"/>
                <a:ea typeface="Arial" pitchFamily="34" charset="-122"/>
                <a:cs typeface="Arial" pitchFamily="34" charset="-120"/>
              </a:rPr>
              <a:t>La muerte de Superman (DC, 1992)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3251119"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03. APARTADO METODOLÓGICO · CORPUS</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04 / 15</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Diseño y muestra: siete casos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MUESTREO INTENCIONAL · N = 7 ]</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7040880" cy="914400"/>
        </p:xfrm>
        <a:graphic>
          <a:graphicData uri="http://schemas.openxmlformats.org/drawingml/2006/table">
            <a:tbl>
              <a:tblPr/>
              <a:tblGrid>
                <a:gridCol w="1920240"/>
                <a:gridCol w="2194560"/>
                <a:gridCol w="1097280"/>
                <a:gridCol w="1005840"/>
                <a:gridCol w="822960"/>
              </a:tblGrid>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Obra</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Autoría</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Editorial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Año</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Dim.</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The Authority (1–12)</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Ellis y Hitch</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WildStorm</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1999</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Action Comics #775</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Kelly, Mahnke y Bermejo</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DC</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2001</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 y 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The Ultimates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Millar y Hitch</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Marvel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2002–04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1 y 2</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Identity Crisis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Meltzer y Morales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DC</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2005</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Infinite Crisis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Johns et al.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DC</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2006</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Civil War</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Millar y McNiven</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Marvel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2006</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11111"/>
                          </a:solidFill>
                          <a:latin typeface="Arial" pitchFamily="34" charset="0"/>
                          <a:ea typeface="Arial" pitchFamily="34" charset="-122"/>
                          <a:cs typeface="Arial" pitchFamily="34" charset="-120"/>
                        </a:rPr>
                        <a:t>Secret Invasion</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Bendis y Yu</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Marvel</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2008</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2 y 3</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bl>
          </a:graphicData>
        </a:graphic>
      </p:graphicFrame>
      <p:sp>
        <p:nvSpPr>
          <p:cNvPr id="14" name="Shape 10"/>
          <p:cNvSpPr/>
          <p:nvPr/>
        </p:nvSpPr>
        <p:spPr>
          <a:xfrm>
            <a:off x="530352" y="5285232"/>
            <a:ext cx="7040880" cy="1005840"/>
          </a:xfrm>
          <a:prstGeom prst="rect">
            <a:avLst/>
          </a:prstGeom>
          <a:solidFill>
            <a:srgbClr val="111111"/>
          </a:solidFill>
          <a:ln w="12700">
            <a:solidFill>
              <a:srgbClr val="111111"/>
            </a:solidFill>
            <a:prstDash val="solid"/>
          </a:ln>
        </p:spPr>
      </p:sp>
      <p:sp>
        <p:nvSpPr>
          <p:cNvPr id="15" name="Shape 11"/>
          <p:cNvSpPr/>
          <p:nvPr/>
        </p:nvSpPr>
        <p:spPr>
          <a:xfrm>
            <a:off x="457200" y="5212080"/>
            <a:ext cx="7040880" cy="1005840"/>
          </a:xfrm>
          <a:prstGeom prst="rect">
            <a:avLst/>
          </a:prstGeom>
          <a:solidFill>
            <a:srgbClr val="FFF1A8"/>
          </a:solidFill>
          <a:ln w="31750">
            <a:solidFill>
              <a:srgbClr val="111111"/>
            </a:solidFill>
            <a:prstDash val="solid"/>
          </a:ln>
        </p:spPr>
      </p:sp>
      <p:sp>
        <p:nvSpPr>
          <p:cNvPr id="16" name="Text 12"/>
          <p:cNvSpPr txBox="1"/>
          <p:nvPr/>
        </p:nvSpPr>
        <p:spPr>
          <a:xfrm>
            <a:off x="640080" y="5303520"/>
            <a:ext cx="6675120" cy="82296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Límites: </a:t>
            </a:r>
            <a:pPr indent="0" marL="0">
              <a:buNone/>
            </a:pPr>
            <a:r>
              <a:rPr lang="en-US" sz="1400" dirty="0">
                <a:solidFill>
                  <a:srgbClr val="111111"/>
                </a:solidFill>
                <a:latin typeface="Arial" pitchFamily="34" charset="0"/>
                <a:ea typeface="Arial" pitchFamily="34" charset="-122"/>
                <a:cs typeface="Arial" pitchFamily="34" charset="-120"/>
              </a:rPr>
              <a:t>no generalizable; solo producciones mainstream de Marvel y DC; no contempla la recepción de los lectores.</a:t>
            </a:r>
            <a:endParaRPr lang="en-US" sz="1400" dirty="0"/>
          </a:p>
        </p:txBody>
      </p:sp>
      <p:sp>
        <p:nvSpPr>
          <p:cNvPr id="17" name="Shape 13"/>
          <p:cNvSpPr/>
          <p:nvPr/>
        </p:nvSpPr>
        <p:spPr>
          <a:xfrm>
            <a:off x="7845552" y="1581912"/>
            <a:ext cx="3959352" cy="4709160"/>
          </a:xfrm>
          <a:prstGeom prst="rect">
            <a:avLst/>
          </a:prstGeom>
          <a:solidFill>
            <a:srgbClr val="111111"/>
          </a:solidFill>
          <a:ln w="12700">
            <a:solidFill>
              <a:srgbClr val="111111"/>
            </a:solidFill>
            <a:prstDash val="solid"/>
          </a:ln>
        </p:spPr>
      </p:sp>
      <p:sp>
        <p:nvSpPr>
          <p:cNvPr id="18" name="Shape 14"/>
          <p:cNvSpPr/>
          <p:nvPr/>
        </p:nvSpPr>
        <p:spPr>
          <a:xfrm>
            <a:off x="7772400" y="1508760"/>
            <a:ext cx="3959352" cy="4709160"/>
          </a:xfrm>
          <a:prstGeom prst="rect">
            <a:avLst/>
          </a:prstGeom>
          <a:solidFill>
            <a:srgbClr val="FFFFFF"/>
          </a:solidFill>
          <a:ln w="31750">
            <a:solidFill>
              <a:srgbClr val="111111"/>
            </a:solidFill>
            <a:prstDash val="solid"/>
          </a:ln>
        </p:spPr>
      </p:sp>
      <p:sp>
        <p:nvSpPr>
          <p:cNvPr id="19" name="Text 15"/>
          <p:cNvSpPr txBox="1"/>
          <p:nvPr/>
        </p:nvSpPr>
        <p:spPr>
          <a:xfrm>
            <a:off x="7955280" y="1664208"/>
            <a:ext cx="137160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ESTRATEGIA</a:t>
            </a:r>
            <a:endParaRPr lang="en-US" sz="1000" dirty="0"/>
          </a:p>
        </p:txBody>
      </p:sp>
      <p:sp>
        <p:nvSpPr>
          <p:cNvPr id="20" name="Text 16"/>
          <p:cNvSpPr txBox="1"/>
          <p:nvPr/>
        </p:nvSpPr>
        <p:spPr>
          <a:xfrm>
            <a:off x="7955280" y="2057400"/>
            <a:ext cx="3611880" cy="402336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rgbClr val="111111"/>
                </a:solidFill>
                <a:latin typeface="Arial" pitchFamily="34" charset="0"/>
                <a:ea typeface="Arial" pitchFamily="34" charset="-122"/>
                <a:cs typeface="Arial" pitchFamily="34" charset="-120"/>
              </a:rPr>
              <a:t>Diseño: </a:t>
            </a:r>
            <a:pPr indent="0" marL="0">
              <a:spcAft>
                <a:spcPts val="900"/>
              </a:spcAft>
              <a:buNone/>
            </a:pPr>
            <a:r>
              <a:rPr lang="en-US" sz="1500" dirty="0">
                <a:solidFill>
                  <a:srgbClr val="111111"/>
                </a:solidFill>
                <a:latin typeface="Arial" pitchFamily="34" charset="0"/>
                <a:ea typeface="Arial" pitchFamily="34" charset="-122"/>
                <a:cs typeface="Arial" pitchFamily="34" charset="-120"/>
              </a:rPr>
              <a:t>cualitativo, de estudios culturales</a:t>
            </a:r>
            <a:endParaRPr lang="en-US" sz="1500" dirty="0"/>
          </a:p>
          <a:p>
            <a:pPr marL="203200" indent="-203200">
              <a:spcAft>
                <a:spcPts val="900"/>
              </a:spcAft>
              <a:buSzPct val="100000"/>
              <a:buChar char="•"/>
            </a:pPr>
            <a:r>
              <a:rPr lang="en-US" sz="1500" b="1" dirty="0">
                <a:solidFill>
                  <a:srgbClr val="111111"/>
                </a:solidFill>
                <a:latin typeface="Arial" pitchFamily="34" charset="0"/>
                <a:ea typeface="Arial" pitchFamily="34" charset="-122"/>
                <a:cs typeface="Arial" pitchFamily="34" charset="-120"/>
              </a:rPr>
              <a:t>Criterios de la muestra: </a:t>
            </a:r>
            <a:pPr indent="0" marL="0">
              <a:spcAft>
                <a:spcPts val="900"/>
              </a:spcAft>
              <a:buNone/>
            </a:pPr>
            <a:r>
              <a:rPr lang="en-US" sz="1500" dirty="0">
                <a:solidFill>
                  <a:srgbClr val="111111"/>
                </a:solidFill>
                <a:latin typeface="Arial" pitchFamily="34" charset="0"/>
                <a:ea typeface="Arial" pitchFamily="34" charset="-122"/>
                <a:cs typeface="Arial" pitchFamily="34" charset="-120"/>
              </a:rPr>
              <a:t>centralidad para la crítica, contraste Marvel/DC y al menos una dimensión observable</a:t>
            </a:r>
            <a:endParaRPr lang="en-US" sz="1500" dirty="0"/>
          </a:p>
          <a:p>
            <a:pPr marL="203200" indent="-203200">
              <a:spcAft>
                <a:spcPts val="900"/>
              </a:spcAft>
              <a:buSzPct val="100000"/>
              <a:buChar char="•"/>
            </a:pPr>
            <a:r>
              <a:rPr lang="en-US" sz="1500" b="1" dirty="0">
                <a:solidFill>
                  <a:srgbClr val="111111"/>
                </a:solidFill>
                <a:latin typeface="Arial" pitchFamily="34" charset="0"/>
                <a:ea typeface="Arial" pitchFamily="34" charset="-122"/>
                <a:cs typeface="Arial" pitchFamily="34" charset="-120"/>
              </a:rPr>
              <a:t>Técnica: </a:t>
            </a:r>
            <a:pPr indent="0" marL="0">
              <a:spcAft>
                <a:spcPts val="900"/>
              </a:spcAft>
              <a:buNone/>
            </a:pPr>
            <a:r>
              <a:rPr lang="en-US" sz="1500" dirty="0">
                <a:solidFill>
                  <a:srgbClr val="111111"/>
                </a:solidFill>
                <a:latin typeface="Arial" pitchFamily="34" charset="0"/>
                <a:ea typeface="Arial" pitchFamily="34" charset="-122"/>
                <a:cs typeface="Arial" pitchFamily="34" charset="-120"/>
              </a:rPr>
              <a:t>análisis cualitativo de contenido del guión y lo visual, leído con Jameson</a:t>
            </a:r>
            <a:endParaRPr lang="en-US" sz="1500" dirty="0"/>
          </a:p>
          <a:p>
            <a:pPr marL="203200" indent="-203200">
              <a:spcAft>
                <a:spcPts val="900"/>
              </a:spcAft>
              <a:buSzPct val="100000"/>
              <a:buChar char="•"/>
            </a:pPr>
            <a:r>
              <a:rPr lang="en-US" sz="1500" b="1" dirty="0">
                <a:solidFill>
                  <a:srgbClr val="111111"/>
                </a:solidFill>
                <a:latin typeface="Arial" pitchFamily="34" charset="0"/>
                <a:ea typeface="Arial" pitchFamily="34" charset="-122"/>
                <a:cs typeface="Arial" pitchFamily="34" charset="-120"/>
              </a:rPr>
              <a:t>Triangulación: </a:t>
            </a:r>
            <a:pPr indent="0" marL="0">
              <a:spcAft>
                <a:spcPts val="900"/>
              </a:spcAft>
              <a:buNone/>
            </a:pPr>
            <a:r>
              <a:rPr lang="en-US" sz="1500" dirty="0">
                <a:solidFill>
                  <a:srgbClr val="111111"/>
                </a:solidFill>
                <a:latin typeface="Arial" pitchFamily="34" charset="0"/>
                <a:ea typeface="Arial" pitchFamily="34" charset="-122"/>
                <a:cs typeface="Arial" pitchFamily="34" charset="-120"/>
              </a:rPr>
              <a:t>Wright, Morrison, Dittmer, Faludi, Smith y Goodrum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4063898"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03. APARTADO METODOLÓGICO · DIMENSIONES</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05 / 15</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Cuatro dimensiones de análisis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DEDUCTIVAS · A PARTIR DE LA HIPÓTESIS ]</a:t>
            </a:r>
            <a:endParaRPr lang="en-US" sz="900" dirty="0"/>
          </a:p>
        </p:txBody>
      </p:sp>
      <p:sp>
        <p:nvSpPr>
          <p:cNvPr id="13" name="Shape 10"/>
          <p:cNvSpPr/>
          <p:nvPr/>
        </p:nvSpPr>
        <p:spPr>
          <a:xfrm>
            <a:off x="530352" y="1581912"/>
            <a:ext cx="5532120" cy="2286000"/>
          </a:xfrm>
          <a:prstGeom prst="rect">
            <a:avLst/>
          </a:prstGeom>
          <a:solidFill>
            <a:srgbClr val="111111"/>
          </a:solidFill>
          <a:ln w="12700">
            <a:solidFill>
              <a:srgbClr val="111111"/>
            </a:solidFill>
            <a:prstDash val="solid"/>
          </a:ln>
        </p:spPr>
      </p:sp>
      <p:sp>
        <p:nvSpPr>
          <p:cNvPr id="14" name="Shape 11"/>
          <p:cNvSpPr/>
          <p:nvPr/>
        </p:nvSpPr>
        <p:spPr>
          <a:xfrm>
            <a:off x="457200" y="1508760"/>
            <a:ext cx="5532120" cy="2286000"/>
          </a:xfrm>
          <a:prstGeom prst="rect">
            <a:avLst/>
          </a:prstGeom>
          <a:solidFill>
            <a:srgbClr val="FFFFFF"/>
          </a:solidFill>
          <a:ln w="31750">
            <a:solidFill>
              <a:srgbClr val="111111"/>
            </a:solidFill>
            <a:prstDash val="solid"/>
          </a:ln>
        </p:spPr>
      </p:sp>
      <p:sp>
        <p:nvSpPr>
          <p:cNvPr id="15" name="Text 12"/>
          <p:cNvSpPr txBox="1"/>
          <p:nvPr/>
        </p:nvSpPr>
        <p:spPr>
          <a:xfrm>
            <a:off x="685800" y="1691640"/>
            <a:ext cx="822960" cy="45720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01</a:t>
            </a:r>
            <a:endParaRPr lang="en-US" sz="2600" dirty="0"/>
          </a:p>
        </p:txBody>
      </p:sp>
      <p:sp>
        <p:nvSpPr>
          <p:cNvPr id="16" name="Text 13"/>
          <p:cNvSpPr txBox="1"/>
          <p:nvPr/>
        </p:nvSpPr>
        <p:spPr>
          <a:xfrm>
            <a:off x="1463040" y="1691640"/>
            <a:ext cx="4297680" cy="457200"/>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Militarización del Estado</a:t>
            </a:r>
            <a:endParaRPr lang="en-US" sz="1800" dirty="0"/>
          </a:p>
        </p:txBody>
      </p:sp>
      <p:sp>
        <p:nvSpPr>
          <p:cNvPr id="17" name="Text 14"/>
          <p:cNvSpPr txBox="1"/>
          <p:nvPr/>
        </p:nvSpPr>
        <p:spPr>
          <a:xfrm>
            <a:off x="685800" y="2286000"/>
            <a:ext cx="5074920" cy="82296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Vínculo del héroe con el aparato militar y de seguridad; tratamiento de la violencia letal.</a:t>
            </a:r>
            <a:endParaRPr lang="en-US" sz="1400" dirty="0"/>
          </a:p>
        </p:txBody>
      </p:sp>
      <p:sp>
        <p:nvSpPr>
          <p:cNvPr id="18" name="Text 15"/>
          <p:cNvSpPr txBox="1"/>
          <p:nvPr/>
        </p:nvSpPr>
        <p:spPr>
          <a:xfrm>
            <a:off x="685800" y="3200400"/>
            <a:ext cx="5074920" cy="457200"/>
          </a:xfrm>
          <a:prstGeom prst="rect">
            <a:avLst/>
          </a:prstGeom>
          <a:noFill/>
          <a:ln/>
        </p:spPr>
        <p:txBody>
          <a:bodyPr wrap="square" lIns="0" tIns="0" rIns="0" bIns="0" rtlCol="0" anchor="t"/>
          <a:lstStyle/>
          <a:p>
            <a:pPr indent="0" marL="0">
              <a:buNone/>
            </a:pPr>
            <a:r>
              <a:rPr lang="en-US" sz="1000" dirty="0">
                <a:solidFill>
                  <a:srgbClr val="444444"/>
                </a:solidFill>
                <a:latin typeface="Arial" pitchFamily="34" charset="0"/>
                <a:ea typeface="Arial" pitchFamily="34" charset="-122"/>
                <a:cs typeface="Arial" pitchFamily="34" charset="-120"/>
              </a:rPr>
              <a:t>OBRAS: The Authority · The Ultimates</a:t>
            </a:r>
            <a:endParaRPr lang="en-US" sz="1000" dirty="0"/>
          </a:p>
        </p:txBody>
      </p:sp>
      <p:sp>
        <p:nvSpPr>
          <p:cNvPr id="19" name="Shape 16"/>
          <p:cNvSpPr/>
          <p:nvPr/>
        </p:nvSpPr>
        <p:spPr>
          <a:xfrm>
            <a:off x="6272784" y="1581912"/>
            <a:ext cx="5532120" cy="2286000"/>
          </a:xfrm>
          <a:prstGeom prst="rect">
            <a:avLst/>
          </a:prstGeom>
          <a:solidFill>
            <a:srgbClr val="111111"/>
          </a:solidFill>
          <a:ln w="12700">
            <a:solidFill>
              <a:srgbClr val="111111"/>
            </a:solidFill>
            <a:prstDash val="solid"/>
          </a:ln>
        </p:spPr>
      </p:sp>
      <p:sp>
        <p:nvSpPr>
          <p:cNvPr id="20" name="Shape 17"/>
          <p:cNvSpPr/>
          <p:nvPr/>
        </p:nvSpPr>
        <p:spPr>
          <a:xfrm>
            <a:off x="6199632" y="1508760"/>
            <a:ext cx="5532120" cy="2286000"/>
          </a:xfrm>
          <a:prstGeom prst="rect">
            <a:avLst/>
          </a:prstGeom>
          <a:solidFill>
            <a:srgbClr val="FFFFFF"/>
          </a:solidFill>
          <a:ln w="31750">
            <a:solidFill>
              <a:srgbClr val="111111"/>
            </a:solidFill>
            <a:prstDash val="solid"/>
          </a:ln>
        </p:spPr>
      </p:sp>
      <p:sp>
        <p:nvSpPr>
          <p:cNvPr id="21" name="Text 18"/>
          <p:cNvSpPr txBox="1"/>
          <p:nvPr/>
        </p:nvSpPr>
        <p:spPr>
          <a:xfrm>
            <a:off x="6428232" y="1691640"/>
            <a:ext cx="822960" cy="45720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02</a:t>
            </a:r>
            <a:endParaRPr lang="en-US" sz="2600" dirty="0"/>
          </a:p>
        </p:txBody>
      </p:sp>
      <p:sp>
        <p:nvSpPr>
          <p:cNvPr id="22" name="Text 19"/>
          <p:cNvSpPr txBox="1"/>
          <p:nvPr/>
        </p:nvSpPr>
        <p:spPr>
          <a:xfrm>
            <a:off x="7205472" y="1691640"/>
            <a:ext cx="4297680" cy="457200"/>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Excepcionalismo norteamericano</a:t>
            </a:r>
            <a:endParaRPr lang="en-US" sz="1800" dirty="0"/>
          </a:p>
        </p:txBody>
      </p:sp>
      <p:sp>
        <p:nvSpPr>
          <p:cNvPr id="23" name="Text 20"/>
          <p:cNvSpPr txBox="1"/>
          <p:nvPr/>
        </p:nvSpPr>
        <p:spPr>
          <a:xfrm>
            <a:off x="6428232" y="2286000"/>
            <a:ext cx="5074920" cy="82296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Cómo se representa a Estados Unidos y su «estilo de vida» como misión o modelo.</a:t>
            </a:r>
            <a:endParaRPr lang="en-US" sz="1400" dirty="0"/>
          </a:p>
        </p:txBody>
      </p:sp>
      <p:sp>
        <p:nvSpPr>
          <p:cNvPr id="24" name="Text 21"/>
          <p:cNvSpPr txBox="1"/>
          <p:nvPr/>
        </p:nvSpPr>
        <p:spPr>
          <a:xfrm>
            <a:off x="6428232" y="3200400"/>
            <a:ext cx="5074920" cy="457200"/>
          </a:xfrm>
          <a:prstGeom prst="rect">
            <a:avLst/>
          </a:prstGeom>
          <a:noFill/>
          <a:ln/>
        </p:spPr>
        <p:txBody>
          <a:bodyPr wrap="square" lIns="0" tIns="0" rIns="0" bIns="0" rtlCol="0" anchor="t"/>
          <a:lstStyle/>
          <a:p>
            <a:pPr indent="0" marL="0">
              <a:buNone/>
            </a:pPr>
            <a:r>
              <a:rPr lang="en-US" sz="1000" dirty="0">
                <a:solidFill>
                  <a:srgbClr val="444444"/>
                </a:solidFill>
                <a:latin typeface="Arial" pitchFamily="34" charset="0"/>
                <a:ea typeface="Arial" pitchFamily="34" charset="-122"/>
                <a:cs typeface="Arial" pitchFamily="34" charset="-120"/>
              </a:rPr>
              <a:t>OBRAS: Action Comics #775 · The Ultimates · Secret Invasion</a:t>
            </a:r>
            <a:endParaRPr lang="en-US" sz="1000" dirty="0"/>
          </a:p>
        </p:txBody>
      </p:sp>
      <p:sp>
        <p:nvSpPr>
          <p:cNvPr id="25" name="Shape 22"/>
          <p:cNvSpPr/>
          <p:nvPr/>
        </p:nvSpPr>
        <p:spPr>
          <a:xfrm>
            <a:off x="530352" y="4050792"/>
            <a:ext cx="5532120" cy="2286000"/>
          </a:xfrm>
          <a:prstGeom prst="rect">
            <a:avLst/>
          </a:prstGeom>
          <a:solidFill>
            <a:srgbClr val="111111"/>
          </a:solidFill>
          <a:ln w="12700">
            <a:solidFill>
              <a:srgbClr val="111111"/>
            </a:solidFill>
            <a:prstDash val="solid"/>
          </a:ln>
        </p:spPr>
      </p:sp>
      <p:sp>
        <p:nvSpPr>
          <p:cNvPr id="26" name="Shape 23"/>
          <p:cNvSpPr/>
          <p:nvPr/>
        </p:nvSpPr>
        <p:spPr>
          <a:xfrm>
            <a:off x="457200" y="3977640"/>
            <a:ext cx="5532120" cy="2286000"/>
          </a:xfrm>
          <a:prstGeom prst="rect">
            <a:avLst/>
          </a:prstGeom>
          <a:solidFill>
            <a:srgbClr val="FFFFFF"/>
          </a:solidFill>
          <a:ln w="31750">
            <a:solidFill>
              <a:srgbClr val="111111"/>
            </a:solidFill>
            <a:prstDash val="solid"/>
          </a:ln>
        </p:spPr>
      </p:sp>
      <p:sp>
        <p:nvSpPr>
          <p:cNvPr id="27" name="Text 24"/>
          <p:cNvSpPr txBox="1"/>
          <p:nvPr/>
        </p:nvSpPr>
        <p:spPr>
          <a:xfrm>
            <a:off x="685800" y="4160520"/>
            <a:ext cx="822960" cy="45720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03</a:t>
            </a:r>
            <a:endParaRPr lang="en-US" sz="2600" dirty="0"/>
          </a:p>
        </p:txBody>
      </p:sp>
      <p:sp>
        <p:nvSpPr>
          <p:cNvPr id="28" name="Text 25"/>
          <p:cNvSpPr txBox="1"/>
          <p:nvPr/>
        </p:nvSpPr>
        <p:spPr>
          <a:xfrm>
            <a:off x="1463040" y="4160520"/>
            <a:ext cx="4297680" cy="457200"/>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Seguridad sobre libertades civiles</a:t>
            </a:r>
            <a:endParaRPr lang="en-US" sz="1800" dirty="0"/>
          </a:p>
        </p:txBody>
      </p:sp>
      <p:sp>
        <p:nvSpPr>
          <p:cNvPr id="29" name="Text 26"/>
          <p:cNvSpPr txBox="1"/>
          <p:nvPr/>
        </p:nvSpPr>
        <p:spPr>
          <a:xfrm>
            <a:off x="685800" y="4754880"/>
            <a:ext cx="5074920" cy="82296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Medidas de control, registro o vigilancia y posición de los personajes frente a ellas.</a:t>
            </a:r>
            <a:endParaRPr lang="en-US" sz="1400" dirty="0"/>
          </a:p>
        </p:txBody>
      </p:sp>
      <p:sp>
        <p:nvSpPr>
          <p:cNvPr id="30" name="Text 27"/>
          <p:cNvSpPr txBox="1"/>
          <p:nvPr/>
        </p:nvSpPr>
        <p:spPr>
          <a:xfrm>
            <a:off x="685800" y="5669280"/>
            <a:ext cx="5074920" cy="457200"/>
          </a:xfrm>
          <a:prstGeom prst="rect">
            <a:avLst/>
          </a:prstGeom>
          <a:noFill/>
          <a:ln/>
        </p:spPr>
        <p:txBody>
          <a:bodyPr wrap="square" lIns="0" tIns="0" rIns="0" bIns="0" rtlCol="0" anchor="t"/>
          <a:lstStyle/>
          <a:p>
            <a:pPr indent="0" marL="0">
              <a:buNone/>
            </a:pPr>
            <a:r>
              <a:rPr lang="en-US" sz="1000" dirty="0">
                <a:solidFill>
                  <a:srgbClr val="444444"/>
                </a:solidFill>
                <a:latin typeface="Arial" pitchFamily="34" charset="0"/>
                <a:ea typeface="Arial" pitchFamily="34" charset="-122"/>
                <a:cs typeface="Arial" pitchFamily="34" charset="-120"/>
              </a:rPr>
              <a:t>OBRAS: Civil War · Secret Invasion</a:t>
            </a:r>
            <a:endParaRPr lang="en-US" sz="1000" dirty="0"/>
          </a:p>
        </p:txBody>
      </p:sp>
      <p:sp>
        <p:nvSpPr>
          <p:cNvPr id="31" name="Shape 28"/>
          <p:cNvSpPr/>
          <p:nvPr/>
        </p:nvSpPr>
        <p:spPr>
          <a:xfrm>
            <a:off x="6272784" y="4050792"/>
            <a:ext cx="5532120" cy="2286000"/>
          </a:xfrm>
          <a:prstGeom prst="rect">
            <a:avLst/>
          </a:prstGeom>
          <a:solidFill>
            <a:srgbClr val="111111"/>
          </a:solidFill>
          <a:ln w="12700">
            <a:solidFill>
              <a:srgbClr val="111111"/>
            </a:solidFill>
            <a:prstDash val="solid"/>
          </a:ln>
        </p:spPr>
      </p:sp>
      <p:sp>
        <p:nvSpPr>
          <p:cNvPr id="32" name="Shape 29"/>
          <p:cNvSpPr/>
          <p:nvPr/>
        </p:nvSpPr>
        <p:spPr>
          <a:xfrm>
            <a:off x="6199632" y="3977640"/>
            <a:ext cx="5532120" cy="2286000"/>
          </a:xfrm>
          <a:prstGeom prst="rect">
            <a:avLst/>
          </a:prstGeom>
          <a:solidFill>
            <a:srgbClr val="FFF1A8"/>
          </a:solidFill>
          <a:ln w="31750">
            <a:solidFill>
              <a:srgbClr val="111111"/>
            </a:solidFill>
            <a:prstDash val="solid"/>
          </a:ln>
        </p:spPr>
      </p:sp>
      <p:sp>
        <p:nvSpPr>
          <p:cNvPr id="33" name="Text 30"/>
          <p:cNvSpPr txBox="1"/>
          <p:nvPr/>
        </p:nvSpPr>
        <p:spPr>
          <a:xfrm>
            <a:off x="6428232" y="4160520"/>
            <a:ext cx="822960" cy="45720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04</a:t>
            </a:r>
            <a:endParaRPr lang="en-US" sz="2600" dirty="0"/>
          </a:p>
        </p:txBody>
      </p:sp>
      <p:sp>
        <p:nvSpPr>
          <p:cNvPr id="34" name="Text 31"/>
          <p:cNvSpPr txBox="1"/>
          <p:nvPr/>
        </p:nvSpPr>
        <p:spPr>
          <a:xfrm>
            <a:off x="7205472" y="4160520"/>
            <a:ext cx="4297680" cy="457200"/>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Legitimidad moral del héroe</a:t>
            </a:r>
            <a:endParaRPr lang="en-US" sz="1800" dirty="0"/>
          </a:p>
        </p:txBody>
      </p:sp>
      <p:sp>
        <p:nvSpPr>
          <p:cNvPr id="35" name="Text 32"/>
          <p:cNvSpPr txBox="1"/>
          <p:nvPr/>
        </p:nvSpPr>
        <p:spPr>
          <a:xfrm>
            <a:off x="6428232" y="4754880"/>
            <a:ext cx="5074920" cy="82296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Cuestionamientos a su accionar y metacrítica del propio género.</a:t>
            </a:r>
            <a:endParaRPr lang="en-US" sz="1400" dirty="0"/>
          </a:p>
        </p:txBody>
      </p:sp>
      <p:sp>
        <p:nvSpPr>
          <p:cNvPr id="36" name="Text 33"/>
          <p:cNvSpPr txBox="1"/>
          <p:nvPr/>
        </p:nvSpPr>
        <p:spPr>
          <a:xfrm>
            <a:off x="6428232" y="5669280"/>
            <a:ext cx="5074920" cy="457200"/>
          </a:xfrm>
          <a:prstGeom prst="rect">
            <a:avLst/>
          </a:prstGeom>
          <a:noFill/>
          <a:ln/>
        </p:spPr>
        <p:txBody>
          <a:bodyPr wrap="square" lIns="0" tIns="0" rIns="0" bIns="0" rtlCol="0" anchor="t"/>
          <a:lstStyle/>
          <a:p>
            <a:pPr indent="0" marL="0">
              <a:buNone/>
            </a:pPr>
            <a:r>
              <a:rPr lang="en-US" sz="1000" dirty="0">
                <a:solidFill>
                  <a:srgbClr val="444444"/>
                </a:solidFill>
                <a:latin typeface="Arial" pitchFamily="34" charset="0"/>
                <a:ea typeface="Arial" pitchFamily="34" charset="-122"/>
                <a:cs typeface="Arial" pitchFamily="34" charset="-120"/>
              </a:rPr>
              <a:t>OBRAS: Action Comics #775 · Identity Crisis · Infinite Crisis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Fondo Portada de The Authority 1" descr="Portada de The Authority 1">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45000"/>
            </a:srgbClr>
          </a:solidFill>
          <a:ln w="12700">
            <a:solidFill>
              <a:srgbClr val="000000"/>
            </a:solidFill>
            <a:prstDash val="solid"/>
          </a:ln>
        </p:spPr>
      </p:sp>
      <p:sp>
        <p:nvSpPr>
          <p:cNvPr id="4" name="Progreso"/>
          <p:cNvSpPr/>
          <p:nvPr/>
        </p:nvSpPr>
        <p:spPr>
          <a:xfrm>
            <a:off x="0" y="0"/>
            <a:ext cx="4876678"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04. ANÁLISIS · DIMENSIÓN 1</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06 / 15</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3093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3093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309360" cy="5486400"/>
          </a:xfrm>
          <a:prstGeom prst="rect">
            <a:avLst/>
          </a:prstGeom>
        </p:spPr>
      </p:pic>
      <p:sp>
        <p:nvSpPr>
          <p:cNvPr id="13" name="Text 9"/>
          <p:cNvSpPr txBox="1"/>
          <p:nvPr/>
        </p:nvSpPr>
        <p:spPr>
          <a:xfrm>
            <a:off x="777240" y="914400"/>
            <a:ext cx="56692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DIMENSIÓN 1 · MILITARIZACIÓN DEL ESTADO ]</a:t>
            </a:r>
            <a:endParaRPr lang="en-US" sz="1000" dirty="0"/>
          </a:p>
        </p:txBody>
      </p:sp>
      <p:sp>
        <p:nvSpPr>
          <p:cNvPr id="14" name="Text 10"/>
          <p:cNvSpPr txBox="1"/>
          <p:nvPr/>
        </p:nvSpPr>
        <p:spPr>
          <a:xfrm>
            <a:off x="777240" y="1207008"/>
            <a:ext cx="56692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The Authority: superhéroes como fuerza policial global</a:t>
            </a:r>
            <a:endParaRPr lang="en-US" sz="2800" dirty="0"/>
          </a:p>
        </p:txBody>
      </p:sp>
      <p:sp>
        <p:nvSpPr>
          <p:cNvPr id="15" name="Text 11"/>
          <p:cNvSpPr txBox="1"/>
          <p:nvPr/>
        </p:nvSpPr>
        <p:spPr>
          <a:xfrm>
            <a:off x="777240" y="2148840"/>
            <a:ext cx="56692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ELLIS Y HITCH · WILDSTORM · 1999</a:t>
            </a:r>
            <a:endParaRPr lang="en-US" sz="1000" dirty="0"/>
          </a:p>
        </p:txBody>
      </p:sp>
      <p:sp>
        <p:nvSpPr>
          <p:cNvPr id="16" name="Text 12"/>
          <p:cNvSpPr txBox="1"/>
          <p:nvPr/>
        </p:nvSpPr>
        <p:spPr>
          <a:xfrm>
            <a:off x="777240" y="2560320"/>
            <a:ext cx="5669280" cy="338328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Nuevo tono: </a:t>
            </a:r>
            <a:pPr indent="0" marL="0">
              <a:spcAft>
                <a:spcPts val="900"/>
              </a:spcAft>
              <a:buNone/>
            </a:pPr>
            <a:r>
              <a:rPr lang="en-US" sz="1700" dirty="0">
                <a:solidFill>
                  <a:srgbClr val="FFFFFF"/>
                </a:solidFill>
                <a:latin typeface="Arial" pitchFamily="34" charset="0"/>
                <a:ea typeface="Arial" pitchFamily="34" charset="-122"/>
                <a:cs typeface="Arial" pitchFamily="34" charset="-120"/>
              </a:rPr>
              <a:t>influencia de The Matrix; héroes como estrellas de rock, sin conflicto con sus poderes</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Fuerza letal </a:t>
            </a:r>
            <a:pPr indent="0" marL="0">
              <a:spcAft>
                <a:spcPts val="900"/>
              </a:spcAft>
              <a:buNone/>
            </a:pPr>
            <a:r>
              <a:rPr lang="en-US" sz="1700" dirty="0">
                <a:solidFill>
                  <a:srgbClr val="FFFFFF"/>
                </a:solidFill>
                <a:latin typeface="Arial" pitchFamily="34" charset="0"/>
                <a:ea typeface="Arial" pitchFamily="34" charset="-122"/>
                <a:cs typeface="Arial" pitchFamily="34" charset="-120"/>
              </a:rPr>
              <a:t>para neutralizar toda amenaza</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Villano del primer arco: </a:t>
            </a:r>
            <a:pPr indent="0" marL="0">
              <a:spcAft>
                <a:spcPts val="900"/>
              </a:spcAft>
              <a:buNone/>
            </a:pPr>
            <a:r>
              <a:rPr lang="en-US" sz="1700" dirty="0">
                <a:solidFill>
                  <a:srgbClr val="FFFFFF"/>
                </a:solidFill>
                <a:latin typeface="Arial" pitchFamily="34" charset="0"/>
                <a:ea typeface="Arial" pitchFamily="34" charset="-122"/>
                <a:cs typeface="Arial" pitchFamily="34" charset="-120"/>
              </a:rPr>
              <a:t>Kaizen Gamorra, «Gamorra is BUILT on terrorism»; la isla es destruida e intervenida por la ONU</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Para Morrison (2011): </a:t>
            </a:r>
            <a:pPr indent="0" marL="0">
              <a:spcAft>
                <a:spcPts val="900"/>
              </a:spcAft>
              <a:buNone/>
            </a:pPr>
            <a:r>
              <a:rPr lang="en-US" sz="1700" dirty="0">
                <a:solidFill>
                  <a:srgbClr val="FFFFFF"/>
                </a:solidFill>
                <a:latin typeface="Arial" pitchFamily="34" charset="0"/>
                <a:ea typeface="Arial" pitchFamily="34" charset="-122"/>
                <a:cs typeface="Arial" pitchFamily="34" charset="-120"/>
              </a:rPr>
              <a:t>la serie fue luego usada para militarizar el género</a:t>
            </a:r>
            <a:endParaRPr lang="en-US" sz="1700" dirty="0"/>
          </a:p>
        </p:txBody>
      </p:sp>
      <p:sp>
        <p:nvSpPr>
          <p:cNvPr id="17" name="Text 13"/>
          <p:cNvSpPr txBox="1"/>
          <p:nvPr/>
        </p:nvSpPr>
        <p:spPr>
          <a:xfrm>
            <a:off x="7132320" y="5989320"/>
            <a:ext cx="4602175" cy="274320"/>
          </a:xfrm>
          <a:prstGeom prst="rect">
            <a:avLst/>
          </a:prstGeom>
          <a:noFill/>
          <a:ln/>
        </p:spPr>
        <p:txBody>
          <a:bodyPr wrap="square" lIns="0" tIns="0" rIns="0" bIns="0" rtlCol="0" anchor="ctr"/>
          <a:lstStyle/>
          <a:p>
            <a:pPr algn="r" indent="0" marL="0">
              <a:buNone/>
            </a:pPr>
            <a:r>
              <a:rPr lang="en-US" sz="900" dirty="0">
                <a:solidFill>
                  <a:srgbClr val="FFFFFF"/>
                </a:solidFill>
                <a:latin typeface="Arial" pitchFamily="34" charset="0"/>
                <a:ea typeface="Arial" pitchFamily="34" charset="-122"/>
                <a:cs typeface="Arial" pitchFamily="34" charset="-120"/>
              </a:rPr>
              <a:t>The Authority #1 (WildStorm, 1999)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Fondo Portada de The Ultimates 1" descr="Portada de The Ultimates 1">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5689458"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04. ANÁLISIS · DIMENSIONES 1 Y 2</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07 / 15</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DIMENSIONES 1 Y 2 · MILITARIZACIÓN Y EXCEPCIONALISMO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The Ultimates: los Avengers como brazo armado del Estado</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MILLAR Y HITCH · MARVEL · 2002–2004</a:t>
            </a:r>
            <a:endParaRPr lang="en-US" sz="1000" dirty="0"/>
          </a:p>
        </p:txBody>
      </p:sp>
      <p:sp>
        <p:nvSpPr>
          <p:cNvPr id="16" name="Text 12"/>
          <p:cNvSpPr txBox="1"/>
          <p:nvPr/>
        </p:nvSpPr>
        <p:spPr>
          <a:xfrm>
            <a:off x="777240" y="2560320"/>
            <a:ext cx="6126480" cy="338328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Enero de 2002: </a:t>
            </a:r>
            <a:pPr indent="0" marL="0">
              <a:spcAft>
                <a:spcPts val="900"/>
              </a:spcAft>
              <a:buNone/>
            </a:pPr>
            <a:r>
              <a:rPr lang="en-US" sz="1700" dirty="0">
                <a:solidFill>
                  <a:srgbClr val="FFFFFF"/>
                </a:solidFill>
                <a:latin typeface="Arial" pitchFamily="34" charset="0"/>
                <a:ea typeface="Arial" pitchFamily="34" charset="-122"/>
                <a:cs typeface="Arial" pitchFamily="34" charset="-120"/>
              </a:rPr>
              <a:t>sale #1 dentro del sello Ultimate</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Fuerza de proyección militar </a:t>
            </a:r>
            <a:pPr indent="0" marL="0">
              <a:spcAft>
                <a:spcPts val="900"/>
              </a:spcAft>
              <a:buNone/>
            </a:pPr>
            <a:r>
              <a:rPr lang="en-US" sz="1700" dirty="0">
                <a:solidFill>
                  <a:srgbClr val="FFFFFF"/>
                </a:solidFill>
                <a:latin typeface="Arial" pitchFamily="34" charset="0"/>
                <a:ea typeface="Arial" pitchFamily="34" charset="-122"/>
                <a:cs typeface="Arial" pitchFamily="34" charset="-120"/>
              </a:rPr>
              <a:t>para enfrentar amenazas superhumanas, dependiente del gobierno de EE.UU.</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Vocero de la América de Bush </a:t>
            </a:r>
            <a:pPr indent="0" marL="0">
              <a:spcAft>
                <a:spcPts val="900"/>
              </a:spcAft>
              <a:buNone/>
            </a:pPr>
            <a:r>
              <a:rPr lang="en-US" sz="1700" dirty="0">
                <a:solidFill>
                  <a:srgbClr val="FFFFFF"/>
                </a:solidFill>
                <a:latin typeface="Arial" pitchFamily="34" charset="0"/>
                <a:ea typeface="Arial" pitchFamily="34" charset="-122"/>
                <a:cs typeface="Arial" pitchFamily="34" charset="-120"/>
              </a:rPr>
              <a:t>(Morrison, 2011, p. 348)</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Segunda respuesta: </a:t>
            </a:r>
            <a:pPr indent="0" marL="0">
              <a:spcAft>
                <a:spcPts val="900"/>
              </a:spcAft>
              <a:buNone/>
            </a:pPr>
            <a:r>
              <a:rPr lang="en-US" sz="1700" dirty="0">
                <a:solidFill>
                  <a:srgbClr val="FFFFFF"/>
                </a:solidFill>
                <a:latin typeface="Arial" pitchFamily="34" charset="0"/>
                <a:ea typeface="Arial" pitchFamily="34" charset="-122"/>
                <a:cs typeface="Arial" pitchFamily="34" charset="-120"/>
              </a:rPr>
              <a:t>Iron Man (2008), ícono de la innovación tecnológica y el «nuevo John Wayne» (Faludi; Dittmer)</a:t>
            </a:r>
            <a:endParaRPr lang="en-US" sz="1700" dirty="0"/>
          </a:p>
        </p:txBody>
      </p:sp>
      <p:sp>
        <p:nvSpPr>
          <p:cNvPr id="17" name="Shape 13"/>
          <p:cNvSpPr/>
          <p:nvPr/>
        </p:nvSpPr>
        <p:spPr>
          <a:xfrm>
            <a:off x="7913275" y="768096"/>
            <a:ext cx="3543186" cy="5321808"/>
          </a:xfrm>
          <a:prstGeom prst="rect">
            <a:avLst/>
          </a:prstGeom>
          <a:solidFill>
            <a:srgbClr val="FFFFFF"/>
          </a:solidFill>
          <a:ln w="38100">
            <a:solidFill>
              <a:srgbClr val="FFD400"/>
            </a:solidFill>
            <a:prstDash val="solid"/>
          </a:ln>
        </p:spPr>
      </p:sp>
      <p:pic>
        <p:nvPicPr>
          <p:cNvPr id="18" name="Portada de The Ultimates 1" descr="Portada de The Ultimates 1">    </p:cNvPr>
          <p:cNvPicPr>
            <a:picLocks noChangeAspect="1"/>
          </p:cNvPicPr>
          <p:nvPr/>
        </p:nvPicPr>
        <p:blipFill>
          <a:blip r:embed="rId3"/>
          <a:stretch>
            <a:fillRect/>
          </a:stretch>
        </p:blipFill>
        <p:spPr>
          <a:xfrm>
            <a:off x="7968139" y="822960"/>
            <a:ext cx="3433458" cy="5212080"/>
          </a:xfrm>
          <a:prstGeom prst="rect">
            <a:avLst/>
          </a:prstGeom>
        </p:spPr>
      </p:pic>
      <p:sp>
        <p:nvSpPr>
          <p:cNvPr id="19" name="Text 14"/>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The Ultimates #1 (Marvel, 2002)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Fondo Civil War 7, doble página" descr="Civil War 7, doble página">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45000"/>
            </a:srgbClr>
          </a:solidFill>
          <a:ln w="12700">
            <a:solidFill>
              <a:srgbClr val="000000"/>
            </a:solidFill>
            <a:prstDash val="solid"/>
          </a:ln>
        </p:spPr>
      </p:sp>
      <p:sp>
        <p:nvSpPr>
          <p:cNvPr id="4" name="Progreso"/>
          <p:cNvSpPr/>
          <p:nvPr/>
        </p:nvSpPr>
        <p:spPr>
          <a:xfrm>
            <a:off x="0" y="0"/>
            <a:ext cx="6502237"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04. ANÁLISIS · DIMENSIÓN 3</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08 / 15</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3093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3093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309360" cy="5486400"/>
          </a:xfrm>
          <a:prstGeom prst="rect">
            <a:avLst/>
          </a:prstGeom>
        </p:spPr>
      </p:pic>
      <p:sp>
        <p:nvSpPr>
          <p:cNvPr id="13" name="Text 9"/>
          <p:cNvSpPr txBox="1"/>
          <p:nvPr/>
        </p:nvSpPr>
        <p:spPr>
          <a:xfrm>
            <a:off x="777240" y="914400"/>
            <a:ext cx="56692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DIMENSIÓN 3 · SEGURIDAD SOBRE LIBERTADES CIVILES ]</a:t>
            </a:r>
            <a:endParaRPr lang="en-US" sz="1000" dirty="0"/>
          </a:p>
        </p:txBody>
      </p:sp>
      <p:sp>
        <p:nvSpPr>
          <p:cNvPr id="14" name="Text 10"/>
          <p:cNvSpPr txBox="1"/>
          <p:nvPr/>
        </p:nvSpPr>
        <p:spPr>
          <a:xfrm>
            <a:off x="777240" y="1207008"/>
            <a:ext cx="56692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Civil War: registro obligatorio y vigilancia estatal</a:t>
            </a:r>
            <a:endParaRPr lang="en-US" sz="2800" dirty="0"/>
          </a:p>
        </p:txBody>
      </p:sp>
      <p:sp>
        <p:nvSpPr>
          <p:cNvPr id="15" name="Text 11"/>
          <p:cNvSpPr txBox="1"/>
          <p:nvPr/>
        </p:nvSpPr>
        <p:spPr>
          <a:xfrm>
            <a:off x="777240" y="2148840"/>
            <a:ext cx="56692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MILLAR Y MCNIVEN · MARVEL · 2006</a:t>
            </a:r>
            <a:endParaRPr lang="en-US" sz="1000" dirty="0"/>
          </a:p>
        </p:txBody>
      </p:sp>
      <p:sp>
        <p:nvSpPr>
          <p:cNvPr id="16" name="Text 12"/>
          <p:cNvSpPr txBox="1"/>
          <p:nvPr/>
        </p:nvSpPr>
        <p:spPr>
          <a:xfrm>
            <a:off x="777240" y="2560320"/>
            <a:ext cx="5669280" cy="338328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Detonante: </a:t>
            </a:r>
            <a:pPr indent="0" marL="0">
              <a:spcAft>
                <a:spcPts val="900"/>
              </a:spcAft>
              <a:buNone/>
            </a:pPr>
            <a:r>
              <a:rPr lang="en-US" sz="1700" dirty="0">
                <a:solidFill>
                  <a:srgbClr val="FFFFFF"/>
                </a:solidFill>
                <a:latin typeface="Arial" pitchFamily="34" charset="0"/>
                <a:ea typeface="Arial" pitchFamily="34" charset="-122"/>
                <a:cs typeface="Arial" pitchFamily="34" charset="-120"/>
              </a:rPr>
              <a:t>un combate entre un supervillano y héroes adolescentes televisados termina en un atentado en una escuela; mueren entre 800 y 900 niños</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Respuesta estatal: </a:t>
            </a:r>
            <a:pPr indent="0" marL="0">
              <a:spcAft>
                <a:spcPts val="900"/>
              </a:spcAft>
              <a:buNone/>
            </a:pPr>
            <a:r>
              <a:rPr lang="en-US" sz="1700" dirty="0">
                <a:solidFill>
                  <a:srgbClr val="FFFFFF"/>
                </a:solidFill>
                <a:latin typeface="Arial" pitchFamily="34" charset="0"/>
                <a:ea typeface="Arial" pitchFamily="34" charset="-122"/>
                <a:cs typeface="Arial" pitchFamily="34" charset="-120"/>
              </a:rPr>
              <a:t>Acta de Registro Superheroico; hay que revelar la identidad civil y operar bajo supervisión</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Lectura: </a:t>
            </a:r>
            <a:pPr indent="0" marL="0">
              <a:spcAft>
                <a:spcPts val="900"/>
              </a:spcAft>
              <a:buNone/>
            </a:pPr>
            <a:r>
              <a:rPr lang="en-US" sz="1700" dirty="0">
                <a:solidFill>
                  <a:srgbClr val="FFFFFF"/>
                </a:solidFill>
                <a:latin typeface="Arial" pitchFamily="34" charset="0"/>
                <a:ea typeface="Arial" pitchFamily="34" charset="-122"/>
                <a:cs typeface="Arial" pitchFamily="34" charset="-120"/>
              </a:rPr>
              <a:t>expresión del clima posterior al 11S y del Patriot Act (el debate libertad vs. seguridad, Etzioni, 2005)</a:t>
            </a:r>
            <a:endParaRPr lang="en-US" sz="1700" dirty="0"/>
          </a:p>
        </p:txBody>
      </p:sp>
      <p:sp>
        <p:nvSpPr>
          <p:cNvPr id="17" name="Text 13"/>
          <p:cNvSpPr txBox="1"/>
          <p:nvPr/>
        </p:nvSpPr>
        <p:spPr>
          <a:xfrm>
            <a:off x="7132320" y="5989320"/>
            <a:ext cx="4602175" cy="274320"/>
          </a:xfrm>
          <a:prstGeom prst="rect">
            <a:avLst/>
          </a:prstGeom>
          <a:noFill/>
          <a:ln/>
        </p:spPr>
        <p:txBody>
          <a:bodyPr wrap="square" lIns="0" tIns="0" rIns="0" bIns="0" rtlCol="0" anchor="ctr"/>
          <a:lstStyle/>
          <a:p>
            <a:pPr algn="r" indent="0" marL="0">
              <a:buNone/>
            </a:pPr>
            <a:r>
              <a:rPr lang="en-US" sz="900" dirty="0">
                <a:solidFill>
                  <a:srgbClr val="FFFFFF"/>
                </a:solidFill>
                <a:latin typeface="Arial" pitchFamily="34" charset="0"/>
                <a:ea typeface="Arial" pitchFamily="34" charset="-122"/>
                <a:cs typeface="Arial" pitchFamily="34" charset="-120"/>
              </a:rPr>
              <a:t>Civil War #7 (Marvel, 2006)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Fondo Portada de Secret Invasion 1" descr="Portada de Secret Invasion 1">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7315017"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04. ANÁLISIS · DIMENSIONES 2 Y 3</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09 / 15</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DIMENSIONES 2 Y 3 · EXCEPCIONALISMO Y SEGURIDAD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Secret Invasion: la paranoia como clima de época</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BENDIS Y YU · MARVEL · 2008</a:t>
            </a:r>
            <a:endParaRPr lang="en-US" sz="1000" dirty="0"/>
          </a:p>
        </p:txBody>
      </p:sp>
      <p:sp>
        <p:nvSpPr>
          <p:cNvPr id="16" name="Text 12"/>
          <p:cNvSpPr txBox="1"/>
          <p:nvPr/>
        </p:nvSpPr>
        <p:spPr>
          <a:xfrm>
            <a:off x="777240" y="2560320"/>
            <a:ext cx="6126480" cy="338328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Evoca el atentado a las torres </a:t>
            </a:r>
            <a:pPr indent="0" marL="0">
              <a:spcAft>
                <a:spcPts val="900"/>
              </a:spcAft>
              <a:buNone/>
            </a:pPr>
            <a:r>
              <a:rPr lang="en-US" sz="1700" dirty="0">
                <a:solidFill>
                  <a:srgbClr val="FFFFFF"/>
                </a:solidFill>
                <a:latin typeface="Arial" pitchFamily="34" charset="0"/>
                <a:ea typeface="Arial" pitchFamily="34" charset="-122"/>
                <a:cs typeface="Arial" pitchFamily="34" charset="-120"/>
              </a:rPr>
              <a:t>(Smith y Goodrum, 2011)</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Paranoia de la sociedad norteamericana </a:t>
            </a:r>
            <a:pPr indent="0" marL="0">
              <a:spcAft>
                <a:spcPts val="900"/>
              </a:spcAft>
              <a:buNone/>
            </a:pPr>
            <a:r>
              <a:rPr lang="en-US" sz="1700" dirty="0">
                <a:solidFill>
                  <a:srgbClr val="FFFFFF"/>
                </a:solidFill>
                <a:latin typeface="Arial" pitchFamily="34" charset="0"/>
                <a:ea typeface="Arial" pitchFamily="34" charset="-122"/>
                <a:cs typeface="Arial" pitchFamily="34" charset="-120"/>
              </a:rPr>
              <a:t>durante la presidencia republicana (p. 489)</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La portada lo condensa: </a:t>
            </a:r>
            <a:pPr indent="0" marL="0">
              <a:spcAft>
                <a:spcPts val="900"/>
              </a:spcAft>
              <a:buNone/>
            </a:pPr>
            <a:r>
              <a:rPr lang="en-US" sz="1700" dirty="0">
                <a:solidFill>
                  <a:srgbClr val="FFFFFF"/>
                </a:solidFill>
                <a:latin typeface="Arial" pitchFamily="34" charset="0"/>
                <a:ea typeface="Arial" pitchFamily="34" charset="-122"/>
                <a:cs typeface="Arial" pitchFamily="34" charset="-120"/>
              </a:rPr>
              <a:t>héroes reconocibles con rasgos de los invasores</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Dittmer (2011): </a:t>
            </a:r>
            <a:pPr indent="0" marL="0">
              <a:spcAft>
                <a:spcPts val="900"/>
              </a:spcAft>
              <a:buNone/>
            </a:pPr>
            <a:r>
              <a:rPr lang="en-US" sz="1700" dirty="0">
                <a:solidFill>
                  <a:srgbClr val="FFFFFF"/>
                </a:solidFill>
                <a:latin typeface="Arial" pitchFamily="34" charset="0"/>
                <a:ea typeface="Arial" pitchFamily="34" charset="-122"/>
                <a:cs typeface="Arial" pitchFamily="34" charset="-120"/>
              </a:rPr>
              <a:t>el género articula la perspectiva geopolítica y el excepcionalismo norteamericano</a:t>
            </a:r>
            <a:endParaRPr lang="en-US" sz="1700" dirty="0"/>
          </a:p>
        </p:txBody>
      </p:sp>
      <p:sp>
        <p:nvSpPr>
          <p:cNvPr id="17" name="Shape 13"/>
          <p:cNvSpPr/>
          <p:nvPr/>
        </p:nvSpPr>
        <p:spPr>
          <a:xfrm>
            <a:off x="7912679" y="768096"/>
            <a:ext cx="3544377" cy="5321808"/>
          </a:xfrm>
          <a:prstGeom prst="rect">
            <a:avLst/>
          </a:prstGeom>
          <a:solidFill>
            <a:srgbClr val="FFFFFF"/>
          </a:solidFill>
          <a:ln w="38100">
            <a:solidFill>
              <a:srgbClr val="FFD400"/>
            </a:solidFill>
            <a:prstDash val="solid"/>
          </a:ln>
        </p:spPr>
      </p:sp>
      <p:pic>
        <p:nvPicPr>
          <p:cNvPr id="18" name="Portada de Secret Invasion 1" descr="Portada de Secret Invasion 1">    </p:cNvPr>
          <p:cNvPicPr>
            <a:picLocks noChangeAspect="1"/>
          </p:cNvPicPr>
          <p:nvPr/>
        </p:nvPicPr>
        <p:blipFill>
          <a:blip r:embed="rId3"/>
          <a:stretch>
            <a:fillRect/>
          </a:stretch>
        </p:blipFill>
        <p:spPr>
          <a:xfrm>
            <a:off x="7967543" y="822960"/>
            <a:ext cx="3434649" cy="5212080"/>
          </a:xfrm>
          <a:prstGeom prst="rect">
            <a:avLst/>
          </a:prstGeom>
        </p:spPr>
      </p:pic>
      <p:sp>
        <p:nvSpPr>
          <p:cNvPr id="19" name="Text 14"/>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Secret Invasion #1 (Marvel, 2008)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Fondo Action Comics 775, página 24" descr="Action Comics 775, página 24">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8127797"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04. ANÁLISIS · DIMENSIONES 2 Y 4</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10 / 15</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DIMENSIONES 2 Y 4 · EXCEPCIONALISMO Y LEGITIMIDAD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Action Comics #775: ¿quedó anticuado Superman?</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KELLY, MAHNKE Y BERMEJO · DC · 2001</a:t>
            </a:r>
            <a:endParaRPr lang="en-US" sz="1000" dirty="0"/>
          </a:p>
        </p:txBody>
      </p:sp>
      <p:sp>
        <p:nvSpPr>
          <p:cNvPr id="16" name="Text 12"/>
          <p:cNvSpPr txBox="1"/>
          <p:nvPr/>
        </p:nvSpPr>
        <p:spPr>
          <a:xfrm>
            <a:off x="777240" y="2560320"/>
            <a:ext cx="6126480" cy="18288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rgbClr val="FFFFFF"/>
                </a:solidFill>
                <a:latin typeface="Arial" pitchFamily="34" charset="0"/>
                <a:ea typeface="Arial" pitchFamily="34" charset="-122"/>
                <a:cs typeface="Arial" pitchFamily="34" charset="-120"/>
              </a:rPr>
              <a:t>El lema </a:t>
            </a:r>
            <a:pPr indent="0" marL="0">
              <a:spcAft>
                <a:spcPts val="900"/>
              </a:spcAft>
              <a:buNone/>
            </a:pPr>
            <a:r>
              <a:rPr lang="en-US" sz="1500" dirty="0">
                <a:solidFill>
                  <a:srgbClr val="FFFFFF"/>
                </a:solidFill>
                <a:latin typeface="Arial" pitchFamily="34" charset="0"/>
                <a:ea typeface="Arial" pitchFamily="34" charset="-122"/>
                <a:cs typeface="Arial" pitchFamily="34" charset="-120"/>
              </a:rPr>
              <a:t>«Verdad, justicia y estilo de vida norteamericano» (radioserial de 1942) encarna el excepcionalismo (Dittmer)</a:t>
            </a:r>
            <a:endParaRPr lang="en-US" sz="1500" dirty="0"/>
          </a:p>
          <a:p>
            <a:pPr marL="203200" indent="-203200">
              <a:spcAft>
                <a:spcPts val="900"/>
              </a:spcAft>
              <a:buSzPct val="100000"/>
              <a:buChar char="•"/>
            </a:pPr>
            <a:r>
              <a:rPr lang="en-US" sz="1500" b="1" dirty="0">
                <a:solidFill>
                  <a:srgbClr val="FFFFFF"/>
                </a:solidFill>
                <a:latin typeface="Arial" pitchFamily="34" charset="0"/>
                <a:ea typeface="Arial" pitchFamily="34" charset="-122"/>
                <a:cs typeface="Arial" pitchFamily="34" charset="-120"/>
              </a:rPr>
              <a:t>The Elite: </a:t>
            </a:r>
            <a:pPr indent="0" marL="0">
              <a:spcAft>
                <a:spcPts val="900"/>
              </a:spcAft>
              <a:buNone/>
            </a:pPr>
            <a:r>
              <a:rPr lang="en-US" sz="1500" dirty="0">
                <a:solidFill>
                  <a:srgbClr val="FFFFFF"/>
                </a:solidFill>
                <a:latin typeface="Arial" pitchFamily="34" charset="0"/>
                <a:ea typeface="Arial" pitchFamily="34" charset="-122"/>
                <a:cs typeface="Arial" pitchFamily="34" charset="-120"/>
              </a:rPr>
              <a:t>antihéroes violentos como recurso metatextual</a:t>
            </a:r>
            <a:endParaRPr lang="en-US" sz="1500" dirty="0"/>
          </a:p>
          <a:p>
            <a:pPr marL="203200" indent="-203200">
              <a:spcAft>
                <a:spcPts val="900"/>
              </a:spcAft>
              <a:buSzPct val="100000"/>
              <a:buChar char="•"/>
            </a:pPr>
            <a:r>
              <a:rPr lang="en-US" sz="1500" b="1" dirty="0">
                <a:solidFill>
                  <a:srgbClr val="FFFFFF"/>
                </a:solidFill>
                <a:latin typeface="Arial" pitchFamily="34" charset="0"/>
                <a:ea typeface="Arial" pitchFamily="34" charset="-122"/>
                <a:cs typeface="Arial" pitchFamily="34" charset="-120"/>
              </a:rPr>
              <a:t>Respuesta de Kelly: </a:t>
            </a:r>
            <a:pPr indent="0" marL="0">
              <a:spcAft>
                <a:spcPts val="900"/>
              </a:spcAft>
              <a:buNone/>
            </a:pPr>
            <a:r>
              <a:rPr lang="en-US" sz="1500" dirty="0">
                <a:solidFill>
                  <a:srgbClr val="FFFFFF"/>
                </a:solidFill>
                <a:latin typeface="Arial" pitchFamily="34" charset="0"/>
                <a:ea typeface="Arial" pitchFamily="34" charset="-122"/>
                <a:cs typeface="Arial" pitchFamily="34" charset="-120"/>
              </a:rPr>
              <a:t>Superman vence sin renunciar a sus valores</a:t>
            </a:r>
            <a:endParaRPr lang="en-US" sz="1500" dirty="0"/>
          </a:p>
          <a:p>
            <a:pPr marL="203200" indent="-203200">
              <a:spcAft>
                <a:spcPts val="900"/>
              </a:spcAft>
              <a:buSzPct val="100000"/>
              <a:buChar char="•"/>
            </a:pPr>
            <a:r>
              <a:rPr lang="en-US" sz="1500" b="1" dirty="0">
                <a:solidFill>
                  <a:srgbClr val="FFFFFF"/>
                </a:solidFill>
                <a:latin typeface="Arial" pitchFamily="34" charset="0"/>
                <a:ea typeface="Arial" pitchFamily="34" charset="-122"/>
                <a:cs typeface="Arial" pitchFamily="34" charset="-120"/>
              </a:rPr>
              <a:t>Pero </a:t>
            </a:r>
            <a:pPr indent="0" marL="0">
              <a:spcAft>
                <a:spcPts val="900"/>
              </a:spcAft>
              <a:buNone/>
            </a:pPr>
            <a:r>
              <a:rPr lang="en-US" sz="1500" dirty="0">
                <a:solidFill>
                  <a:srgbClr val="FFFFFF"/>
                </a:solidFill>
                <a:latin typeface="Arial" pitchFamily="34" charset="0"/>
                <a:ea typeface="Arial" pitchFamily="34" charset="-122"/>
                <a:cs typeface="Arial" pitchFamily="34" charset="-120"/>
              </a:rPr>
              <a:t>el mainstream optó por la respuesta contraria</a:t>
            </a:r>
            <a:endParaRPr lang="en-US" sz="1500" dirty="0"/>
          </a:p>
        </p:txBody>
      </p:sp>
      <p:sp>
        <p:nvSpPr>
          <p:cNvPr id="17" name="Text 13"/>
          <p:cNvSpPr txBox="1"/>
          <p:nvPr/>
        </p:nvSpPr>
        <p:spPr>
          <a:xfrm>
            <a:off x="777240" y="4526280"/>
            <a:ext cx="6126480" cy="1051560"/>
          </a:xfrm>
          <a:prstGeom prst="wedgeRoundRectCallout">
            <a:avLst/>
          </a:prstGeom>
          <a:solidFill>
            <a:srgbClr val="FFFFFF"/>
          </a:solidFill>
          <a:ln w="31750">
            <a:solidFill>
              <a:srgbClr val="111111"/>
            </a:solidFill>
          </a:ln>
        </p:spPr>
        <p:txBody>
          <a:bodyPr wrap="square" lIns="101600" tIns="101600" rIns="101600" bIns="101600" rtlCol="0" anchor="ctr"/>
          <a:lstStyle/>
          <a:p>
            <a:pPr indent="0" marL="0">
              <a:buNone/>
            </a:pPr>
            <a:r>
              <a:rPr lang="en-US" sz="1300" b="1" i="1" dirty="0">
                <a:solidFill>
                  <a:srgbClr val="111111"/>
                </a:solidFill>
                <a:latin typeface="Arial" pitchFamily="34" charset="0"/>
                <a:ea typeface="Arial" pitchFamily="34" charset="-122"/>
                <a:cs typeface="Arial" pitchFamily="34" charset="-120"/>
              </a:rPr>
              <a:t>«People have to know that there's another way, Lois. They have to hear a voice of compassion and faith instead of spite and anger.» (p. 24)</a:t>
            </a:r>
            <a:endParaRPr lang="en-US" sz="1300" dirty="0"/>
          </a:p>
        </p:txBody>
      </p:sp>
      <p:sp>
        <p:nvSpPr>
          <p:cNvPr id="18" name="Shape 14"/>
          <p:cNvSpPr/>
          <p:nvPr/>
        </p:nvSpPr>
        <p:spPr>
          <a:xfrm>
            <a:off x="7946354" y="768096"/>
            <a:ext cx="3477028" cy="5321808"/>
          </a:xfrm>
          <a:prstGeom prst="rect">
            <a:avLst/>
          </a:prstGeom>
          <a:solidFill>
            <a:srgbClr val="FFFFFF"/>
          </a:solidFill>
          <a:ln w="38100">
            <a:solidFill>
              <a:srgbClr val="FFD400"/>
            </a:solidFill>
            <a:prstDash val="solid"/>
          </a:ln>
        </p:spPr>
      </p:sp>
      <p:pic>
        <p:nvPicPr>
          <p:cNvPr id="19" name="Action Comics 775, página 24" descr="Action Comics 775, página 24">    </p:cNvPr>
          <p:cNvPicPr>
            <a:picLocks noChangeAspect="1"/>
          </p:cNvPicPr>
          <p:nvPr/>
        </p:nvPicPr>
        <p:blipFill>
          <a:blip r:embed="rId3"/>
          <a:stretch>
            <a:fillRect/>
          </a:stretch>
        </p:blipFill>
        <p:spPr>
          <a:xfrm>
            <a:off x="8001218" y="822960"/>
            <a:ext cx="3367300" cy="5212080"/>
          </a:xfrm>
          <a:prstGeom prst="rect">
            <a:avLst/>
          </a:prstGeom>
        </p:spPr>
      </p:pic>
      <p:sp>
        <p:nvSpPr>
          <p:cNvPr id="20" name="Text 15"/>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Action Comics #775, p. 24 (DC, 2001)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Fondo Portada de Identity Crisis 7" descr="Portada de Identity Crisis 7">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8940576"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04. ANÁLISIS · DIMENSIÓN 4</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11 / 15</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DIMENSIÓN 4 · LEGITIMIDAD MORAL DEL HÉROE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Identity Crisis: la Liga de la Justicia bajo sospecha</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MELTZER Y MORALES · DC · 2005</a:t>
            </a:r>
            <a:endParaRPr lang="en-US" sz="1000" dirty="0"/>
          </a:p>
        </p:txBody>
      </p:sp>
      <p:sp>
        <p:nvSpPr>
          <p:cNvPr id="16" name="Text 12"/>
          <p:cNvSpPr txBox="1"/>
          <p:nvPr/>
        </p:nvSpPr>
        <p:spPr>
          <a:xfrm>
            <a:off x="777240" y="2560320"/>
            <a:ext cx="6126480" cy="338328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Policial superheroico: </a:t>
            </a:r>
            <a:pPr indent="0" marL="0">
              <a:spcAft>
                <a:spcPts val="900"/>
              </a:spcAft>
              <a:buNone/>
            </a:pPr>
            <a:r>
              <a:rPr lang="en-US" sz="1700" dirty="0">
                <a:solidFill>
                  <a:srgbClr val="FFFFFF"/>
                </a:solidFill>
                <a:latin typeface="Arial" pitchFamily="34" charset="0"/>
                <a:ea typeface="Arial" pitchFamily="34" charset="-122"/>
                <a:cs typeface="Arial" pitchFamily="34" charset="-120"/>
              </a:rPr>
              <a:t>miembros de la Liga lobotomizan a un villano tras el ataque a la esposa de uno de ellos</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Encubrimiento: </a:t>
            </a:r>
            <a:pPr indent="0" marL="0">
              <a:spcAft>
                <a:spcPts val="900"/>
              </a:spcAft>
              <a:buNone/>
            </a:pPr>
            <a:r>
              <a:rPr lang="en-US" sz="1700" dirty="0">
                <a:solidFill>
                  <a:srgbClr val="FFFFFF"/>
                </a:solidFill>
                <a:latin typeface="Arial" pitchFamily="34" charset="0"/>
                <a:ea typeface="Arial" pitchFamily="34" charset="-122"/>
                <a:cs typeface="Arial" pitchFamily="34" charset="-120"/>
              </a:rPr>
              <a:t>al ser confrontados por Batman, le borran la memoria a su propio compañero</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Lectura de Morrison (2011): </a:t>
            </a:r>
            <a:pPr indent="0" marL="0">
              <a:spcAft>
                <a:spcPts val="900"/>
              </a:spcAft>
              <a:buNone/>
            </a:pPr>
            <a:r>
              <a:rPr lang="en-US" sz="1700" dirty="0">
                <a:solidFill>
                  <a:srgbClr val="FFFFFF"/>
                </a:solidFill>
                <a:latin typeface="Arial" pitchFamily="34" charset="0"/>
                <a:ea typeface="Arial" pitchFamily="34" charset="-122"/>
                <a:cs typeface="Arial" pitchFamily="34" charset="-120"/>
              </a:rPr>
              <a:t>DC pone fin a la Edad de Plata</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Contexto: </a:t>
            </a:r>
            <a:pPr indent="0" marL="0">
              <a:spcAft>
                <a:spcPts val="900"/>
              </a:spcAft>
              <a:buNone/>
            </a:pPr>
            <a:r>
              <a:rPr lang="en-US" sz="1700" dirty="0">
                <a:solidFill>
                  <a:srgbClr val="FFFFFF"/>
                </a:solidFill>
                <a:latin typeface="Arial" pitchFamily="34" charset="0"/>
                <a:ea typeface="Arial" pitchFamily="34" charset="-122"/>
                <a:cs typeface="Arial" pitchFamily="34" charset="-120"/>
              </a:rPr>
              <a:t>DC abre las puertas a escritores de medios más glamorosos para repuntar ventas</a:t>
            </a:r>
            <a:endParaRPr lang="en-US" sz="1700" dirty="0"/>
          </a:p>
        </p:txBody>
      </p:sp>
      <p:sp>
        <p:nvSpPr>
          <p:cNvPr id="17" name="Shape 13"/>
          <p:cNvSpPr/>
          <p:nvPr/>
        </p:nvSpPr>
        <p:spPr>
          <a:xfrm>
            <a:off x="7950737" y="768096"/>
            <a:ext cx="3468262" cy="5321808"/>
          </a:xfrm>
          <a:prstGeom prst="rect">
            <a:avLst/>
          </a:prstGeom>
          <a:solidFill>
            <a:srgbClr val="FFFFFF"/>
          </a:solidFill>
          <a:ln w="38100">
            <a:solidFill>
              <a:srgbClr val="FFD400"/>
            </a:solidFill>
            <a:prstDash val="solid"/>
          </a:ln>
        </p:spPr>
      </p:sp>
      <p:pic>
        <p:nvPicPr>
          <p:cNvPr id="18" name="Portada de Identity Crisis 7" descr="Portada de Identity Crisis 7">    </p:cNvPr>
          <p:cNvPicPr>
            <a:picLocks noChangeAspect="1"/>
          </p:cNvPicPr>
          <p:nvPr/>
        </p:nvPicPr>
        <p:blipFill>
          <a:blip r:embed="rId3"/>
          <a:stretch>
            <a:fillRect/>
          </a:stretch>
        </p:blipFill>
        <p:spPr>
          <a:xfrm>
            <a:off x="8005601" y="822960"/>
            <a:ext cx="3358534" cy="5212080"/>
          </a:xfrm>
          <a:prstGeom prst="rect">
            <a:avLst/>
          </a:prstGeom>
        </p:spPr>
      </p:pic>
      <p:sp>
        <p:nvSpPr>
          <p:cNvPr id="19" name="Text 14"/>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Identity Crisis #7 (DC, 2005)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Fondo Portada de Infinite Crisis 1" descr="Portada de Infinite Crisis 1">    </p:cNvPr>
          <p:cNvPicPr>
            <a:picLocks noChangeAspect="1"/>
          </p:cNvPicPr>
          <p:nvPr/>
        </p:nvPicPr>
        <p:blipFill>
          <a:blip r:embed="rId1"/>
          <a:stretch>
            <a:fillRect/>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4" name="Progreso"/>
          <p:cNvSpPr/>
          <p:nvPr/>
        </p:nvSpPr>
        <p:spPr>
          <a:xfrm>
            <a:off x="0" y="0"/>
            <a:ext cx="9753356" cy="109728"/>
          </a:xfrm>
          <a:prstGeom prst="rect">
            <a:avLst/>
          </a:prstGeom>
          <a:solidFill>
            <a:srgbClr val="FFD400"/>
          </a:solidFill>
          <a:ln w="12700">
            <a:solidFill>
              <a:srgbClr val="111111"/>
            </a:solidFill>
            <a:prstDash val="solid"/>
          </a:ln>
        </p:spPr>
      </p:sp>
      <p:sp>
        <p:nvSpPr>
          <p:cNvPr id="5" name="Text 2"/>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04. ANÁLISIS · DIMENSIÓN 4</a:t>
            </a:r>
            <a:endParaRPr lang="en-US" sz="1000" dirty="0"/>
          </a:p>
        </p:txBody>
      </p:sp>
      <p:sp>
        <p:nvSpPr>
          <p:cNvPr id="6" name="Text 3"/>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JORNADAS DE INVESTIGADORES · IIGG-UBA</a:t>
            </a:r>
            <a:endParaRPr lang="en-US" sz="900" dirty="0"/>
          </a:p>
        </p:txBody>
      </p:sp>
      <p:sp>
        <p:nvSpPr>
          <p:cNvPr id="7" name="Shape 4"/>
          <p:cNvSpPr/>
          <p:nvPr/>
        </p:nvSpPr>
        <p:spPr>
          <a:xfrm>
            <a:off x="457200" y="6400800"/>
            <a:ext cx="11277295" cy="0"/>
          </a:xfrm>
          <a:prstGeom prst="line">
            <a:avLst/>
          </a:prstGeom>
          <a:noFill/>
          <a:ln w="6350">
            <a:solidFill>
              <a:srgbClr val="DDDDDD"/>
            </a:solidFill>
            <a:prstDash val="dash"/>
          </a:ln>
        </p:spPr>
      </p:sp>
      <p:sp>
        <p:nvSpPr>
          <p:cNvPr id="8" name="Text 5"/>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DIAPOSITIVA 12 / 15</a:t>
            </a:r>
            <a:endParaRPr lang="en-US" sz="900" dirty="0"/>
          </a:p>
        </p:txBody>
      </p:sp>
      <p:sp>
        <p:nvSpPr>
          <p:cNvPr id="9" name="Text 6"/>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DDDDDD"/>
                </a:solidFill>
                <a:latin typeface="Arial" pitchFamily="34" charset="0"/>
                <a:ea typeface="Arial" pitchFamily="34" charset="-122"/>
                <a:cs typeface="Arial" pitchFamily="34" charset="-120"/>
              </a:rPr>
              <a:t>ALEJO TOMÁS ORTEGA (FSOC-UBA)</a:t>
            </a:r>
            <a:endParaRPr lang="en-US" sz="900" dirty="0"/>
          </a:p>
        </p:txBody>
      </p:sp>
      <p:sp>
        <p:nvSpPr>
          <p:cNvPr id="10" name="Shape 7"/>
          <p:cNvSpPr/>
          <p:nvPr/>
        </p:nvSpPr>
        <p:spPr>
          <a:xfrm>
            <a:off x="530352" y="758952"/>
            <a:ext cx="6766560" cy="5486400"/>
          </a:xfrm>
          <a:prstGeom prst="rect">
            <a:avLst/>
          </a:prstGeom>
          <a:solidFill>
            <a:srgbClr val="FFD400"/>
          </a:solidFill>
          <a:ln w="12700">
            <a:solidFill>
              <a:srgbClr val="FFD400"/>
            </a:solidFill>
            <a:prstDash val="solid"/>
          </a:ln>
        </p:spPr>
      </p:sp>
      <p:sp>
        <p:nvSpPr>
          <p:cNvPr id="11" name="Panel de texto"/>
          <p:cNvSpPr/>
          <p:nvPr/>
        </p:nvSpPr>
        <p:spPr>
          <a:xfrm>
            <a:off x="457200" y="685800"/>
            <a:ext cx="6766560" cy="5486400"/>
          </a:xfrm>
          <a:prstGeom prst="rect">
            <a:avLst/>
          </a:prstGeom>
          <a:solidFill>
            <a:srgbClr val="0B0B0B">
              <a:alpha val="94000"/>
            </a:srgbClr>
          </a:solidFill>
          <a:ln w="38100">
            <a:solidFill>
              <a:srgbClr val="FFD400"/>
            </a:solidFill>
            <a:prstDash val="solid"/>
          </a:ln>
        </p:spPr>
      </p:sp>
      <p:pic>
        <p:nvPicPr>
          <p:cNvPr id="12" name="Trama panel" descr="Trama">    </p:cNvPr>
          <p:cNvPicPr>
            <a:picLocks noChangeAspect="1"/>
          </p:cNvPicPr>
          <p:nvPr/>
        </p:nvPicPr>
        <p:blipFill>
          <a:blip r:embed="rId2"/>
          <a:stretch>
            <a:fillRect/>
          </a:stretch>
        </p:blipFill>
        <p:spPr>
          <a:xfrm>
            <a:off x="457200" y="685800"/>
            <a:ext cx="6766560" cy="5486400"/>
          </a:xfrm>
          <a:prstGeom prst="rect">
            <a:avLst/>
          </a:prstGeom>
        </p:spPr>
      </p:pic>
      <p:sp>
        <p:nvSpPr>
          <p:cNvPr id="13" name="Text 9"/>
          <p:cNvSpPr txBox="1"/>
          <p:nvPr/>
        </p:nvSpPr>
        <p:spPr>
          <a:xfrm>
            <a:off x="777240" y="914400"/>
            <a:ext cx="612648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 DIMENSIÓN 4 · METACRÍTICA DEL GÉNERO ]</a:t>
            </a:r>
            <a:endParaRPr lang="en-US" sz="1000" dirty="0"/>
          </a:p>
        </p:txBody>
      </p:sp>
      <p:sp>
        <p:nvSpPr>
          <p:cNvPr id="14" name="Text 10"/>
          <p:cNvSpPr txBox="1"/>
          <p:nvPr/>
        </p:nvSpPr>
        <p:spPr>
          <a:xfrm>
            <a:off x="777240" y="1207008"/>
            <a:ext cx="6126480" cy="960120"/>
          </a:xfrm>
          <a:prstGeom prst="rect">
            <a:avLst/>
          </a:prstGeom>
          <a:noFill/>
          <a:ln/>
        </p:spPr>
        <p:txBody>
          <a:bodyPr wrap="square" lIns="0" tIns="0" rIns="0" bIns="0" rtlCol="0" anchor="t"/>
          <a:lstStyle/>
          <a:p>
            <a:pPr indent="0" marL="0">
              <a:buNone/>
            </a:pPr>
            <a:r>
              <a:rPr lang="en-US" sz="2800" dirty="0">
                <a:solidFill>
                  <a:srgbClr val="FFD400"/>
                </a:solidFill>
                <a:latin typeface="Impact" pitchFamily="34" charset="0"/>
                <a:ea typeface="Impact" pitchFamily="34" charset="-122"/>
                <a:cs typeface="Impact" pitchFamily="34" charset="-120"/>
              </a:rPr>
              <a:t>Infinite Crisis: el sueño americano roto</a:t>
            </a:r>
            <a:endParaRPr lang="en-US" sz="2800" dirty="0"/>
          </a:p>
        </p:txBody>
      </p:sp>
      <p:sp>
        <p:nvSpPr>
          <p:cNvPr id="15" name="Text 11"/>
          <p:cNvSpPr txBox="1"/>
          <p:nvPr/>
        </p:nvSpPr>
        <p:spPr>
          <a:xfrm>
            <a:off x="777240" y="2148840"/>
            <a:ext cx="6126480" cy="274320"/>
          </a:xfrm>
          <a:prstGeom prst="rect">
            <a:avLst/>
          </a:prstGeom>
          <a:noFill/>
          <a:ln/>
        </p:spPr>
        <p:txBody>
          <a:bodyPr wrap="square" lIns="0" tIns="0" rIns="0" bIns="0" rtlCol="0" anchor="ctr"/>
          <a:lstStyle/>
          <a:p>
            <a:pPr indent="0" marL="0">
              <a:buNone/>
            </a:pPr>
            <a:r>
              <a:rPr lang="en-US" sz="1000" b="1" dirty="0">
                <a:solidFill>
                  <a:srgbClr val="DDDDDD"/>
                </a:solidFill>
                <a:latin typeface="Arial" pitchFamily="34" charset="0"/>
                <a:ea typeface="Arial" pitchFamily="34" charset="-122"/>
                <a:cs typeface="Arial" pitchFamily="34" charset="-120"/>
              </a:rPr>
              <a:t>JOHNS ET AL. · DC · 2006</a:t>
            </a:r>
            <a:endParaRPr lang="en-US" sz="1000" dirty="0"/>
          </a:p>
        </p:txBody>
      </p:sp>
      <p:sp>
        <p:nvSpPr>
          <p:cNvPr id="16" name="Text 12"/>
          <p:cNvSpPr txBox="1"/>
          <p:nvPr/>
        </p:nvSpPr>
        <p:spPr>
          <a:xfrm>
            <a:off x="777240" y="2560320"/>
            <a:ext cx="6126480" cy="338328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Vigésimo aniversario </a:t>
            </a:r>
            <a:pPr indent="0" marL="0">
              <a:spcAft>
                <a:spcPts val="900"/>
              </a:spcAft>
              <a:buNone/>
            </a:pPr>
            <a:r>
              <a:rPr lang="en-US" sz="1700" dirty="0">
                <a:solidFill>
                  <a:srgbClr val="FFFFFF"/>
                </a:solidFill>
                <a:latin typeface="Arial" pitchFamily="34" charset="0"/>
                <a:ea typeface="Arial" pitchFamily="34" charset="-122"/>
                <a:cs typeface="Arial" pitchFamily="34" charset="-120"/>
              </a:rPr>
              <a:t>de Crisis on Infinite Earths (1986); miniserie de siete números</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Los personajes de la Crisis original </a:t>
            </a:r>
            <a:pPr indent="0" marL="0">
              <a:spcAft>
                <a:spcPts val="900"/>
              </a:spcAft>
              <a:buNone/>
            </a:pPr>
            <a:r>
              <a:rPr lang="en-US" sz="1700" dirty="0">
                <a:solidFill>
                  <a:srgbClr val="FFFFFF"/>
                </a:solidFill>
                <a:latin typeface="Arial" pitchFamily="34" charset="0"/>
                <a:ea typeface="Arial" pitchFamily="34" charset="-122"/>
                <a:cs typeface="Arial" pitchFamily="34" charset="-120"/>
              </a:rPr>
              <a:t>quieren reemplazar el universo actual por el de los '40</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Lema: </a:t>
            </a:r>
            <a:pPr indent="0" marL="0">
              <a:spcAft>
                <a:spcPts val="900"/>
              </a:spcAft>
              <a:buNone/>
            </a:pPr>
            <a:r>
              <a:rPr lang="en-US" sz="1700" dirty="0">
                <a:solidFill>
                  <a:srgbClr val="FFFFFF"/>
                </a:solidFill>
                <a:latin typeface="Arial" pitchFamily="34" charset="0"/>
                <a:ea typeface="Arial" pitchFamily="34" charset="-122"/>
                <a:cs typeface="Arial" pitchFamily="34" charset="-120"/>
              </a:rPr>
              <a:t>«we've given them a gift they've thrown away» (Johns y Jiménez, 2006, p. 38)</a:t>
            </a:r>
            <a:endParaRPr lang="en-US" sz="1700" dirty="0"/>
          </a:p>
          <a:p>
            <a:pPr marL="203200" indent="-203200">
              <a:spcAft>
                <a:spcPts val="900"/>
              </a:spcAft>
              <a:buSzPct val="100000"/>
              <a:buChar char="•"/>
            </a:pPr>
            <a:r>
              <a:rPr lang="en-US" sz="1700" b="1" dirty="0">
                <a:solidFill>
                  <a:srgbClr val="FFFFFF"/>
                </a:solidFill>
                <a:latin typeface="Arial" pitchFamily="34" charset="0"/>
                <a:ea typeface="Arial" pitchFamily="34" charset="-122"/>
                <a:cs typeface="Arial" pitchFamily="34" charset="-120"/>
              </a:rPr>
              <a:t>Doble lectura: </a:t>
            </a:r>
            <a:pPr indent="0" marL="0">
              <a:spcAft>
                <a:spcPts val="900"/>
              </a:spcAft>
              <a:buNone/>
            </a:pPr>
            <a:r>
              <a:rPr lang="en-US" sz="1700" dirty="0">
                <a:solidFill>
                  <a:srgbClr val="FFFFFF"/>
                </a:solidFill>
                <a:latin typeface="Arial" pitchFamily="34" charset="0"/>
                <a:ea typeface="Arial" pitchFamily="34" charset="-122"/>
                <a:cs typeface="Arial" pitchFamily="34" charset="-120"/>
              </a:rPr>
              <a:t>metanarrativa sobre el cómic y reflejo de la ruptura del sueño americano (11S e invasión a Irak)</a:t>
            </a:r>
            <a:endParaRPr lang="en-US" sz="1700" dirty="0"/>
          </a:p>
        </p:txBody>
      </p:sp>
      <p:sp>
        <p:nvSpPr>
          <p:cNvPr id="17" name="Shape 13"/>
          <p:cNvSpPr/>
          <p:nvPr/>
        </p:nvSpPr>
        <p:spPr>
          <a:xfrm>
            <a:off x="7956910" y="768096"/>
            <a:ext cx="3455916" cy="5321808"/>
          </a:xfrm>
          <a:prstGeom prst="rect">
            <a:avLst/>
          </a:prstGeom>
          <a:solidFill>
            <a:srgbClr val="FFFFFF"/>
          </a:solidFill>
          <a:ln w="38100">
            <a:solidFill>
              <a:srgbClr val="FFD400"/>
            </a:solidFill>
            <a:prstDash val="solid"/>
          </a:ln>
        </p:spPr>
      </p:sp>
      <p:pic>
        <p:nvPicPr>
          <p:cNvPr id="18" name="Portada de Infinite Crisis 1" descr="Portada de Infinite Crisis 1">    </p:cNvPr>
          <p:cNvPicPr>
            <a:picLocks noChangeAspect="1"/>
          </p:cNvPicPr>
          <p:nvPr/>
        </p:nvPicPr>
        <p:blipFill>
          <a:blip r:embed="rId3"/>
          <a:stretch>
            <a:fillRect/>
          </a:stretch>
        </p:blipFill>
        <p:spPr>
          <a:xfrm>
            <a:off x="8011774" y="822960"/>
            <a:ext cx="3346188" cy="5212080"/>
          </a:xfrm>
          <a:prstGeom prst="rect">
            <a:avLst/>
          </a:prstGeom>
        </p:spPr>
      </p:pic>
      <p:sp>
        <p:nvSpPr>
          <p:cNvPr id="19" name="Text 14"/>
          <p:cNvSpPr txBox="1"/>
          <p:nvPr/>
        </p:nvSpPr>
        <p:spPr>
          <a:xfrm>
            <a:off x="7635240" y="6126480"/>
            <a:ext cx="4099255" cy="228600"/>
          </a:xfrm>
          <a:prstGeom prst="rect">
            <a:avLst/>
          </a:prstGeom>
          <a:noFill/>
          <a:ln/>
        </p:spPr>
        <p:txBody>
          <a:bodyPr wrap="square" lIns="0" tIns="0" rIns="0" bIns="0" rtlCol="0" anchor="ctr"/>
          <a:lstStyle/>
          <a:p>
            <a:pPr algn="ctr" indent="0" marL="0">
              <a:buNone/>
            </a:pPr>
            <a:r>
              <a:rPr lang="en-US" sz="900" dirty="0">
                <a:solidFill>
                  <a:srgbClr val="EEEEEE"/>
                </a:solidFill>
                <a:latin typeface="Arial" pitchFamily="34" charset="0"/>
                <a:ea typeface="Arial" pitchFamily="34" charset="-122"/>
                <a:cs typeface="Arial" pitchFamily="34" charset="-120"/>
              </a:rPr>
              <a:t>Infinite Crisis #1 (DC, 2005)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0566136"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05. DISCUSIÓN</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13 / 15</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Dos respuestas editoriales a una misma crisis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DIMENSIONES × OBRAS ]</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5852160" cy="914400"/>
        </p:xfrm>
        <a:graphic>
          <a:graphicData uri="http://schemas.openxmlformats.org/drawingml/2006/table">
            <a:tbl>
              <a:tblPr/>
              <a:tblGrid>
                <a:gridCol w="2377440"/>
                <a:gridCol w="868680"/>
                <a:gridCol w="868680"/>
                <a:gridCol w="868680"/>
                <a:gridCol w="868680"/>
              </a:tblGrid>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Obra</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D1</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D2</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D3</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D4</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1A8"/>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The Authority</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Action Comics #775</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The Ultimates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Identity Crisis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Infinite Crisis</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Civil War</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11111"/>
                          </a:solidFill>
                          <a:latin typeface="Arial" pitchFamily="34" charset="0"/>
                          <a:ea typeface="Arial" pitchFamily="34" charset="-122"/>
                          <a:cs typeface="Arial" pitchFamily="34" charset="-120"/>
                        </a:rPr>
                        <a:t>Secret Invasion</a:t>
                      </a:r>
                      <a:endParaRPr lang="en-US" sz="12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algn="ctr" indent="0" marL="0">
                        <a:buNone/>
                      </a:pPr>
                      <a:endParaRPr lang="en-US" sz="1400" dirty="0">
                        <a:latin typeface="Arial" charset="0"/>
                        <a:ea typeface="Arial" charset="0"/>
                        <a:cs typeface="Arial" charset="0"/>
                      </a:endParaRPr>
                    </a:p>
                  </a:txBody>
                  <a:tcPr marL="91440" marR="91440" marT="0" marB="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457200" y="4937760"/>
            <a:ext cx="5852160" cy="548640"/>
          </a:xfrm>
          <a:prstGeom prst="rect">
            <a:avLst/>
          </a:prstGeom>
          <a:noFill/>
          <a:ln/>
        </p:spPr>
        <p:txBody>
          <a:bodyPr wrap="square" lIns="0" tIns="0" rIns="0" bIns="0" rtlCol="0" anchor="t"/>
          <a:lstStyle/>
          <a:p>
            <a:pPr indent="0" marL="0">
              <a:buNone/>
            </a:pPr>
            <a:r>
              <a:rPr lang="en-US" sz="1000" dirty="0">
                <a:solidFill>
                  <a:srgbClr val="444444"/>
                </a:solidFill>
                <a:latin typeface="Arial" pitchFamily="34" charset="0"/>
                <a:ea typeface="Arial" pitchFamily="34" charset="-122"/>
                <a:cs typeface="Arial" pitchFamily="34" charset="-120"/>
              </a:rPr>
              <a:t>D1 militarización · D2 excepcionalismo · D3 seguridad vs. libertades · D4 legitimidad moral</a:t>
            </a:r>
            <a:endParaRPr lang="en-US" sz="1000" dirty="0"/>
          </a:p>
        </p:txBody>
      </p:sp>
      <p:sp>
        <p:nvSpPr>
          <p:cNvPr id="15" name="Shape 11"/>
          <p:cNvSpPr/>
          <p:nvPr/>
        </p:nvSpPr>
        <p:spPr>
          <a:xfrm>
            <a:off x="6656832" y="1581912"/>
            <a:ext cx="5148072" cy="2331720"/>
          </a:xfrm>
          <a:prstGeom prst="rect">
            <a:avLst/>
          </a:prstGeom>
          <a:solidFill>
            <a:srgbClr val="111111"/>
          </a:solidFill>
          <a:ln w="12700">
            <a:solidFill>
              <a:srgbClr val="111111"/>
            </a:solidFill>
            <a:prstDash val="solid"/>
          </a:ln>
        </p:spPr>
      </p:sp>
      <p:sp>
        <p:nvSpPr>
          <p:cNvPr id="16" name="Shape 12"/>
          <p:cNvSpPr/>
          <p:nvPr/>
        </p:nvSpPr>
        <p:spPr>
          <a:xfrm>
            <a:off x="6583680" y="1508760"/>
            <a:ext cx="5148072" cy="2331720"/>
          </a:xfrm>
          <a:prstGeom prst="rect">
            <a:avLst/>
          </a:prstGeom>
          <a:solidFill>
            <a:srgbClr val="FFFFFF"/>
          </a:solidFill>
          <a:ln w="31750">
            <a:solidFill>
              <a:srgbClr val="111111"/>
            </a:solidFill>
            <a:prstDash val="solid"/>
          </a:ln>
        </p:spPr>
      </p:sp>
      <p:sp>
        <p:nvSpPr>
          <p:cNvPr id="17" name="Text 13"/>
          <p:cNvSpPr txBox="1"/>
          <p:nvPr/>
        </p:nvSpPr>
        <p:spPr>
          <a:xfrm>
            <a:off x="6766560" y="1664208"/>
            <a:ext cx="237744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MARVEL · MILITARIZACIÓN</a:t>
            </a:r>
            <a:endParaRPr lang="en-US" sz="1000" dirty="0"/>
          </a:p>
        </p:txBody>
      </p:sp>
      <p:sp>
        <p:nvSpPr>
          <p:cNvPr id="18" name="Text 14"/>
          <p:cNvSpPr txBox="1"/>
          <p:nvPr/>
        </p:nvSpPr>
        <p:spPr>
          <a:xfrm>
            <a:off x="6766560" y="2057400"/>
            <a:ext cx="4800600" cy="169164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Normaliza al superhéroe al servicio del Estado (The Ultimates, Civil War, Secret Invasion) y, vía cine, construye con Iron Man un nuevo modelo de masculinidad que catapulta al MCU.</a:t>
            </a:r>
            <a:endParaRPr lang="en-US" sz="1500" dirty="0"/>
          </a:p>
        </p:txBody>
      </p:sp>
      <p:sp>
        <p:nvSpPr>
          <p:cNvPr id="19" name="Shape 15"/>
          <p:cNvSpPr/>
          <p:nvPr/>
        </p:nvSpPr>
        <p:spPr>
          <a:xfrm>
            <a:off x="6656832" y="4096512"/>
            <a:ext cx="5148072" cy="2194560"/>
          </a:xfrm>
          <a:prstGeom prst="rect">
            <a:avLst/>
          </a:prstGeom>
          <a:solidFill>
            <a:srgbClr val="111111"/>
          </a:solidFill>
          <a:ln w="12700">
            <a:solidFill>
              <a:srgbClr val="111111"/>
            </a:solidFill>
            <a:prstDash val="solid"/>
          </a:ln>
        </p:spPr>
      </p:sp>
      <p:sp>
        <p:nvSpPr>
          <p:cNvPr id="20" name="Shape 16"/>
          <p:cNvSpPr/>
          <p:nvPr/>
        </p:nvSpPr>
        <p:spPr>
          <a:xfrm>
            <a:off x="6583680" y="4023360"/>
            <a:ext cx="5148072" cy="2194560"/>
          </a:xfrm>
          <a:prstGeom prst="rect">
            <a:avLst/>
          </a:prstGeom>
          <a:solidFill>
            <a:srgbClr val="FFF1A8"/>
          </a:solidFill>
          <a:ln w="31750">
            <a:solidFill>
              <a:srgbClr val="111111"/>
            </a:solidFill>
            <a:prstDash val="solid"/>
          </a:ln>
        </p:spPr>
      </p:sp>
      <p:sp>
        <p:nvSpPr>
          <p:cNvPr id="21" name="Text 17"/>
          <p:cNvSpPr txBox="1"/>
          <p:nvPr/>
        </p:nvSpPr>
        <p:spPr>
          <a:xfrm>
            <a:off x="6766560" y="4178808"/>
            <a:ext cx="182880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DC · METACRÍTICA</a:t>
            </a:r>
            <a:endParaRPr lang="en-US" sz="1000" dirty="0"/>
          </a:p>
        </p:txBody>
      </p:sp>
      <p:sp>
        <p:nvSpPr>
          <p:cNvPr id="22" name="Text 18"/>
          <p:cNvSpPr txBox="1"/>
          <p:nvPr/>
        </p:nvSpPr>
        <p:spPr>
          <a:xfrm>
            <a:off x="6766560" y="4572000"/>
            <a:ext cx="4800600" cy="155448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Repiensa el rol del superhéroe desde adentro (Action Comics #775, Identity Crisis, Infinite Crisis): su caída como síntoma de la ruptura del sueño americano.</a:t>
            </a:r>
            <a:endParaRPr lang="en-US" sz="1500" dirty="0"/>
          </a:p>
        </p:txBody>
      </p:sp>
      <p:sp>
        <p:nvSpPr>
          <p:cNvPr id="23" name="Text 19"/>
          <p:cNvSpPr txBox="1"/>
          <p:nvPr/>
        </p:nvSpPr>
        <p:spPr>
          <a:xfrm>
            <a:off x="457200" y="5577840"/>
            <a:ext cx="5852160" cy="594360"/>
          </a:xfrm>
          <a:prstGeom prst="rect">
            <a:avLst/>
          </a:prstGeom>
          <a:noFill/>
          <a:ln/>
        </p:spPr>
        <p:txBody>
          <a:bodyPr wrap="square" lIns="0" tIns="0" rIns="0" bIns="0" rtlCol="0" anchor="t"/>
          <a:lstStyle/>
          <a:p>
            <a:pPr indent="0" marL="0">
              <a:buNone/>
            </a:pPr>
            <a:r>
              <a:rPr lang="en-US" sz="1300" i="1" dirty="0">
                <a:solidFill>
                  <a:srgbClr val="111111"/>
                </a:solidFill>
                <a:latin typeface="Arial" pitchFamily="34" charset="0"/>
                <a:ea typeface="Arial" pitchFamily="34" charset="-122"/>
                <a:cs typeface="Arial" pitchFamily="34" charset="-120"/>
              </a:rPr>
              <a:t>The Authority (1999) anticipa el giro: la violencia letal al servicio de la seguridad global.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1378916"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06. CONCLUSIÓN</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14 / 15</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Respuesta a la pregunta y mirada actual</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CIERRE ]</a:t>
            </a:r>
            <a:endParaRPr lang="en-US" sz="900" dirty="0"/>
          </a:p>
        </p:txBody>
      </p:sp>
      <p:sp>
        <p:nvSpPr>
          <p:cNvPr id="13" name="Shape 10"/>
          <p:cNvSpPr/>
          <p:nvPr/>
        </p:nvSpPr>
        <p:spPr>
          <a:xfrm>
            <a:off x="530352" y="1581912"/>
            <a:ext cx="6949440" cy="1463040"/>
          </a:xfrm>
          <a:prstGeom prst="rect">
            <a:avLst/>
          </a:prstGeom>
          <a:solidFill>
            <a:srgbClr val="111111"/>
          </a:solidFill>
          <a:ln w="12700">
            <a:solidFill>
              <a:srgbClr val="111111"/>
            </a:solidFill>
            <a:prstDash val="solid"/>
          </a:ln>
        </p:spPr>
      </p:sp>
      <p:sp>
        <p:nvSpPr>
          <p:cNvPr id="14" name="Shape 11"/>
          <p:cNvSpPr/>
          <p:nvPr/>
        </p:nvSpPr>
        <p:spPr>
          <a:xfrm>
            <a:off x="457200" y="1508760"/>
            <a:ext cx="6949440" cy="1463040"/>
          </a:xfrm>
          <a:prstGeom prst="rect">
            <a:avLst/>
          </a:prstGeom>
          <a:solidFill>
            <a:srgbClr val="FFFFFF"/>
          </a:solidFill>
          <a:ln w="31750">
            <a:solidFill>
              <a:srgbClr val="111111"/>
            </a:solidFill>
            <a:prstDash val="solid"/>
          </a:ln>
        </p:spPr>
      </p:sp>
      <p:sp>
        <p:nvSpPr>
          <p:cNvPr id="15" name="Text 12"/>
          <p:cNvSpPr txBox="1"/>
          <p:nvPr/>
        </p:nvSpPr>
        <p:spPr>
          <a:xfrm>
            <a:off x="640080" y="1645920"/>
            <a:ext cx="731520" cy="457200"/>
          </a:xfrm>
          <a:prstGeom prst="rect">
            <a:avLst/>
          </a:prstGeom>
          <a:noFill/>
          <a:ln/>
        </p:spPr>
        <p:txBody>
          <a:bodyPr wrap="square" lIns="0" tIns="0" rIns="0" bIns="0" rtlCol="0" anchor="ctr"/>
          <a:lstStyle/>
          <a:p>
            <a:pPr indent="0" marL="0">
              <a:buNone/>
            </a:pPr>
            <a:r>
              <a:rPr lang="en-US" sz="2400" dirty="0">
                <a:solidFill>
                  <a:srgbClr val="111111"/>
                </a:solidFill>
                <a:latin typeface="Impact" pitchFamily="34" charset="0"/>
                <a:ea typeface="Impact" pitchFamily="34" charset="-122"/>
                <a:cs typeface="Impact" pitchFamily="34" charset="-120"/>
              </a:rPr>
              <a:t>01</a:t>
            </a:r>
            <a:endParaRPr lang="en-US" sz="2400" dirty="0"/>
          </a:p>
        </p:txBody>
      </p:sp>
      <p:sp>
        <p:nvSpPr>
          <p:cNvPr id="16" name="Text 13"/>
          <p:cNvSpPr txBox="1"/>
          <p:nvPr/>
        </p:nvSpPr>
        <p:spPr>
          <a:xfrm>
            <a:off x="1371600" y="1645920"/>
            <a:ext cx="5852160" cy="36576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El 11S fue punto de quiebre</a:t>
            </a:r>
            <a:endParaRPr lang="en-US" sz="1700" dirty="0"/>
          </a:p>
        </p:txBody>
      </p:sp>
      <p:sp>
        <p:nvSpPr>
          <p:cNvPr id="17" name="Text 14"/>
          <p:cNvSpPr txBox="1"/>
          <p:nvPr/>
        </p:nvSpPr>
        <p:spPr>
          <a:xfrm>
            <a:off x="1371600" y="2057400"/>
            <a:ext cx="5852160" cy="86868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Profundizó una violencia gestada desde fines de los '80 y expresó la militarización, el excepcionalismo y la primacía de la seguridad.</a:t>
            </a:r>
            <a:endParaRPr lang="en-US" sz="1400" dirty="0"/>
          </a:p>
        </p:txBody>
      </p:sp>
      <p:sp>
        <p:nvSpPr>
          <p:cNvPr id="18" name="Shape 15"/>
          <p:cNvSpPr/>
          <p:nvPr/>
        </p:nvSpPr>
        <p:spPr>
          <a:xfrm>
            <a:off x="530352" y="3182112"/>
            <a:ext cx="6949440" cy="1463040"/>
          </a:xfrm>
          <a:prstGeom prst="rect">
            <a:avLst/>
          </a:prstGeom>
          <a:solidFill>
            <a:srgbClr val="111111"/>
          </a:solidFill>
          <a:ln w="12700">
            <a:solidFill>
              <a:srgbClr val="111111"/>
            </a:solidFill>
            <a:prstDash val="solid"/>
          </a:ln>
        </p:spPr>
      </p:sp>
      <p:sp>
        <p:nvSpPr>
          <p:cNvPr id="19" name="Shape 16"/>
          <p:cNvSpPr/>
          <p:nvPr/>
        </p:nvSpPr>
        <p:spPr>
          <a:xfrm>
            <a:off x="457200" y="3108960"/>
            <a:ext cx="6949440" cy="1463040"/>
          </a:xfrm>
          <a:prstGeom prst="rect">
            <a:avLst/>
          </a:prstGeom>
          <a:solidFill>
            <a:srgbClr val="FFFFFF"/>
          </a:solidFill>
          <a:ln w="31750">
            <a:solidFill>
              <a:srgbClr val="111111"/>
            </a:solidFill>
            <a:prstDash val="solid"/>
          </a:ln>
        </p:spPr>
      </p:sp>
      <p:sp>
        <p:nvSpPr>
          <p:cNvPr id="20" name="Text 17"/>
          <p:cNvSpPr txBox="1"/>
          <p:nvPr/>
        </p:nvSpPr>
        <p:spPr>
          <a:xfrm>
            <a:off x="640080" y="3246120"/>
            <a:ext cx="731520" cy="457200"/>
          </a:xfrm>
          <a:prstGeom prst="rect">
            <a:avLst/>
          </a:prstGeom>
          <a:noFill/>
          <a:ln/>
        </p:spPr>
        <p:txBody>
          <a:bodyPr wrap="square" lIns="0" tIns="0" rIns="0" bIns="0" rtlCol="0" anchor="ctr"/>
          <a:lstStyle/>
          <a:p>
            <a:pPr indent="0" marL="0">
              <a:buNone/>
            </a:pPr>
            <a:r>
              <a:rPr lang="en-US" sz="2400" dirty="0">
                <a:solidFill>
                  <a:srgbClr val="111111"/>
                </a:solidFill>
                <a:latin typeface="Impact" pitchFamily="34" charset="0"/>
                <a:ea typeface="Impact" pitchFamily="34" charset="-122"/>
                <a:cs typeface="Impact" pitchFamily="34" charset="-120"/>
              </a:rPr>
              <a:t>02</a:t>
            </a:r>
            <a:endParaRPr lang="en-US" sz="2400" dirty="0"/>
          </a:p>
        </p:txBody>
      </p:sp>
      <p:sp>
        <p:nvSpPr>
          <p:cNvPr id="21" name="Text 18"/>
          <p:cNvSpPr txBox="1"/>
          <p:nvPr/>
        </p:nvSpPr>
        <p:spPr>
          <a:xfrm>
            <a:off x="1371600" y="3246120"/>
            <a:ext cx="5852160" cy="36576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Dos caminos editoriales</a:t>
            </a:r>
            <a:endParaRPr lang="en-US" sz="1700" dirty="0"/>
          </a:p>
        </p:txBody>
      </p:sp>
      <p:sp>
        <p:nvSpPr>
          <p:cNvPr id="22" name="Text 19"/>
          <p:cNvSpPr txBox="1"/>
          <p:nvPr/>
        </p:nvSpPr>
        <p:spPr>
          <a:xfrm>
            <a:off x="1371600" y="3657600"/>
            <a:ext cx="5852160" cy="86868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Marvel militarizó el género; DC lo sometió a metacrítica.</a:t>
            </a:r>
            <a:endParaRPr lang="en-US" sz="1400" dirty="0"/>
          </a:p>
        </p:txBody>
      </p:sp>
      <p:sp>
        <p:nvSpPr>
          <p:cNvPr id="23" name="Shape 20"/>
          <p:cNvSpPr/>
          <p:nvPr/>
        </p:nvSpPr>
        <p:spPr>
          <a:xfrm>
            <a:off x="530352" y="4782312"/>
            <a:ext cx="6949440" cy="1463040"/>
          </a:xfrm>
          <a:prstGeom prst="rect">
            <a:avLst/>
          </a:prstGeom>
          <a:solidFill>
            <a:srgbClr val="111111"/>
          </a:solidFill>
          <a:ln w="12700">
            <a:solidFill>
              <a:srgbClr val="111111"/>
            </a:solidFill>
            <a:prstDash val="solid"/>
          </a:ln>
        </p:spPr>
      </p:sp>
      <p:sp>
        <p:nvSpPr>
          <p:cNvPr id="24" name="Shape 21"/>
          <p:cNvSpPr/>
          <p:nvPr/>
        </p:nvSpPr>
        <p:spPr>
          <a:xfrm>
            <a:off x="457200" y="4709160"/>
            <a:ext cx="6949440" cy="1463040"/>
          </a:xfrm>
          <a:prstGeom prst="rect">
            <a:avLst/>
          </a:prstGeom>
          <a:solidFill>
            <a:srgbClr val="FFFFFF"/>
          </a:solidFill>
          <a:ln w="31750">
            <a:solidFill>
              <a:srgbClr val="111111"/>
            </a:solidFill>
            <a:prstDash val="solid"/>
          </a:ln>
        </p:spPr>
      </p:sp>
      <p:sp>
        <p:nvSpPr>
          <p:cNvPr id="25" name="Text 22"/>
          <p:cNvSpPr txBox="1"/>
          <p:nvPr/>
        </p:nvSpPr>
        <p:spPr>
          <a:xfrm>
            <a:off x="640080" y="4846320"/>
            <a:ext cx="731520" cy="457200"/>
          </a:xfrm>
          <a:prstGeom prst="rect">
            <a:avLst/>
          </a:prstGeom>
          <a:noFill/>
          <a:ln/>
        </p:spPr>
        <p:txBody>
          <a:bodyPr wrap="square" lIns="0" tIns="0" rIns="0" bIns="0" rtlCol="0" anchor="ctr"/>
          <a:lstStyle/>
          <a:p>
            <a:pPr indent="0" marL="0">
              <a:buNone/>
            </a:pPr>
            <a:r>
              <a:rPr lang="en-US" sz="2400" dirty="0">
                <a:solidFill>
                  <a:srgbClr val="111111"/>
                </a:solidFill>
                <a:latin typeface="Impact" pitchFamily="34" charset="0"/>
                <a:ea typeface="Impact" pitchFamily="34" charset="-122"/>
                <a:cs typeface="Impact" pitchFamily="34" charset="-120"/>
              </a:rPr>
              <a:t>03</a:t>
            </a:r>
            <a:endParaRPr lang="en-US" sz="2400" dirty="0"/>
          </a:p>
        </p:txBody>
      </p:sp>
      <p:sp>
        <p:nvSpPr>
          <p:cNvPr id="26" name="Text 23"/>
          <p:cNvSpPr txBox="1"/>
          <p:nvPr/>
        </p:nvSpPr>
        <p:spPr>
          <a:xfrm>
            <a:off x="1371600" y="4846320"/>
            <a:ext cx="5852160" cy="36576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Un género parodia de sí mismo</a:t>
            </a:r>
            <a:endParaRPr lang="en-US" sz="1700" dirty="0"/>
          </a:p>
        </p:txBody>
      </p:sp>
      <p:sp>
        <p:nvSpPr>
          <p:cNvPr id="27" name="Text 24"/>
          <p:cNvSpPr txBox="1"/>
          <p:nvPr/>
        </p:nvSpPr>
        <p:spPr>
          <a:xfrm>
            <a:off x="1371600" y="5257800"/>
            <a:ext cx="5852160" cy="86868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El grim &amp; gritty y la militarización lo alejaron de los problemas reales del mundo. «Y sin embargo, ahí va a estar Superman.»</a:t>
            </a:r>
            <a:endParaRPr lang="en-US" sz="1400" dirty="0"/>
          </a:p>
        </p:txBody>
      </p:sp>
      <p:sp>
        <p:nvSpPr>
          <p:cNvPr id="28" name="Shape 25"/>
          <p:cNvSpPr/>
          <p:nvPr/>
        </p:nvSpPr>
        <p:spPr>
          <a:xfrm>
            <a:off x="7680960" y="1508760"/>
            <a:ext cx="4050792" cy="4709160"/>
          </a:xfrm>
          <a:prstGeom prst="rect">
            <a:avLst/>
          </a:prstGeom>
          <a:solidFill>
            <a:srgbClr val="111111"/>
          </a:solidFill>
          <a:ln w="38100">
            <a:solidFill>
              <a:srgbClr val="FFD400"/>
            </a:solidFill>
            <a:prstDash val="solid"/>
          </a:ln>
        </p:spPr>
      </p:sp>
      <p:sp>
        <p:nvSpPr>
          <p:cNvPr id="29" name="Text 26"/>
          <p:cNvSpPr txBox="1"/>
          <p:nvPr/>
        </p:nvSpPr>
        <p:spPr>
          <a:xfrm>
            <a:off x="7955280" y="1691640"/>
            <a:ext cx="3474720" cy="274320"/>
          </a:xfrm>
          <a:prstGeom prst="rect">
            <a:avLst/>
          </a:prstGeom>
          <a:noFill/>
          <a:ln/>
        </p:spPr>
        <p:txBody>
          <a:bodyPr wrap="square" lIns="0" tIns="0" rIns="0" bIns="0" rtlCol="0" anchor="ctr"/>
          <a:lstStyle/>
          <a:p>
            <a:pPr indent="0" marL="0">
              <a:buNone/>
            </a:pPr>
            <a:r>
              <a:rPr lang="en-US" sz="1000" b="1" dirty="0">
                <a:solidFill>
                  <a:srgbClr val="FFD400"/>
                </a:solidFill>
                <a:latin typeface="Arial" pitchFamily="34" charset="0"/>
                <a:ea typeface="Arial" pitchFamily="34" charset="-122"/>
                <a:cs typeface="Arial" pitchFamily="34" charset="-120"/>
              </a:rPr>
              <a:t>ACTUALIDAD</a:t>
            </a:r>
            <a:endParaRPr lang="en-US" sz="1000" dirty="0"/>
          </a:p>
        </p:txBody>
      </p:sp>
      <p:sp>
        <p:nvSpPr>
          <p:cNvPr id="30" name="Text 27"/>
          <p:cNvSpPr txBox="1"/>
          <p:nvPr/>
        </p:nvSpPr>
        <p:spPr>
          <a:xfrm>
            <a:off x="7955280" y="2011680"/>
            <a:ext cx="3520440" cy="822960"/>
          </a:xfrm>
          <a:prstGeom prst="rect">
            <a:avLst/>
          </a:prstGeom>
          <a:noFill/>
          <a:ln/>
        </p:spPr>
        <p:txBody>
          <a:bodyPr wrap="square" lIns="0" tIns="0" rIns="0" bIns="0" rtlCol="0" anchor="t"/>
          <a:lstStyle/>
          <a:p>
            <a:pPr indent="0" marL="0">
              <a:buNone/>
            </a:pPr>
            <a:r>
              <a:rPr lang="en-US" sz="2000" dirty="0">
                <a:solidFill>
                  <a:srgbClr val="FFD400"/>
                </a:solidFill>
                <a:latin typeface="Impact" pitchFamily="34" charset="0"/>
                <a:ea typeface="Impact" pitchFamily="34" charset="-122"/>
                <a:cs typeface="Impact" pitchFamily="34" charset="-120"/>
              </a:rPr>
              <a:t>Absolute (2024–act.) y Ultimate Spider-Man (2024)</a:t>
            </a:r>
            <a:endParaRPr lang="en-US" sz="2000" dirty="0"/>
          </a:p>
        </p:txBody>
      </p:sp>
      <p:sp>
        <p:nvSpPr>
          <p:cNvPr id="31" name="Text 28"/>
          <p:cNvSpPr txBox="1"/>
          <p:nvPr/>
        </p:nvSpPr>
        <p:spPr>
          <a:xfrm>
            <a:off x="7955280" y="2926080"/>
            <a:ext cx="3520440" cy="2377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Un Peter Parker de 35 años que nunca tuvo poderes</a:t>
            </a:r>
            <a:endParaRPr lang="en-US" sz="1400" dirty="0"/>
          </a:p>
          <a:p>
            <a:pPr marL="203200" indent="-2032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Un Clark Kent llegado de adolescente, hijo de trabajadores rurales</a:t>
            </a:r>
            <a:endParaRPr lang="en-US" sz="1400" dirty="0"/>
          </a:p>
          <a:p>
            <a:pPr marL="203200" indent="-2032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Fracaso del sueño americano y del capitalismo tardío ante el precariado (Standing, 2013)</a:t>
            </a:r>
            <a:endParaRPr lang="en-US" sz="1400" dirty="0"/>
          </a:p>
        </p:txBody>
      </p:sp>
      <p:sp>
        <p:nvSpPr>
          <p:cNvPr id="32" name="Text 29"/>
          <p:cNvSpPr txBox="1"/>
          <p:nvPr/>
        </p:nvSpPr>
        <p:spPr>
          <a:xfrm>
            <a:off x="7955280" y="5349240"/>
            <a:ext cx="3520440" cy="731520"/>
          </a:xfrm>
          <a:prstGeom prst="rect">
            <a:avLst/>
          </a:prstGeom>
          <a:noFill/>
          <a:ln/>
        </p:spPr>
        <p:txBody>
          <a:bodyPr wrap="square" lIns="0" tIns="0" rIns="0" bIns="0" rtlCol="0" anchor="t"/>
          <a:lstStyle/>
          <a:p>
            <a:pPr indent="0" marL="0">
              <a:buNone/>
            </a:pPr>
            <a:r>
              <a:rPr lang="en-US" sz="1400" i="1" dirty="0">
                <a:solidFill>
                  <a:srgbClr val="DDDDDD"/>
                </a:solidFill>
                <a:latin typeface="Arial" pitchFamily="34" charset="0"/>
                <a:ea typeface="Arial" pitchFamily="34" charset="-122"/>
                <a:cs typeface="Arial" pitchFamily="34" charset="-120"/>
              </a:rPr>
              <a:t>Una nueva oportunidad: volver a ser un horizonte al cual aspirar.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Trama" descr="Trama de puntos">    </p:cNvPr>
          <p:cNvPicPr>
            <a:picLocks noChangeAspect="1"/>
          </p:cNvPicPr>
          <p:nvPr/>
        </p:nvPicPr>
        <p:blipFill>
          <a:blip r:embed="rId1"/>
          <a:stretch>
            <a:fillRect/>
          </a:stretch>
        </p:blipFill>
        <p:spPr>
          <a:xfrm>
            <a:off x="0" y="0"/>
            <a:ext cx="12191695" cy="6858000"/>
          </a:xfrm>
          <a:prstGeom prst="rect">
            <a:avLst/>
          </a:prstGeom>
        </p:spPr>
      </p:pic>
      <p:sp>
        <p:nvSpPr>
          <p:cNvPr id="3" name="Progreso"/>
          <p:cNvSpPr/>
          <p:nvPr/>
        </p:nvSpPr>
        <p:spPr>
          <a:xfrm>
            <a:off x="0" y="0"/>
            <a:ext cx="12191695" cy="109728"/>
          </a:xfrm>
          <a:prstGeom prst="rect">
            <a:avLst/>
          </a:prstGeom>
          <a:solidFill>
            <a:srgbClr val="E5262B"/>
          </a:solidFill>
          <a:ln w="12700">
            <a:solidFill>
              <a:srgbClr val="111111"/>
            </a:solidFill>
            <a:prstDash val="solid"/>
          </a:ln>
        </p:spPr>
      </p:sp>
      <p:sp>
        <p:nvSpPr>
          <p:cNvPr id="4" name="Text 1"/>
          <p:cNvSpPr txBox="1"/>
          <p:nvPr/>
        </p:nvSpPr>
        <p:spPr>
          <a:xfrm>
            <a:off x="457200" y="182880"/>
            <a:ext cx="7315200" cy="274320"/>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 07. GRACIAS · REFERENCIAS</a:t>
            </a:r>
            <a:endParaRPr lang="en-US" sz="1000" dirty="0"/>
          </a:p>
        </p:txBody>
      </p:sp>
      <p:sp>
        <p:nvSpPr>
          <p:cNvPr id="5" name="Text 2"/>
          <p:cNvSpPr txBox="1"/>
          <p:nvPr/>
        </p:nvSpPr>
        <p:spPr>
          <a:xfrm>
            <a:off x="6675120" y="182880"/>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JORNADAS DE INVESTIGADORES · IIGG-UBA</a:t>
            </a:r>
            <a:endParaRPr lang="en-US" sz="900" dirty="0"/>
          </a:p>
        </p:txBody>
      </p:sp>
      <p:sp>
        <p:nvSpPr>
          <p:cNvPr id="6" name="Shape 3"/>
          <p:cNvSpPr/>
          <p:nvPr/>
        </p:nvSpPr>
        <p:spPr>
          <a:xfrm>
            <a:off x="457200" y="6400800"/>
            <a:ext cx="11277295" cy="0"/>
          </a:xfrm>
          <a:prstGeom prst="line">
            <a:avLst/>
          </a:prstGeom>
          <a:noFill/>
          <a:ln w="6350">
            <a:solidFill>
              <a:srgbClr val="444444"/>
            </a:solidFill>
            <a:prstDash val="dash"/>
          </a:ln>
        </p:spPr>
      </p:sp>
      <p:sp>
        <p:nvSpPr>
          <p:cNvPr id="7" name="Text 4"/>
          <p:cNvSpPr txBox="1"/>
          <p:nvPr/>
        </p:nvSpPr>
        <p:spPr>
          <a:xfrm>
            <a:off x="457200" y="6473952"/>
            <a:ext cx="3657600" cy="27432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DIAPOSITIVA 15 / 15</a:t>
            </a:r>
            <a:endParaRPr lang="en-US" sz="900" dirty="0"/>
          </a:p>
        </p:txBody>
      </p:sp>
      <p:sp>
        <p:nvSpPr>
          <p:cNvPr id="8" name="Text 5"/>
          <p:cNvSpPr txBox="1"/>
          <p:nvPr/>
        </p:nvSpPr>
        <p:spPr>
          <a:xfrm>
            <a:off x="6675120" y="6473952"/>
            <a:ext cx="5056632" cy="274320"/>
          </a:xfrm>
          <a:prstGeom prst="rect">
            <a:avLst/>
          </a:prstGeom>
          <a:noFill/>
          <a:ln/>
        </p:spPr>
        <p:txBody>
          <a:bodyPr wrap="square" lIns="0" tIns="0" rIns="0" bIns="0" rtlCol="0" anchor="ctr"/>
          <a:lstStyle/>
          <a:p>
            <a:pPr algn="r" indent="0" marL="0">
              <a:buNone/>
            </a:pPr>
            <a:r>
              <a:rPr lang="en-US" sz="900" dirty="0">
                <a:solidFill>
                  <a:srgbClr val="444444"/>
                </a:solidFill>
                <a:latin typeface="Arial" pitchFamily="34" charset="0"/>
                <a:ea typeface="Arial" pitchFamily="34" charset="-122"/>
                <a:cs typeface="Arial" pitchFamily="34" charset="-120"/>
              </a:rPr>
              <a:t>ALEJO TOMÁS ORTEGA (FSOC-UBA)</a:t>
            </a:r>
            <a:endParaRPr lang="en-US" sz="900" dirty="0"/>
          </a:p>
        </p:txBody>
      </p:sp>
      <p:sp>
        <p:nvSpPr>
          <p:cNvPr id="9" name="Shape 6"/>
          <p:cNvSpPr/>
          <p:nvPr/>
        </p:nvSpPr>
        <p:spPr>
          <a:xfrm>
            <a:off x="530352" y="713232"/>
            <a:ext cx="11274552" cy="731520"/>
          </a:xfrm>
          <a:prstGeom prst="rect">
            <a:avLst/>
          </a:prstGeom>
          <a:solidFill>
            <a:srgbClr val="111111"/>
          </a:solidFill>
          <a:ln w="12700">
            <a:solidFill>
              <a:srgbClr val="111111"/>
            </a:solidFill>
            <a:prstDash val="solid"/>
          </a:ln>
        </p:spPr>
      </p:sp>
      <p:sp>
        <p:nvSpPr>
          <p:cNvPr id="10" name="Shape 7"/>
          <p:cNvSpPr/>
          <p:nvPr/>
        </p:nvSpPr>
        <p:spPr>
          <a:xfrm>
            <a:off x="457200" y="640080"/>
            <a:ext cx="11274552" cy="731520"/>
          </a:xfrm>
          <a:prstGeom prst="rect">
            <a:avLst/>
          </a:prstGeom>
          <a:solidFill>
            <a:srgbClr val="FFD400"/>
          </a:solidFill>
          <a:ln w="38100">
            <a:solidFill>
              <a:srgbClr val="111111"/>
            </a:solidFill>
            <a:prstDash val="solid"/>
          </a:ln>
        </p:spPr>
      </p:sp>
      <p:sp>
        <p:nvSpPr>
          <p:cNvPr id="11" name="Text 8"/>
          <p:cNvSpPr txBox="1"/>
          <p:nvPr/>
        </p:nvSpPr>
        <p:spPr>
          <a:xfrm>
            <a:off x="685800" y="640080"/>
            <a:ext cx="7680960" cy="731520"/>
          </a:xfrm>
          <a:prstGeom prst="rect">
            <a:avLst/>
          </a:prstGeom>
          <a:noFill/>
          <a:ln/>
        </p:spPr>
        <p:txBody>
          <a:bodyPr wrap="square" lIns="0" tIns="0" rIns="0" bIns="0" rtlCol="0" anchor="ctr"/>
          <a:lstStyle/>
          <a:p>
            <a:pPr indent="0" marL="0">
              <a:buNone/>
            </a:pPr>
            <a:r>
              <a:rPr lang="en-US" sz="2600" dirty="0">
                <a:solidFill>
                  <a:srgbClr val="111111"/>
                </a:solidFill>
                <a:latin typeface="Impact" pitchFamily="34" charset="0"/>
                <a:ea typeface="Impact" pitchFamily="34" charset="-122"/>
                <a:cs typeface="Impact" pitchFamily="34" charset="-120"/>
              </a:rPr>
              <a:t>Gracias · Referencias principales</a:t>
            </a:r>
            <a:endParaRPr lang="en-US" sz="2600" dirty="0"/>
          </a:p>
        </p:txBody>
      </p:sp>
      <p:sp>
        <p:nvSpPr>
          <p:cNvPr id="12" name="Text 9"/>
          <p:cNvSpPr txBox="1"/>
          <p:nvPr/>
        </p:nvSpPr>
        <p:spPr>
          <a:xfrm>
            <a:off x="8412480" y="640080"/>
            <a:ext cx="3154680" cy="731520"/>
          </a:xfrm>
          <a:prstGeom prst="rect">
            <a:avLst/>
          </a:prstGeom>
          <a:noFill/>
          <a:ln/>
        </p:spPr>
        <p:txBody>
          <a:bodyPr wrap="square" lIns="0" tIns="0" rIns="0" bIns="0" rtlCol="0" anchor="ctr"/>
          <a:lstStyle/>
          <a:p>
            <a:pPr algn="r" indent="0" marL="0">
              <a:buNone/>
            </a:pPr>
            <a:r>
              <a:rPr lang="en-US" sz="900" b="1" dirty="0">
                <a:solidFill>
                  <a:srgbClr val="111111"/>
                </a:solidFill>
                <a:latin typeface="Arial" pitchFamily="34" charset="0"/>
                <a:ea typeface="Arial" pitchFamily="34" charset="-122"/>
                <a:cs typeface="Arial" pitchFamily="34" charset="-120"/>
              </a:rPr>
              <a:t>[ BIBLIOGRAFÍA Y CORPUS ]</a:t>
            </a:r>
            <a:endParaRPr lang="en-US" sz="900" dirty="0"/>
          </a:p>
        </p:txBody>
      </p:sp>
      <p:sp>
        <p:nvSpPr>
          <p:cNvPr id="13" name="Shape 10"/>
          <p:cNvSpPr/>
          <p:nvPr/>
        </p:nvSpPr>
        <p:spPr>
          <a:xfrm>
            <a:off x="530352" y="1581912"/>
            <a:ext cx="5532120" cy="4709160"/>
          </a:xfrm>
          <a:prstGeom prst="rect">
            <a:avLst/>
          </a:prstGeom>
          <a:solidFill>
            <a:srgbClr val="111111"/>
          </a:solidFill>
          <a:ln w="12700">
            <a:solidFill>
              <a:srgbClr val="111111"/>
            </a:solidFill>
            <a:prstDash val="solid"/>
          </a:ln>
        </p:spPr>
      </p:sp>
      <p:sp>
        <p:nvSpPr>
          <p:cNvPr id="14" name="Shape 11"/>
          <p:cNvSpPr/>
          <p:nvPr/>
        </p:nvSpPr>
        <p:spPr>
          <a:xfrm>
            <a:off x="457200" y="1508760"/>
            <a:ext cx="5532120" cy="4709160"/>
          </a:xfrm>
          <a:prstGeom prst="rect">
            <a:avLst/>
          </a:prstGeom>
          <a:solidFill>
            <a:srgbClr val="FFFFFF"/>
          </a:solidFill>
          <a:ln w="31750">
            <a:solidFill>
              <a:srgbClr val="111111"/>
            </a:solidFill>
            <a:prstDash val="solid"/>
          </a:ln>
        </p:spPr>
      </p:sp>
      <p:sp>
        <p:nvSpPr>
          <p:cNvPr id="15" name="Text 12"/>
          <p:cNvSpPr txBox="1"/>
          <p:nvPr/>
        </p:nvSpPr>
        <p:spPr>
          <a:xfrm>
            <a:off x="640080" y="1664208"/>
            <a:ext cx="146304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BIBLIOGRAFÍA</a:t>
            </a:r>
            <a:endParaRPr lang="en-US" sz="1000" dirty="0"/>
          </a:p>
        </p:txBody>
      </p:sp>
      <p:sp>
        <p:nvSpPr>
          <p:cNvPr id="16" name="Text 13"/>
          <p:cNvSpPr txBox="1"/>
          <p:nvPr/>
        </p:nvSpPr>
        <p:spPr>
          <a:xfrm>
            <a:off x="640080" y="2057400"/>
            <a:ext cx="5166360" cy="402336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Dittmer, J. (2011). American exceptionalism, visual effects, and the post-9/11 cinematic superhero boom.</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Faludi, S. (2007). The terror dream.</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Jameson, F. (1989). Documentos de cultura, documentos de barbarie.</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Morrison, G. (2011). Supergods.</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Smith, P. y Goodrum, M. (2011). Representations of trauma in post-9/11 superhero comics.</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Todorov, T. (1988). El origen de los géneros.</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Wright, B. W. (2001). Comic book nation.</a:t>
            </a:r>
            <a:endParaRPr lang="en-US" sz="1400" dirty="0"/>
          </a:p>
        </p:txBody>
      </p:sp>
      <p:sp>
        <p:nvSpPr>
          <p:cNvPr id="17" name="Shape 14"/>
          <p:cNvSpPr/>
          <p:nvPr/>
        </p:nvSpPr>
        <p:spPr>
          <a:xfrm>
            <a:off x="6272784" y="1581912"/>
            <a:ext cx="5532120" cy="4709160"/>
          </a:xfrm>
          <a:prstGeom prst="rect">
            <a:avLst/>
          </a:prstGeom>
          <a:solidFill>
            <a:srgbClr val="111111"/>
          </a:solidFill>
          <a:ln w="12700">
            <a:solidFill>
              <a:srgbClr val="111111"/>
            </a:solidFill>
            <a:prstDash val="solid"/>
          </a:ln>
        </p:spPr>
      </p:sp>
      <p:sp>
        <p:nvSpPr>
          <p:cNvPr id="18" name="Shape 15"/>
          <p:cNvSpPr/>
          <p:nvPr/>
        </p:nvSpPr>
        <p:spPr>
          <a:xfrm>
            <a:off x="6199632" y="1508760"/>
            <a:ext cx="5532120" cy="4709160"/>
          </a:xfrm>
          <a:prstGeom prst="rect">
            <a:avLst/>
          </a:prstGeom>
          <a:solidFill>
            <a:srgbClr val="FFF1A8"/>
          </a:solidFill>
          <a:ln w="31750">
            <a:solidFill>
              <a:srgbClr val="111111"/>
            </a:solidFill>
            <a:prstDash val="solid"/>
          </a:ln>
        </p:spPr>
      </p:sp>
      <p:sp>
        <p:nvSpPr>
          <p:cNvPr id="19" name="Text 16"/>
          <p:cNvSpPr txBox="1"/>
          <p:nvPr/>
        </p:nvSpPr>
        <p:spPr>
          <a:xfrm>
            <a:off x="6382512" y="1664208"/>
            <a:ext cx="1097280" cy="274320"/>
          </a:xfrm>
          <a:prstGeom prst="rect">
            <a:avLst/>
          </a:prstGeom>
          <a:solidFill>
            <a:srgbClr val="E5262B"/>
          </a:solidFill>
          <a:ln w="19050">
            <a:solidFill>
              <a:srgbClr val="111111"/>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CORPUS</a:t>
            </a:r>
            <a:endParaRPr lang="en-US" sz="1000" dirty="0"/>
          </a:p>
        </p:txBody>
      </p:sp>
      <p:sp>
        <p:nvSpPr>
          <p:cNvPr id="20" name="Text 17"/>
          <p:cNvSpPr txBox="1"/>
          <p:nvPr/>
        </p:nvSpPr>
        <p:spPr>
          <a:xfrm>
            <a:off x="6382512" y="2057400"/>
            <a:ext cx="5166360" cy="402336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Ellis, W. y Hitch, B. (1999). The Authority. WildStorm.</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Kelly, J., Mahnke, D. y Bermejo, L. (2001). Action Comics #775. DC.</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Millar, M. y Hitch, B. (2002–2004). The Ultimates. Marvel.</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Meltzer, B. y Morales, R. (2005). Identity Crisis. DC.</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Johns, G. et al. (2006). Infinite Crisis. DC.</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Millar, M. y McNiven, S. (2006). Civil War. Marvel.</a:t>
            </a:r>
            <a:endParaRPr lang="en-US" sz="1400" dirty="0"/>
          </a:p>
          <a:p>
            <a:pPr marL="203200" indent="-203200">
              <a:spcAft>
                <a:spcPts val="900"/>
              </a:spcAft>
              <a:buSzPct val="100000"/>
              <a:buChar char="•"/>
            </a:pPr>
            <a:r>
              <a:rPr lang="en-US" sz="1400" dirty="0">
                <a:solidFill>
                  <a:srgbClr val="111111"/>
                </a:solidFill>
                <a:latin typeface="Arial" pitchFamily="34" charset="0"/>
                <a:ea typeface="Arial" pitchFamily="34" charset="-122"/>
                <a:cs typeface="Arial" pitchFamily="34" charset="-120"/>
              </a:rPr>
              <a:t>Bendis, B. M. y Yu, L. F. (2008). Secret Invasion. Marvel.</a:t>
            </a:r>
            <a:endParaRPr lang="en-US" sz="1400" dirty="0"/>
          </a:p>
        </p:txBody>
      </p:sp>
    </p:spTree>
  </p:cSld>
  <p:clrMapOvr>
    <a:masterClrMapping/>
  </p:clrMapOvr>
</p:sld>
</file>

<file path=ppt/theme/theme1.xml><?xml version="1.0" encoding="utf-8"?>
<a:theme xmlns:a="http://schemas.openxmlformats.org/drawingml/2006/main" name="Superheroes 11S">
  <a:themeElements>
    <a:clrScheme name="Superheroes 11S">
      <a:dk1>
        <a:srgbClr val="111111"/>
      </a:dk1>
      <a:lt1>
        <a:srgbClr val="FFFFFF"/>
      </a:lt1>
      <a:dk2>
        <a:srgbClr val="333333"/>
      </a:dk2>
      <a:lt2>
        <a:srgbClr val="F5F5F5"/>
      </a:lt2>
      <a:accent1>
        <a:srgbClr val="E5262B"/>
      </a:accent1>
      <a:accent2>
        <a:srgbClr val="111111"/>
      </a:accent2>
      <a:accent3>
        <a:srgbClr val="555555"/>
      </a:accent3>
      <a:accent4>
        <a:srgbClr val="FFD400"/>
      </a:accent4>
      <a:accent5>
        <a:srgbClr val="999999"/>
      </a:accent5>
      <a:accent6>
        <a:srgbClr val="DDDDDD"/>
      </a:accent6>
      <a:hlink>
        <a:srgbClr val="C8281E"/>
      </a:hlink>
      <a:folHlink>
        <a:srgbClr val="555555"/>
      </a:folHlink>
    </a:clrScheme>
    <a:fontScheme name="Superheroes 11S">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¿Qué tienen de divertido la verdad, la justicia y el estilo de vida del Superhéroe?</dc:title>
  <dc:subject>PptxGenJS Presentation</dc:subject>
  <dc:creator>Alejo Tomás Ortega</dc:creator>
  <cp:lastModifiedBy>Alejo Tomás Ortega</cp:lastModifiedBy>
  <cp:revision>1</cp:revision>
  <dcterms:created xsi:type="dcterms:W3CDTF">2026-10-27T00:05:54Z</dcterms:created>
  <dcterms:modified xsi:type="dcterms:W3CDTF">2026-10-27T00:05:54Z</dcterms:modified>
</cp:coreProperties>
</file>